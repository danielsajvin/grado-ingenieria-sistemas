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2" r:id="rId1"/>
  </p:sldMasterIdLst>
  <p:sldIdLst>
    <p:sldId id="256" r:id="rId2"/>
    <p:sldId id="257" r:id="rId3"/>
    <p:sldId id="258" r:id="rId4"/>
    <p:sldId id="266" r:id="rId5"/>
    <p:sldId id="267" r:id="rId6"/>
    <p:sldId id="268" r:id="rId7"/>
    <p:sldId id="269" r:id="rId8"/>
    <p:sldId id="270" r:id="rId9"/>
    <p:sldId id="271" r:id="rId10"/>
    <p:sldId id="272" r:id="rId11"/>
    <p:sldId id="273" r:id="rId12"/>
    <p:sldId id="274" r:id="rId13"/>
    <p:sldId id="275" r:id="rId14"/>
    <p:sldId id="27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1" d="100"/>
          <a:sy n="61" d="100"/>
        </p:scale>
        <p:origin x="1098" y="2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923F103-BC34-4FE4-A40E-EDDEECFDA5D0}" type="datetimeFigureOut">
              <a:rPr lang="en-US" smtClean="0"/>
              <a:pPr/>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504074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495180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34E6425-0181-43F2-84FC-787E803FD2F8}"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681626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smtClean="0"/>
              <a:t>3/31/2025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033257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smtClean="0"/>
              <a:t>3/31/2025</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980363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smtClean="0"/>
              <a:t>3/31/2025</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173174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smtClean="0"/>
              <a:t>3/31/2025</a:t>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96078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6E86A4C-8E40-4F87-A4F0-01A0687C5742}" type="datetimeFigureOut">
              <a:rPr lang="en-US" smtClean="0"/>
              <a:t>3/31/2025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32647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
        <p:nvSpPr>
          <p:cNvPr id="5" name="Date Placeholder 4"/>
          <p:cNvSpPr>
            <a:spLocks noGrp="1"/>
          </p:cNvSpPr>
          <p:nvPr>
            <p:ph type="dt" sz="half" idx="10"/>
          </p:nvPr>
        </p:nvSpPr>
        <p:spPr/>
        <p:txBody>
          <a:bodyPr/>
          <a:lstStyle/>
          <a:p>
            <a:fld id="{35E72C73-2D91-4E12-BA25-F0AA0C03599B}" type="datetimeFigureOut">
              <a:rPr lang="en-US" smtClean="0"/>
              <a:t>3/31/2025</a:t>
            </a:fld>
            <a:endParaRPr lang="en-US" dirty="0"/>
          </a:p>
        </p:txBody>
      </p:sp>
    </p:spTree>
    <p:extLst>
      <p:ext uri="{BB962C8B-B14F-4D97-AF65-F5344CB8AC3E}">
        <p14:creationId xmlns:p14="http://schemas.microsoft.com/office/powerpoint/2010/main" val="4097643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FF16868-8199-4C2C-A5B1-63AEE139F88E}"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110208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AD9FF7F-6988-44CC-821B-644E70CD2F73}"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997868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C12C299-16B2-4475-990D-751901EACC14}"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3933905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BE451C3-0FF4-47C4-B829-773ADF60F88C}"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8617178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BE451C3-0FF4-47C4-B829-773ADF60F88C}"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417025417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3086D93-FCAC-47E0-A2EE-787E62CA814C}"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4748978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A879A6-0FD0-4734-A311-86BFCA472E6E}"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481569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BE451C3-0FF4-47C4-B829-773ADF60F88C}" type="datetimeFigureOut">
              <a:rPr lang="en-US" smtClean="0"/>
              <a:t>3/31/2025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
              </a:t>
            </a:r>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772804911"/>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754" r:id="rId12"/>
    <p:sldLayoutId id="2147483755" r:id="rId13"/>
    <p:sldLayoutId id="2147483756" r:id="rId14"/>
    <p:sldLayoutId id="2147483757" r:id="rId15"/>
    <p:sldLayoutId id="2147483758"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7BBC9972-DD18-81D5-DA65-56D707E6AF46}"/>
              </a:ext>
            </a:extLst>
          </p:cNvPr>
          <p:cNvPicPr>
            <a:picLocks noChangeAspect="1"/>
          </p:cNvPicPr>
          <p:nvPr/>
        </p:nvPicPr>
        <p:blipFill rotWithShape="1">
          <a:blip r:embed="rId2"/>
          <a:srcRect l="33862" r="1159"/>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ítulo 1"/>
          <p:cNvSpPr>
            <a:spLocks noGrp="1"/>
          </p:cNvSpPr>
          <p:nvPr>
            <p:ph type="ctrTitle"/>
          </p:nvPr>
        </p:nvSpPr>
        <p:spPr>
          <a:xfrm>
            <a:off x="668867" y="1678666"/>
            <a:ext cx="4088190" cy="2369093"/>
          </a:xfrm>
        </p:spPr>
        <p:txBody>
          <a:bodyPr>
            <a:normAutofit/>
          </a:bodyPr>
          <a:lstStyle/>
          <a:p>
            <a:r>
              <a:rPr lang="es-GT" sz="4400" b="1"/>
              <a:t>PRESUPUESTO DE CAPITAL</a:t>
            </a:r>
          </a:p>
        </p:txBody>
      </p:sp>
      <p:cxnSp>
        <p:nvCxnSpPr>
          <p:cNvPr id="31" name="Straight Connector 30">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5"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37"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39"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41"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43"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45"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47"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Tree>
    <p:extLst>
      <p:ext uri="{BB962C8B-B14F-4D97-AF65-F5344CB8AC3E}">
        <p14:creationId xmlns:p14="http://schemas.microsoft.com/office/powerpoint/2010/main" val="4174334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54954" y="973668"/>
            <a:ext cx="8761413" cy="1202862"/>
          </a:xfrm>
        </p:spPr>
        <p:txBody>
          <a:bodyPr/>
          <a:lstStyle/>
          <a:p>
            <a:r>
              <a:rPr lang="es-GT" sz="4400" b="1" dirty="0"/>
              <a:t>VALOR PRESENTE NETO (VPN)</a:t>
            </a:r>
          </a:p>
        </p:txBody>
      </p:sp>
      <p:sp>
        <p:nvSpPr>
          <p:cNvPr id="3" name="Marcador de contenido 2"/>
          <p:cNvSpPr>
            <a:spLocks noGrp="1"/>
          </p:cNvSpPr>
          <p:nvPr>
            <p:ph idx="1"/>
          </p:nvPr>
        </p:nvSpPr>
        <p:spPr>
          <a:xfrm>
            <a:off x="914400" y="2603500"/>
            <a:ext cx="10444766" cy="3416300"/>
          </a:xfrm>
        </p:spPr>
        <p:txBody>
          <a:bodyPr>
            <a:noAutofit/>
          </a:bodyPr>
          <a:lstStyle/>
          <a:p>
            <a:pPr marL="0" indent="0">
              <a:buNone/>
            </a:pPr>
            <a:r>
              <a:rPr lang="es-GT" sz="6600" b="1" dirty="0"/>
              <a:t>¿Cuál es la diferencia entre valor y precio de compra del proyecto?</a:t>
            </a:r>
          </a:p>
        </p:txBody>
      </p:sp>
    </p:spTree>
    <p:extLst>
      <p:ext uri="{BB962C8B-B14F-4D97-AF65-F5344CB8AC3E}">
        <p14:creationId xmlns:p14="http://schemas.microsoft.com/office/powerpoint/2010/main" val="10644783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alculadora, lápiz, brújula, dinero y un papel con gráficos impresos en él">
            <a:extLst>
              <a:ext uri="{FF2B5EF4-FFF2-40B4-BE49-F238E27FC236}">
                <a16:creationId xmlns:a16="http://schemas.microsoft.com/office/drawing/2014/main" id="{F586E357-4DE8-21E6-61E3-4517E9F76FB4}"/>
              </a:ext>
            </a:extLst>
          </p:cNvPr>
          <p:cNvPicPr>
            <a:picLocks noChangeAspect="1"/>
          </p:cNvPicPr>
          <p:nvPr/>
        </p:nvPicPr>
        <p:blipFill rotWithShape="1">
          <a:blip r:embed="rId2"/>
          <a:srcRect l="17312" r="13088" b="-2"/>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3" name="Marcador de contenido 2"/>
          <p:cNvSpPr>
            <a:spLocks noGrp="1"/>
          </p:cNvSpPr>
          <p:nvPr>
            <p:ph idx="1"/>
          </p:nvPr>
        </p:nvSpPr>
        <p:spPr>
          <a:xfrm>
            <a:off x="617518" y="1484379"/>
            <a:ext cx="4432784" cy="3880773"/>
          </a:xfrm>
        </p:spPr>
        <p:txBody>
          <a:bodyPr>
            <a:normAutofit lnSpcReduction="10000"/>
          </a:bodyPr>
          <a:lstStyle/>
          <a:p>
            <a:pPr marL="0" indent="0" algn="just">
              <a:buNone/>
            </a:pPr>
            <a:r>
              <a:rPr lang="es-GT" sz="3200" b="1" dirty="0"/>
              <a:t>El valor de un activo puede ser determinado calculando el valor presente de los flujos de efectivo que se espera se generen durante su vida</a:t>
            </a:r>
          </a:p>
        </p:txBody>
      </p:sp>
      <p:cxnSp>
        <p:nvCxnSpPr>
          <p:cNvPr id="9" name="Straight Connector 8">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15"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17"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19"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21"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23"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25"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Tree>
    <p:extLst>
      <p:ext uri="{BB962C8B-B14F-4D97-AF65-F5344CB8AC3E}">
        <p14:creationId xmlns:p14="http://schemas.microsoft.com/office/powerpoint/2010/main" val="2673753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53376"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133042"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24631"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18"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6597"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20" name="Isosceles Triangle 19">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5488"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22"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7655"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24" name="Isosceles Triangle 23">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4821"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26" name="Freeform: Shape 25">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2154" y="-8467"/>
            <a:ext cx="7109846"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p:cNvSpPr>
            <a:spLocks noGrp="1"/>
          </p:cNvSpPr>
          <p:nvPr>
            <p:ph type="title"/>
          </p:nvPr>
        </p:nvSpPr>
        <p:spPr>
          <a:xfrm>
            <a:off x="677334" y="609599"/>
            <a:ext cx="3843375" cy="5545667"/>
          </a:xfrm>
        </p:spPr>
        <p:txBody>
          <a:bodyPr anchor="ctr">
            <a:normAutofit/>
          </a:bodyPr>
          <a:lstStyle/>
          <a:p>
            <a:r>
              <a:rPr lang="es-GT" b="1">
                <a:solidFill>
                  <a:schemeClr val="tx1">
                    <a:lumMod val="85000"/>
                    <a:lumOff val="15000"/>
                  </a:schemeClr>
                </a:solidFill>
              </a:rPr>
              <a:t>VALOR PRESENTE NETO</a:t>
            </a:r>
          </a:p>
        </p:txBody>
      </p:sp>
      <p:sp>
        <p:nvSpPr>
          <p:cNvPr id="3" name="Marcador de contenido 2"/>
          <p:cNvSpPr>
            <a:spLocks noGrp="1"/>
          </p:cNvSpPr>
          <p:nvPr>
            <p:ph idx="1"/>
          </p:nvPr>
        </p:nvSpPr>
        <p:spPr>
          <a:xfrm>
            <a:off x="6116084" y="609600"/>
            <a:ext cx="5511296" cy="5545667"/>
          </a:xfrm>
        </p:spPr>
        <p:txBody>
          <a:bodyPr anchor="ctr">
            <a:normAutofit/>
          </a:bodyPr>
          <a:lstStyle/>
          <a:p>
            <a:pPr marL="0" indent="0">
              <a:buNone/>
            </a:pPr>
            <a:r>
              <a:rPr lang="es-GT" sz="2800" b="1" dirty="0">
                <a:solidFill>
                  <a:srgbClr val="FFFFFF"/>
                </a:solidFill>
              </a:rPr>
              <a:t>Si se resta (o suma un flujo de efectivo negativo) el precio de compra del activo al valor  presente  a los flujos de efectivo futuros previstos, el resultado será el valor neto en dinero o el beneficio neto que representa a la empresa la compra del activo</a:t>
            </a:r>
          </a:p>
        </p:txBody>
      </p:sp>
    </p:spTree>
    <p:extLst>
      <p:ext uri="{BB962C8B-B14F-4D97-AF65-F5344CB8AC3E}">
        <p14:creationId xmlns:p14="http://schemas.microsoft.com/office/powerpoint/2010/main" val="2601128755"/>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209563" y="2160589"/>
            <a:ext cx="4064439" cy="3880773"/>
          </a:xfrm>
        </p:spPr>
        <p:txBody>
          <a:bodyPr>
            <a:normAutofit/>
          </a:bodyPr>
          <a:lstStyle/>
          <a:p>
            <a:pPr marL="0" indent="0">
              <a:buNone/>
            </a:pPr>
            <a:r>
              <a:rPr lang="es-GT" b="1"/>
              <a:t>El VPN muestra cuánto aumentará el valor de la empresa y por tanto cuánto se incrementará la riqueza de los accionistas si se compra el proyecto de presupuestación de capital</a:t>
            </a:r>
          </a:p>
        </p:txBody>
      </p:sp>
      <p:pic>
        <p:nvPicPr>
          <p:cNvPr id="30" name="Picture 29" descr="Diagramas y gráficos vistosos">
            <a:extLst>
              <a:ext uri="{FF2B5EF4-FFF2-40B4-BE49-F238E27FC236}">
                <a16:creationId xmlns:a16="http://schemas.microsoft.com/office/drawing/2014/main" id="{18D9AF98-2106-14CA-C399-CE92FA6A48CB}"/>
              </a:ext>
            </a:extLst>
          </p:cNvPr>
          <p:cNvPicPr>
            <a:picLocks noChangeAspect="1"/>
          </p:cNvPicPr>
          <p:nvPr/>
        </p:nvPicPr>
        <p:blipFill rotWithShape="1">
          <a:blip r:embed="rId2"/>
          <a:srcRect l="25796" r="21693" b="-2"/>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34" name="Isosceles Triangle 33">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Tree>
    <p:extLst>
      <p:ext uri="{BB962C8B-B14F-4D97-AF65-F5344CB8AC3E}">
        <p14:creationId xmlns:p14="http://schemas.microsoft.com/office/powerpoint/2010/main" val="592980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74253" y="1184857"/>
            <a:ext cx="8641723" cy="5100034"/>
          </a:xfrm>
        </p:spPr>
      </p:pic>
    </p:spTree>
    <p:extLst>
      <p:ext uri="{BB962C8B-B14F-4D97-AF65-F5344CB8AC3E}">
        <p14:creationId xmlns:p14="http://schemas.microsoft.com/office/powerpoint/2010/main" val="669705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54954" y="973667"/>
            <a:ext cx="9418601" cy="958163"/>
          </a:xfrm>
        </p:spPr>
        <p:txBody>
          <a:bodyPr/>
          <a:lstStyle/>
          <a:p>
            <a:r>
              <a:rPr lang="es-GT" sz="4400" b="1" dirty="0"/>
              <a:t>ECUACIÓN VPN:</a:t>
            </a:r>
          </a:p>
        </p:txBody>
      </p:sp>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0659" y="2910625"/>
            <a:ext cx="10187189" cy="1820581"/>
          </a:xfrm>
        </p:spPr>
      </p:pic>
    </p:spTree>
    <p:extLst>
      <p:ext uri="{BB962C8B-B14F-4D97-AF65-F5344CB8AC3E}">
        <p14:creationId xmlns:p14="http://schemas.microsoft.com/office/powerpoint/2010/main" val="2043755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54954" y="973667"/>
            <a:ext cx="8761413" cy="893769"/>
          </a:xfrm>
        </p:spPr>
        <p:txBody>
          <a:bodyPr/>
          <a:lstStyle/>
          <a:p>
            <a:r>
              <a:rPr lang="es-GT" sz="4800" b="1" dirty="0"/>
              <a:t>Regla de Decisión del VPN</a:t>
            </a:r>
          </a:p>
        </p:txBody>
      </p:sp>
      <p:sp>
        <p:nvSpPr>
          <p:cNvPr id="3" name="Marcador de contenido 2"/>
          <p:cNvSpPr>
            <a:spLocks noGrp="1"/>
          </p:cNvSpPr>
          <p:nvPr>
            <p:ph idx="1"/>
          </p:nvPr>
        </p:nvSpPr>
        <p:spPr>
          <a:xfrm>
            <a:off x="502276" y="2421228"/>
            <a:ext cx="10831132" cy="3598572"/>
          </a:xfrm>
        </p:spPr>
        <p:txBody>
          <a:bodyPr>
            <a:noAutofit/>
          </a:bodyPr>
          <a:lstStyle/>
          <a:p>
            <a:pPr marL="0" indent="0" algn="just">
              <a:buNone/>
            </a:pPr>
            <a:r>
              <a:rPr lang="es-GT" sz="2800" b="1" dirty="0"/>
              <a:t>Si el cálculo del beneficio neto sobre la base del valor presente (es decir, VPN) es positivo, entonces se considera que el proyecto es una inversión aceptable. En otras palabras, para determinar la aceptabilidad de un proyecto, se utiliza la técnica del VPN. Para decidir se aplica la siguiente regla:</a:t>
            </a:r>
          </a:p>
          <a:p>
            <a:pPr marL="0" indent="0" algn="ctr">
              <a:buNone/>
            </a:pPr>
            <a:r>
              <a:rPr lang="es-GT" sz="2800" b="1" i="1" dirty="0"/>
              <a:t>Un proyecto es aceptable si VPN &gt; Q 0.00</a:t>
            </a:r>
          </a:p>
        </p:txBody>
      </p:sp>
    </p:spTree>
    <p:extLst>
      <p:ext uri="{BB962C8B-B14F-4D97-AF65-F5344CB8AC3E}">
        <p14:creationId xmlns:p14="http://schemas.microsoft.com/office/powerpoint/2010/main" val="889295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2ED567-06B3-4107-9773-BBB6BD786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p:cNvSpPr>
            <a:spLocks noGrp="1"/>
          </p:cNvSpPr>
          <p:nvPr>
            <p:ph idx="1"/>
          </p:nvPr>
        </p:nvSpPr>
        <p:spPr>
          <a:xfrm>
            <a:off x="677334" y="1253067"/>
            <a:ext cx="6155266" cy="4351866"/>
          </a:xfrm>
        </p:spPr>
        <p:txBody>
          <a:bodyPr anchor="ctr">
            <a:normAutofit/>
          </a:bodyPr>
          <a:lstStyle/>
          <a:p>
            <a:pPr marL="0" indent="0" algn="just">
              <a:buNone/>
            </a:pPr>
            <a:r>
              <a:rPr lang="es-GT" sz="3200" b="1" dirty="0"/>
              <a:t>En el cuadro anterior, el proyecto C se refiere a un proyecto a corto plazo y L un proyecto a largo plazo. La tasa de rendimiento requerida del proyecto C es del 10%</a:t>
            </a:r>
          </a:p>
        </p:txBody>
      </p:sp>
      <p:sp>
        <p:nvSpPr>
          <p:cNvPr id="10" name="Rectangle 9">
            <a:extLst>
              <a:ext uri="{FF2B5EF4-FFF2-40B4-BE49-F238E27FC236}">
                <a16:creationId xmlns:a16="http://schemas.microsoft.com/office/drawing/2014/main" id="{AF551D8B-3775-4477-88B7-7B7C350D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6" y="0"/>
            <a:ext cx="4657344"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12" name="Straight Connector 11">
            <a:extLst>
              <a:ext uri="{FF2B5EF4-FFF2-40B4-BE49-F238E27FC236}">
                <a16:creationId xmlns:a16="http://schemas.microsoft.com/office/drawing/2014/main" id="{1A901C3D-CFAE-460D-BD0E-7D22164D7D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590212" y="0"/>
            <a:ext cx="1059921" cy="6858000"/>
          </a:xfrm>
          <a:prstGeom prst="line">
            <a:avLst/>
          </a:prstGeom>
          <a:ln w="9525">
            <a:solidFill>
              <a:srgbClr val="BFBFBF">
                <a:alpha val="70000"/>
              </a:srgb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837C0EA9-1437-4437-9D20-2BBDA1AA9F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721600" y="3721395"/>
            <a:ext cx="4345560" cy="3136604"/>
          </a:xfrm>
          <a:prstGeom prst="line">
            <a:avLst/>
          </a:prstGeom>
          <a:ln w="9525">
            <a:solidFill>
              <a:srgbClr val="BFBFBF">
                <a:alpha val="69804"/>
              </a:srgb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BB934D2B-85E2-4375-94EE-B66C16BF7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18" name="Rectangle 25">
            <a:extLst>
              <a:ext uri="{FF2B5EF4-FFF2-40B4-BE49-F238E27FC236}">
                <a16:creationId xmlns:a16="http://schemas.microsoft.com/office/drawing/2014/main" id="{9B445E02-D785-4565-B842-9567BBC09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20" name="Isosceles Triangle 19">
            <a:extLst>
              <a:ext uri="{FF2B5EF4-FFF2-40B4-BE49-F238E27FC236}">
                <a16:creationId xmlns:a16="http://schemas.microsoft.com/office/drawing/2014/main" id="{2C153736-D102-4F57-9DE7-615AFC02B0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22" name="Rectangle 27">
            <a:extLst>
              <a:ext uri="{FF2B5EF4-FFF2-40B4-BE49-F238E27FC236}">
                <a16:creationId xmlns:a16="http://schemas.microsoft.com/office/drawing/2014/main" id="{BA407A52-66F4-4CDE-A726-FF79F3EC3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24" name="Rectangle 28">
            <a:extLst>
              <a:ext uri="{FF2B5EF4-FFF2-40B4-BE49-F238E27FC236}">
                <a16:creationId xmlns:a16="http://schemas.microsoft.com/office/drawing/2014/main" id="{D28FFB34-4FC3-46F5-B900-D3B774FD0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26" name="Rectangle 29">
            <a:extLst>
              <a:ext uri="{FF2B5EF4-FFF2-40B4-BE49-F238E27FC236}">
                <a16:creationId xmlns:a16="http://schemas.microsoft.com/office/drawing/2014/main" id="{205F7B13-ACB5-46BE-8070-0431266B18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28" name="Isosceles Triangle 27">
            <a:extLst>
              <a:ext uri="{FF2B5EF4-FFF2-40B4-BE49-F238E27FC236}">
                <a16:creationId xmlns:a16="http://schemas.microsoft.com/office/drawing/2014/main" id="{D52A0D23-45DD-4DF4-ADE6-A81F409BB9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2" name="Título 1"/>
          <p:cNvSpPr>
            <a:spLocks noGrp="1"/>
          </p:cNvSpPr>
          <p:nvPr>
            <p:ph type="title"/>
          </p:nvPr>
        </p:nvSpPr>
        <p:spPr>
          <a:xfrm>
            <a:off x="7829658" y="1253067"/>
            <a:ext cx="3371742" cy="4351866"/>
          </a:xfrm>
        </p:spPr>
        <p:txBody>
          <a:bodyPr anchor="ctr">
            <a:normAutofit/>
          </a:bodyPr>
          <a:lstStyle/>
          <a:p>
            <a:r>
              <a:rPr lang="es-GT" b="1">
                <a:solidFill>
                  <a:schemeClr val="bg1"/>
                </a:solidFill>
              </a:rPr>
              <a:t>Ejemplo:</a:t>
            </a:r>
          </a:p>
        </p:txBody>
      </p:sp>
    </p:spTree>
    <p:extLst>
      <p:ext uri="{BB962C8B-B14F-4D97-AF65-F5344CB8AC3E}">
        <p14:creationId xmlns:p14="http://schemas.microsoft.com/office/powerpoint/2010/main" val="3134558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0005" y="1378040"/>
            <a:ext cx="10522039" cy="4636394"/>
          </a:xfrm>
        </p:spPr>
      </p:pic>
    </p:spTree>
    <p:extLst>
      <p:ext uri="{BB962C8B-B14F-4D97-AF65-F5344CB8AC3E}">
        <p14:creationId xmlns:p14="http://schemas.microsoft.com/office/powerpoint/2010/main" val="4270319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0913" y="1841679"/>
            <a:ext cx="11114467" cy="3902298"/>
          </a:xfrm>
        </p:spPr>
      </p:pic>
    </p:spTree>
    <p:extLst>
      <p:ext uri="{BB962C8B-B14F-4D97-AF65-F5344CB8AC3E}">
        <p14:creationId xmlns:p14="http://schemas.microsoft.com/office/powerpoint/2010/main" val="4026893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08338" y="2189408"/>
            <a:ext cx="10934163" cy="3830392"/>
          </a:xfrm>
        </p:spPr>
        <p:txBody>
          <a:bodyPr>
            <a:noAutofit/>
          </a:bodyPr>
          <a:lstStyle/>
          <a:p>
            <a:pPr marL="0" indent="0" algn="just">
              <a:buNone/>
            </a:pPr>
            <a:r>
              <a:rPr lang="es-GT" sz="4000" b="1" dirty="0"/>
              <a:t>Determine el VPN para el proyecto L y posteriormente realice la comparación indicando en el caso fueran proyectos mutuamente excluyentes cuál elige</a:t>
            </a:r>
          </a:p>
        </p:txBody>
      </p:sp>
    </p:spTree>
    <p:extLst>
      <p:ext uri="{BB962C8B-B14F-4D97-AF65-F5344CB8AC3E}">
        <p14:creationId xmlns:p14="http://schemas.microsoft.com/office/powerpoint/2010/main" val="2293398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GT" b="1" dirty="0"/>
              <a:t>Ejercicio:</a:t>
            </a:r>
          </a:p>
        </p:txBody>
      </p:sp>
      <p:sp>
        <p:nvSpPr>
          <p:cNvPr id="3" name="Marcador de contenido 2"/>
          <p:cNvSpPr>
            <a:spLocks noGrp="1"/>
          </p:cNvSpPr>
          <p:nvPr>
            <p:ph idx="1"/>
          </p:nvPr>
        </p:nvSpPr>
        <p:spPr>
          <a:xfrm>
            <a:off x="605307" y="2163651"/>
            <a:ext cx="11140225" cy="4391695"/>
          </a:xfrm>
        </p:spPr>
        <p:txBody>
          <a:bodyPr>
            <a:noAutofit/>
          </a:bodyPr>
          <a:lstStyle/>
          <a:p>
            <a:pPr marL="0" indent="0" algn="just">
              <a:buNone/>
            </a:pPr>
            <a:r>
              <a:rPr lang="es-GT" sz="3200" b="1" dirty="0"/>
              <a:t>Textiles del Norte está considerando comprar una máquina nueva cuyo costo es de Q 75,000.00. Se espera que la máquina genere flujos de efectivo después de impuestos durante sus tres años de vida por Q 30,000.00, Q 38,000.00 y Q 28,000.00. Textiles del Norte requiere que la inversión tenga una tasa de rendimiento de al menos 12%. ¿Cuál es el VPN de la máquina? ¿Textiles del norte debe comprar la máquina?</a:t>
            </a:r>
          </a:p>
        </p:txBody>
      </p:sp>
    </p:spTree>
    <p:extLst>
      <p:ext uri="{BB962C8B-B14F-4D97-AF65-F5344CB8AC3E}">
        <p14:creationId xmlns:p14="http://schemas.microsoft.com/office/powerpoint/2010/main" val="116875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GT" b="1" dirty="0"/>
              <a:t>Respuesta:</a:t>
            </a:r>
          </a:p>
        </p:txBody>
      </p:sp>
      <p:sp>
        <p:nvSpPr>
          <p:cNvPr id="3" name="Marcador de contenido 2"/>
          <p:cNvSpPr>
            <a:spLocks noGrp="1"/>
          </p:cNvSpPr>
          <p:nvPr>
            <p:ph idx="1"/>
          </p:nvPr>
        </p:nvSpPr>
        <p:spPr>
          <a:xfrm>
            <a:off x="1004552" y="2139860"/>
            <a:ext cx="10238704" cy="4402608"/>
          </a:xfrm>
        </p:spPr>
        <p:txBody>
          <a:bodyPr>
            <a:noAutofit/>
          </a:bodyPr>
          <a:lstStyle/>
          <a:p>
            <a:pPr marL="0" indent="0">
              <a:buNone/>
            </a:pPr>
            <a:r>
              <a:rPr lang="es-GT" sz="2800" b="1" dirty="0"/>
              <a:t>Año 1: 	Q 26,785.71</a:t>
            </a:r>
          </a:p>
          <a:p>
            <a:pPr marL="0" indent="0">
              <a:buNone/>
            </a:pPr>
            <a:r>
              <a:rPr lang="es-GT" sz="2800" b="1" dirty="0"/>
              <a:t>Año 2: 	Q 30,293.37</a:t>
            </a:r>
          </a:p>
          <a:p>
            <a:pPr marL="0" indent="0">
              <a:buNone/>
            </a:pPr>
            <a:r>
              <a:rPr lang="es-GT" sz="2800" b="1" dirty="0"/>
              <a:t>Año 3: 	</a:t>
            </a:r>
            <a:r>
              <a:rPr lang="es-GT" sz="2800" b="1" u="sng" dirty="0"/>
              <a:t>Q 19,929.85</a:t>
            </a:r>
          </a:p>
          <a:p>
            <a:pPr marL="0" indent="0">
              <a:buNone/>
            </a:pPr>
            <a:r>
              <a:rPr lang="es-GT" sz="2800" b="1" dirty="0"/>
              <a:t>Total: 	Q 77,008.93 </a:t>
            </a:r>
          </a:p>
          <a:p>
            <a:pPr marL="0" indent="0">
              <a:buNone/>
            </a:pPr>
            <a:endParaRPr lang="es-GT" sz="2800" b="1" dirty="0"/>
          </a:p>
          <a:p>
            <a:pPr marL="0" indent="0">
              <a:buNone/>
            </a:pPr>
            <a:r>
              <a:rPr lang="es-GT" sz="2800" b="1" dirty="0"/>
              <a:t>(Q 75,000.00) + Q 77,008.93 = Q 2,008.93</a:t>
            </a:r>
          </a:p>
          <a:p>
            <a:pPr marL="0" indent="0">
              <a:buNone/>
            </a:pPr>
            <a:r>
              <a:rPr lang="es-GT" sz="2800" b="1" dirty="0"/>
              <a:t>Se debe comprar el proyecto</a:t>
            </a:r>
          </a:p>
        </p:txBody>
      </p:sp>
    </p:spTree>
    <p:extLst>
      <p:ext uri="{BB962C8B-B14F-4D97-AF65-F5344CB8AC3E}">
        <p14:creationId xmlns:p14="http://schemas.microsoft.com/office/powerpoint/2010/main" val="2645801686"/>
      </p:ext>
    </p:extLst>
  </p:cSld>
  <p:clrMapOvr>
    <a:masterClrMapping/>
  </p:clrMapOvr>
</p:sld>
</file>

<file path=ppt/theme/theme1.xml><?xml version="1.0" encoding="utf-8"?>
<a:theme xmlns:a="http://schemas.openxmlformats.org/drawingml/2006/main" name="Faceta">
  <a:themeElements>
    <a:clrScheme name="Naranja">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otalTime>104</TotalTime>
  <Words>388</Words>
  <Application>Microsoft Office PowerPoint</Application>
  <PresentationFormat>Panorámica</PresentationFormat>
  <Paragraphs>24</Paragraphs>
  <Slides>14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Trebuchet MS</vt:lpstr>
      <vt:lpstr>Wingdings 3</vt:lpstr>
      <vt:lpstr>Faceta</vt:lpstr>
      <vt:lpstr>PRESUPUESTO DE CAPITAL</vt:lpstr>
      <vt:lpstr>VALOR PRESENTE NETO (VPN)</vt:lpstr>
      <vt:lpstr>Presentación de PowerPoint</vt:lpstr>
      <vt:lpstr>VALOR PRESENTE NETO</vt:lpstr>
      <vt:lpstr>Presentación de PowerPoint</vt:lpstr>
      <vt:lpstr>Presentación de PowerPoint</vt:lpstr>
      <vt:lpstr>ECUACIÓN VPN:</vt:lpstr>
      <vt:lpstr>Regla de Decisión del VPN</vt:lpstr>
      <vt:lpstr>Ejemplo:</vt:lpstr>
      <vt:lpstr>Presentación de PowerPoint</vt:lpstr>
      <vt:lpstr>Presentación de PowerPoint</vt:lpstr>
      <vt:lpstr>Presentación de PowerPoint</vt:lpstr>
      <vt:lpstr>Ejercicio:</vt:lpstr>
      <vt:lpstr>Respuesta: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PRESUPUESTO DE CAPITAL</dc:title>
  <dc:creator>patricia.alemgtr@outlook.com</dc:creator>
  <cp:lastModifiedBy>Patricia Martínez</cp:lastModifiedBy>
  <cp:revision>4</cp:revision>
  <dcterms:created xsi:type="dcterms:W3CDTF">2020-03-30T23:47:47Z</dcterms:created>
  <dcterms:modified xsi:type="dcterms:W3CDTF">2025-03-31T22:30:16Z</dcterms:modified>
</cp:coreProperties>
</file>