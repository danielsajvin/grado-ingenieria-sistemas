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0" r:id="rId1"/>
  </p:sldMasterIdLst>
  <p:sldIdLst>
    <p:sldId id="260" r:id="rId2"/>
    <p:sldId id="261" r:id="rId3"/>
    <p:sldId id="262" r:id="rId4"/>
    <p:sldId id="263" r:id="rId5"/>
    <p:sldId id="264" r:id="rId6"/>
    <p:sldId id="266" r:id="rId7"/>
    <p:sldId id="267" r:id="rId8"/>
    <p:sldId id="268" r:id="rId9"/>
    <p:sldId id="269" r:id="rId10"/>
    <p:sldId id="270" r:id="rId11"/>
    <p:sldId id="271" r:id="rId12"/>
    <p:sldId id="272" r:id="rId13"/>
    <p:sldId id="277" r:id="rId14"/>
    <p:sldId id="276"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61" d="100"/>
          <a:sy n="61" d="100"/>
        </p:scale>
        <p:origin x="1098"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D396DD5-3C23-4D86-B8CC-91BF1E61A170}" type="doc">
      <dgm:prSet loTypeId="urn:microsoft.com/office/officeart/2008/layout/LinedList" loCatId="list" qsTypeId="urn:microsoft.com/office/officeart/2005/8/quickstyle/simple1" qsCatId="simple" csTypeId="urn:microsoft.com/office/officeart/2005/8/colors/colorful5" csCatId="colorful" phldr="1"/>
      <dgm:spPr/>
      <dgm:t>
        <a:bodyPr/>
        <a:lstStyle/>
        <a:p>
          <a:endParaRPr lang="en-US"/>
        </a:p>
      </dgm:t>
    </dgm:pt>
    <dgm:pt modelId="{30F6049C-B821-4727-8113-A9E0FB7DD2CF}">
      <dgm:prSet/>
      <dgm:spPr/>
      <dgm:t>
        <a:bodyPr/>
        <a:lstStyle/>
        <a:p>
          <a:r>
            <a:rPr lang="es-GT" b="1" i="0"/>
            <a:t>Tradicional (Sin Descontar)</a:t>
          </a:r>
          <a:endParaRPr lang="en-US"/>
        </a:p>
      </dgm:t>
    </dgm:pt>
    <dgm:pt modelId="{69515294-9A2F-497E-8375-D932116B767C}" type="parTrans" cxnId="{D4852DEB-555B-4955-A522-10E7E73B66BF}">
      <dgm:prSet/>
      <dgm:spPr/>
      <dgm:t>
        <a:bodyPr/>
        <a:lstStyle/>
        <a:p>
          <a:endParaRPr lang="en-US"/>
        </a:p>
      </dgm:t>
    </dgm:pt>
    <dgm:pt modelId="{7072410C-32B7-4CE1-B7E3-1C7B66D4BA7B}" type="sibTrans" cxnId="{D4852DEB-555B-4955-A522-10E7E73B66BF}">
      <dgm:prSet/>
      <dgm:spPr/>
      <dgm:t>
        <a:bodyPr/>
        <a:lstStyle/>
        <a:p>
          <a:endParaRPr lang="en-US"/>
        </a:p>
      </dgm:t>
    </dgm:pt>
    <dgm:pt modelId="{26752BC4-C7D9-4763-A4AE-ED075AF8B41C}">
      <dgm:prSet/>
      <dgm:spPr/>
      <dgm:t>
        <a:bodyPr/>
        <a:lstStyle/>
        <a:p>
          <a:r>
            <a:rPr lang="es-GT" b="1" i="0"/>
            <a:t>Descontado</a:t>
          </a:r>
          <a:endParaRPr lang="en-US"/>
        </a:p>
      </dgm:t>
    </dgm:pt>
    <dgm:pt modelId="{8954DC48-02B9-4738-A8AE-21FD38D94CD3}" type="parTrans" cxnId="{2DABE0F0-8ACB-478A-9D7A-B995CCCC04C4}">
      <dgm:prSet/>
      <dgm:spPr/>
      <dgm:t>
        <a:bodyPr/>
        <a:lstStyle/>
        <a:p>
          <a:endParaRPr lang="en-US"/>
        </a:p>
      </dgm:t>
    </dgm:pt>
    <dgm:pt modelId="{C4D84C56-A6D0-4E60-BEFE-A2F1A47D662E}" type="sibTrans" cxnId="{2DABE0F0-8ACB-478A-9D7A-B995CCCC04C4}">
      <dgm:prSet/>
      <dgm:spPr/>
      <dgm:t>
        <a:bodyPr/>
        <a:lstStyle/>
        <a:p>
          <a:endParaRPr lang="en-US"/>
        </a:p>
      </dgm:t>
    </dgm:pt>
    <dgm:pt modelId="{A24F61AD-E184-4C88-97DB-5AF7793D404C}" type="pres">
      <dgm:prSet presAssocID="{5D396DD5-3C23-4D86-B8CC-91BF1E61A170}" presName="vert0" presStyleCnt="0">
        <dgm:presLayoutVars>
          <dgm:dir/>
          <dgm:animOne val="branch"/>
          <dgm:animLvl val="lvl"/>
        </dgm:presLayoutVars>
      </dgm:prSet>
      <dgm:spPr/>
    </dgm:pt>
    <dgm:pt modelId="{E039C8AE-80C4-4A89-A95E-B7A887FED6DF}" type="pres">
      <dgm:prSet presAssocID="{30F6049C-B821-4727-8113-A9E0FB7DD2CF}" presName="thickLine" presStyleLbl="alignNode1" presStyleIdx="0" presStyleCnt="2"/>
      <dgm:spPr/>
    </dgm:pt>
    <dgm:pt modelId="{2EFA6D3E-A250-4EF0-99EE-97717F51F1CB}" type="pres">
      <dgm:prSet presAssocID="{30F6049C-B821-4727-8113-A9E0FB7DD2CF}" presName="horz1" presStyleCnt="0"/>
      <dgm:spPr/>
    </dgm:pt>
    <dgm:pt modelId="{1E7A8AED-D993-42A8-97C6-080523F5B0CE}" type="pres">
      <dgm:prSet presAssocID="{30F6049C-B821-4727-8113-A9E0FB7DD2CF}" presName="tx1" presStyleLbl="revTx" presStyleIdx="0" presStyleCnt="2"/>
      <dgm:spPr/>
    </dgm:pt>
    <dgm:pt modelId="{4D94F3A5-E5CF-486C-B8CA-2C31EDF69D7B}" type="pres">
      <dgm:prSet presAssocID="{30F6049C-B821-4727-8113-A9E0FB7DD2CF}" presName="vert1" presStyleCnt="0"/>
      <dgm:spPr/>
    </dgm:pt>
    <dgm:pt modelId="{78002053-AC9E-4EBA-8DE9-E334120D9165}" type="pres">
      <dgm:prSet presAssocID="{26752BC4-C7D9-4763-A4AE-ED075AF8B41C}" presName="thickLine" presStyleLbl="alignNode1" presStyleIdx="1" presStyleCnt="2"/>
      <dgm:spPr/>
    </dgm:pt>
    <dgm:pt modelId="{CB073116-D937-4EC5-A243-8A98C567A338}" type="pres">
      <dgm:prSet presAssocID="{26752BC4-C7D9-4763-A4AE-ED075AF8B41C}" presName="horz1" presStyleCnt="0"/>
      <dgm:spPr/>
    </dgm:pt>
    <dgm:pt modelId="{1F0270BD-C8EC-40C1-A557-D45CD942BB16}" type="pres">
      <dgm:prSet presAssocID="{26752BC4-C7D9-4763-A4AE-ED075AF8B41C}" presName="tx1" presStyleLbl="revTx" presStyleIdx="1" presStyleCnt="2"/>
      <dgm:spPr/>
    </dgm:pt>
    <dgm:pt modelId="{59FECBE1-5BBF-41C3-90E4-50074FDAE2F7}" type="pres">
      <dgm:prSet presAssocID="{26752BC4-C7D9-4763-A4AE-ED075AF8B41C}" presName="vert1" presStyleCnt="0"/>
      <dgm:spPr/>
    </dgm:pt>
  </dgm:ptLst>
  <dgm:cxnLst>
    <dgm:cxn modelId="{C954C746-4DFD-42B0-9F81-C2C190B946D0}" type="presOf" srcId="{30F6049C-B821-4727-8113-A9E0FB7DD2CF}" destId="{1E7A8AED-D993-42A8-97C6-080523F5B0CE}" srcOrd="0" destOrd="0" presId="urn:microsoft.com/office/officeart/2008/layout/LinedList"/>
    <dgm:cxn modelId="{04D89D8B-81CD-4DE3-988D-BFC26D1A1CA6}" type="presOf" srcId="{5D396DD5-3C23-4D86-B8CC-91BF1E61A170}" destId="{A24F61AD-E184-4C88-97DB-5AF7793D404C}" srcOrd="0" destOrd="0" presId="urn:microsoft.com/office/officeart/2008/layout/LinedList"/>
    <dgm:cxn modelId="{D4852DEB-555B-4955-A522-10E7E73B66BF}" srcId="{5D396DD5-3C23-4D86-B8CC-91BF1E61A170}" destId="{30F6049C-B821-4727-8113-A9E0FB7DD2CF}" srcOrd="0" destOrd="0" parTransId="{69515294-9A2F-497E-8375-D932116B767C}" sibTransId="{7072410C-32B7-4CE1-B7E3-1C7B66D4BA7B}"/>
    <dgm:cxn modelId="{2DABE0F0-8ACB-478A-9D7A-B995CCCC04C4}" srcId="{5D396DD5-3C23-4D86-B8CC-91BF1E61A170}" destId="{26752BC4-C7D9-4763-A4AE-ED075AF8B41C}" srcOrd="1" destOrd="0" parTransId="{8954DC48-02B9-4738-A8AE-21FD38D94CD3}" sibTransId="{C4D84C56-A6D0-4E60-BEFE-A2F1A47D662E}"/>
    <dgm:cxn modelId="{F880FAF3-BC66-4FCE-BABD-A58192947094}" type="presOf" srcId="{26752BC4-C7D9-4763-A4AE-ED075AF8B41C}" destId="{1F0270BD-C8EC-40C1-A557-D45CD942BB16}" srcOrd="0" destOrd="0" presId="urn:microsoft.com/office/officeart/2008/layout/LinedList"/>
    <dgm:cxn modelId="{90D7BD27-1EC4-4A7E-B985-61A346F4C157}" type="presParOf" srcId="{A24F61AD-E184-4C88-97DB-5AF7793D404C}" destId="{E039C8AE-80C4-4A89-A95E-B7A887FED6DF}" srcOrd="0" destOrd="0" presId="urn:microsoft.com/office/officeart/2008/layout/LinedList"/>
    <dgm:cxn modelId="{0A1D9A57-4066-4266-8D5A-783C30B34737}" type="presParOf" srcId="{A24F61AD-E184-4C88-97DB-5AF7793D404C}" destId="{2EFA6D3E-A250-4EF0-99EE-97717F51F1CB}" srcOrd="1" destOrd="0" presId="urn:microsoft.com/office/officeart/2008/layout/LinedList"/>
    <dgm:cxn modelId="{8DA7C66C-B8E3-4FD9-944A-4206ACED3D4B}" type="presParOf" srcId="{2EFA6D3E-A250-4EF0-99EE-97717F51F1CB}" destId="{1E7A8AED-D993-42A8-97C6-080523F5B0CE}" srcOrd="0" destOrd="0" presId="urn:microsoft.com/office/officeart/2008/layout/LinedList"/>
    <dgm:cxn modelId="{BE35E8E5-B4AB-4D2B-9E8A-0BF551FD9B10}" type="presParOf" srcId="{2EFA6D3E-A250-4EF0-99EE-97717F51F1CB}" destId="{4D94F3A5-E5CF-486C-B8CA-2C31EDF69D7B}" srcOrd="1" destOrd="0" presId="urn:microsoft.com/office/officeart/2008/layout/LinedList"/>
    <dgm:cxn modelId="{BD136741-DD5A-4C24-8630-42FB45F4817F}" type="presParOf" srcId="{A24F61AD-E184-4C88-97DB-5AF7793D404C}" destId="{78002053-AC9E-4EBA-8DE9-E334120D9165}" srcOrd="2" destOrd="0" presId="urn:microsoft.com/office/officeart/2008/layout/LinedList"/>
    <dgm:cxn modelId="{E92CD4A9-BA58-4E52-A317-F1A31537DF58}" type="presParOf" srcId="{A24F61AD-E184-4C88-97DB-5AF7793D404C}" destId="{CB073116-D937-4EC5-A243-8A98C567A338}" srcOrd="3" destOrd="0" presId="urn:microsoft.com/office/officeart/2008/layout/LinedList"/>
    <dgm:cxn modelId="{491F03A3-8251-49D0-B361-687215BF878E}" type="presParOf" srcId="{CB073116-D937-4EC5-A243-8A98C567A338}" destId="{1F0270BD-C8EC-40C1-A557-D45CD942BB16}" srcOrd="0" destOrd="0" presId="urn:microsoft.com/office/officeart/2008/layout/LinedList"/>
    <dgm:cxn modelId="{87B1B0F8-F2FC-477F-B471-DE986F27ABBA}" type="presParOf" srcId="{CB073116-D937-4EC5-A243-8A98C567A338}" destId="{59FECBE1-5BBF-41C3-90E4-50074FDAE2F7}"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D8CCBE6-1DCF-4EB1-9E0B-1BB7E8A40B2B}" type="doc">
      <dgm:prSet loTypeId="urn:microsoft.com/office/officeart/2005/8/layout/vList2" loCatId="list" qsTypeId="urn:microsoft.com/office/officeart/2005/8/quickstyle/simple1" qsCatId="simple" csTypeId="urn:microsoft.com/office/officeart/2005/8/colors/colorful5" csCatId="colorful" phldr="1"/>
      <dgm:spPr/>
      <dgm:t>
        <a:bodyPr/>
        <a:lstStyle/>
        <a:p>
          <a:endParaRPr lang="en-US"/>
        </a:p>
      </dgm:t>
    </dgm:pt>
    <dgm:pt modelId="{6AF333FB-16A2-4DB1-A45D-F9B73E90D522}">
      <dgm:prSet/>
      <dgm:spPr/>
      <dgm:t>
        <a:bodyPr/>
        <a:lstStyle/>
        <a:p>
          <a:r>
            <a:rPr lang="es-GT" b="1"/>
            <a:t>Se considera que un proyecto es aceptable si su período de recuperación es menor que el tiempo de recuperación del costo máximo que la empresa establece, o sea:</a:t>
          </a:r>
          <a:endParaRPr lang="en-US"/>
        </a:p>
      </dgm:t>
    </dgm:pt>
    <dgm:pt modelId="{67002921-E02A-494F-B422-896AFFF3C38E}" type="parTrans" cxnId="{70BADF80-2E5A-4968-824A-F32A000E9555}">
      <dgm:prSet/>
      <dgm:spPr/>
      <dgm:t>
        <a:bodyPr/>
        <a:lstStyle/>
        <a:p>
          <a:endParaRPr lang="en-US"/>
        </a:p>
      </dgm:t>
    </dgm:pt>
    <dgm:pt modelId="{C2B9EE9E-C574-4624-BC98-CFFE39B40C2B}" type="sibTrans" cxnId="{70BADF80-2E5A-4968-824A-F32A000E9555}">
      <dgm:prSet/>
      <dgm:spPr/>
      <dgm:t>
        <a:bodyPr/>
        <a:lstStyle/>
        <a:p>
          <a:endParaRPr lang="en-US"/>
        </a:p>
      </dgm:t>
    </dgm:pt>
    <dgm:pt modelId="{9CA5F53C-3499-40F8-9D1E-6DCA62624922}">
      <dgm:prSet/>
      <dgm:spPr/>
      <dgm:t>
        <a:bodyPr/>
        <a:lstStyle/>
        <a:p>
          <a:r>
            <a:rPr lang="es-GT" b="1"/>
            <a:t>Un proyecto se acepta si PR &lt; n</a:t>
          </a:r>
          <a:endParaRPr lang="en-US"/>
        </a:p>
      </dgm:t>
    </dgm:pt>
    <dgm:pt modelId="{DBB6612A-118D-4885-97D1-6CE55DB06486}" type="parTrans" cxnId="{DB3CDDE3-50DF-4636-A43D-C7F64C5A4371}">
      <dgm:prSet/>
      <dgm:spPr/>
      <dgm:t>
        <a:bodyPr/>
        <a:lstStyle/>
        <a:p>
          <a:endParaRPr lang="en-US"/>
        </a:p>
      </dgm:t>
    </dgm:pt>
    <dgm:pt modelId="{063F9C23-B004-4019-9455-B74E837A3934}" type="sibTrans" cxnId="{DB3CDDE3-50DF-4636-A43D-C7F64C5A4371}">
      <dgm:prSet/>
      <dgm:spPr/>
      <dgm:t>
        <a:bodyPr/>
        <a:lstStyle/>
        <a:p>
          <a:endParaRPr lang="en-US"/>
        </a:p>
      </dgm:t>
    </dgm:pt>
    <dgm:pt modelId="{E6A91D59-B94C-4513-8E18-FA139F8CBB1D}" type="pres">
      <dgm:prSet presAssocID="{5D8CCBE6-1DCF-4EB1-9E0B-1BB7E8A40B2B}" presName="linear" presStyleCnt="0">
        <dgm:presLayoutVars>
          <dgm:animLvl val="lvl"/>
          <dgm:resizeHandles val="exact"/>
        </dgm:presLayoutVars>
      </dgm:prSet>
      <dgm:spPr/>
    </dgm:pt>
    <dgm:pt modelId="{1BC1B68B-1632-4F07-A274-5B6ED2F6F7F8}" type="pres">
      <dgm:prSet presAssocID="{6AF333FB-16A2-4DB1-A45D-F9B73E90D522}" presName="parentText" presStyleLbl="node1" presStyleIdx="0" presStyleCnt="2">
        <dgm:presLayoutVars>
          <dgm:chMax val="0"/>
          <dgm:bulletEnabled val="1"/>
        </dgm:presLayoutVars>
      </dgm:prSet>
      <dgm:spPr/>
    </dgm:pt>
    <dgm:pt modelId="{E6DE799C-CCB4-4177-A30C-71CED8D6F89A}" type="pres">
      <dgm:prSet presAssocID="{C2B9EE9E-C574-4624-BC98-CFFE39B40C2B}" presName="spacer" presStyleCnt="0"/>
      <dgm:spPr/>
    </dgm:pt>
    <dgm:pt modelId="{6AC9F368-1653-4756-9A57-4323E3D9B218}" type="pres">
      <dgm:prSet presAssocID="{9CA5F53C-3499-40F8-9D1E-6DCA62624922}" presName="parentText" presStyleLbl="node1" presStyleIdx="1" presStyleCnt="2">
        <dgm:presLayoutVars>
          <dgm:chMax val="0"/>
          <dgm:bulletEnabled val="1"/>
        </dgm:presLayoutVars>
      </dgm:prSet>
      <dgm:spPr/>
    </dgm:pt>
  </dgm:ptLst>
  <dgm:cxnLst>
    <dgm:cxn modelId="{F9698926-3525-478D-A4A4-D4F1F1EBB8B1}" type="presOf" srcId="{9CA5F53C-3499-40F8-9D1E-6DCA62624922}" destId="{6AC9F368-1653-4756-9A57-4323E3D9B218}" srcOrd="0" destOrd="0" presId="urn:microsoft.com/office/officeart/2005/8/layout/vList2"/>
    <dgm:cxn modelId="{70BADF80-2E5A-4968-824A-F32A000E9555}" srcId="{5D8CCBE6-1DCF-4EB1-9E0B-1BB7E8A40B2B}" destId="{6AF333FB-16A2-4DB1-A45D-F9B73E90D522}" srcOrd="0" destOrd="0" parTransId="{67002921-E02A-494F-B422-896AFFF3C38E}" sibTransId="{C2B9EE9E-C574-4624-BC98-CFFE39B40C2B}"/>
    <dgm:cxn modelId="{0F0E058E-DCEA-41EA-A9BC-BA434D1C252E}" type="presOf" srcId="{6AF333FB-16A2-4DB1-A45D-F9B73E90D522}" destId="{1BC1B68B-1632-4F07-A274-5B6ED2F6F7F8}" srcOrd="0" destOrd="0" presId="urn:microsoft.com/office/officeart/2005/8/layout/vList2"/>
    <dgm:cxn modelId="{DB3CDDE3-50DF-4636-A43D-C7F64C5A4371}" srcId="{5D8CCBE6-1DCF-4EB1-9E0B-1BB7E8A40B2B}" destId="{9CA5F53C-3499-40F8-9D1E-6DCA62624922}" srcOrd="1" destOrd="0" parTransId="{DBB6612A-118D-4885-97D1-6CE55DB06486}" sibTransId="{063F9C23-B004-4019-9455-B74E837A3934}"/>
    <dgm:cxn modelId="{A4F7E2E7-079A-4533-96CD-B76B7CDF4150}" type="presOf" srcId="{5D8CCBE6-1DCF-4EB1-9E0B-1BB7E8A40B2B}" destId="{E6A91D59-B94C-4513-8E18-FA139F8CBB1D}" srcOrd="0" destOrd="0" presId="urn:microsoft.com/office/officeart/2005/8/layout/vList2"/>
    <dgm:cxn modelId="{37F7DC38-973E-41CA-AE3E-3FA20F6A54B0}" type="presParOf" srcId="{E6A91D59-B94C-4513-8E18-FA139F8CBB1D}" destId="{1BC1B68B-1632-4F07-A274-5B6ED2F6F7F8}" srcOrd="0" destOrd="0" presId="urn:microsoft.com/office/officeart/2005/8/layout/vList2"/>
    <dgm:cxn modelId="{92F470CC-649A-41A9-888E-0D7B40D352CF}" type="presParOf" srcId="{E6A91D59-B94C-4513-8E18-FA139F8CBB1D}" destId="{E6DE799C-CCB4-4177-A30C-71CED8D6F89A}" srcOrd="1" destOrd="0" presId="urn:microsoft.com/office/officeart/2005/8/layout/vList2"/>
    <dgm:cxn modelId="{D89D0A77-226B-42F9-B58B-0E195C253A18}" type="presParOf" srcId="{E6A91D59-B94C-4513-8E18-FA139F8CBB1D}" destId="{6AC9F368-1653-4756-9A57-4323E3D9B21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39C8AE-80C4-4A89-A95E-B7A887FED6DF}">
      <dsp:nvSpPr>
        <dsp:cNvPr id="0" name=""/>
        <dsp:cNvSpPr/>
      </dsp:nvSpPr>
      <dsp:spPr>
        <a:xfrm>
          <a:off x="0" y="0"/>
          <a:ext cx="6391275" cy="0"/>
        </a:xfrm>
        <a:prstGeom prst="line">
          <a:avLst/>
        </a:prstGeom>
        <a:solidFill>
          <a:schemeClr val="accent5">
            <a:hueOff val="0"/>
            <a:satOff val="0"/>
            <a:lumOff val="0"/>
            <a:alphaOff val="0"/>
          </a:schemeClr>
        </a:solidFill>
        <a:ln w="19050" cap="rnd"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7A8AED-D993-42A8-97C6-080523F5B0CE}">
      <dsp:nvSpPr>
        <dsp:cNvPr id="0" name=""/>
        <dsp:cNvSpPr/>
      </dsp:nvSpPr>
      <dsp:spPr>
        <a:xfrm>
          <a:off x="0" y="0"/>
          <a:ext cx="6391275" cy="2623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s-GT" sz="6300" b="1" i="0" kern="1200"/>
            <a:t>Tradicional (Sin Descontar)</a:t>
          </a:r>
          <a:endParaRPr lang="en-US" sz="6300" kern="1200"/>
        </a:p>
      </dsp:txBody>
      <dsp:txXfrm>
        <a:off x="0" y="0"/>
        <a:ext cx="6391275" cy="2623343"/>
      </dsp:txXfrm>
    </dsp:sp>
    <dsp:sp modelId="{78002053-AC9E-4EBA-8DE9-E334120D9165}">
      <dsp:nvSpPr>
        <dsp:cNvPr id="0" name=""/>
        <dsp:cNvSpPr/>
      </dsp:nvSpPr>
      <dsp:spPr>
        <a:xfrm>
          <a:off x="0" y="2623343"/>
          <a:ext cx="6391275" cy="0"/>
        </a:xfrm>
        <a:prstGeom prst="line">
          <a:avLst/>
        </a:prstGeom>
        <a:solidFill>
          <a:schemeClr val="accent5">
            <a:hueOff val="2438425"/>
            <a:satOff val="-19443"/>
            <a:lumOff val="-14705"/>
            <a:alphaOff val="0"/>
          </a:schemeClr>
        </a:solidFill>
        <a:ln w="19050" cap="rnd" cmpd="sng" algn="ctr">
          <a:solidFill>
            <a:schemeClr val="accent5">
              <a:hueOff val="2438425"/>
              <a:satOff val="-19443"/>
              <a:lumOff val="-14705"/>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F0270BD-C8EC-40C1-A557-D45CD942BB16}">
      <dsp:nvSpPr>
        <dsp:cNvPr id="0" name=""/>
        <dsp:cNvSpPr/>
      </dsp:nvSpPr>
      <dsp:spPr>
        <a:xfrm>
          <a:off x="0" y="2623343"/>
          <a:ext cx="6391275" cy="26233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40030" tIns="240030" rIns="240030" bIns="240030" numCol="1" spcCol="1270" anchor="t" anchorCtr="0">
          <a:noAutofit/>
        </a:bodyPr>
        <a:lstStyle/>
        <a:p>
          <a:pPr marL="0" lvl="0" indent="0" algn="l" defTabSz="2800350">
            <a:lnSpc>
              <a:spcPct val="90000"/>
            </a:lnSpc>
            <a:spcBef>
              <a:spcPct val="0"/>
            </a:spcBef>
            <a:spcAft>
              <a:spcPct val="35000"/>
            </a:spcAft>
            <a:buNone/>
          </a:pPr>
          <a:r>
            <a:rPr lang="es-GT" sz="6300" b="1" i="0" kern="1200"/>
            <a:t>Descontado</a:t>
          </a:r>
          <a:endParaRPr lang="en-US" sz="6300" kern="1200"/>
        </a:p>
      </dsp:txBody>
      <dsp:txXfrm>
        <a:off x="0" y="2623343"/>
        <a:ext cx="6391275" cy="262334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C1B68B-1632-4F07-A274-5B6ED2F6F7F8}">
      <dsp:nvSpPr>
        <dsp:cNvPr id="0" name=""/>
        <dsp:cNvSpPr/>
      </dsp:nvSpPr>
      <dsp:spPr>
        <a:xfrm>
          <a:off x="0" y="422843"/>
          <a:ext cx="6391275" cy="2164500"/>
        </a:xfrm>
        <a:prstGeom prst="round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b="1" kern="1200"/>
            <a:t>Se considera que un proyecto es aceptable si su período de recuperación es menor que el tiempo de recuperación del costo máximo que la empresa establece, o sea:</a:t>
          </a:r>
          <a:endParaRPr lang="en-US" sz="2500" kern="1200"/>
        </a:p>
      </dsp:txBody>
      <dsp:txXfrm>
        <a:off x="105662" y="528505"/>
        <a:ext cx="6179951" cy="1953176"/>
      </dsp:txXfrm>
    </dsp:sp>
    <dsp:sp modelId="{6AC9F368-1653-4756-9A57-4323E3D9B218}">
      <dsp:nvSpPr>
        <dsp:cNvPr id="0" name=""/>
        <dsp:cNvSpPr/>
      </dsp:nvSpPr>
      <dsp:spPr>
        <a:xfrm>
          <a:off x="0" y="2659343"/>
          <a:ext cx="6391275" cy="2164500"/>
        </a:xfrm>
        <a:prstGeom prst="roundRect">
          <a:avLst/>
        </a:prstGeom>
        <a:solidFill>
          <a:schemeClr val="accent5">
            <a:hueOff val="2438425"/>
            <a:satOff val="-19443"/>
            <a:lumOff val="-14705"/>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s-GT" sz="2500" b="1" kern="1200"/>
            <a:t>Un proyecto se acepta si PR &lt; n</a:t>
          </a:r>
          <a:endParaRPr lang="en-US" sz="2500" kern="1200"/>
        </a:p>
      </dsp:txBody>
      <dsp:txXfrm>
        <a:off x="105662" y="2765005"/>
        <a:ext cx="6179951" cy="1953176"/>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s-ES"/>
              <a:t>Haga clic para modificar el estilo de título del patrón</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smtClean="0"/>
              <a:pPr/>
              <a:t>3/31/2025</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r>
              <a:rPr lang="en-US"/>
              <a:t>
              </a:t>
            </a:r>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867602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7763579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F34E6425-0181-43F2-84FC-787E803FD2F8}"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693173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52562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smtClean="0"/>
              <a:t>3/31/2025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600962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smtClean="0"/>
              <a:t>3/31/2025</a:t>
            </a:fld>
            <a:endParaRPr lang="en-US" dirty="0"/>
          </a:p>
        </p:txBody>
      </p:sp>
      <p:sp>
        <p:nvSpPr>
          <p:cNvPr id="4" name="Footer Placeholder 3"/>
          <p:cNvSpPr>
            <a:spLocks noGrp="1"/>
          </p:cNvSpPr>
          <p:nvPr>
            <p:ph type="ftr" sz="quarter" idx="11"/>
          </p:nvPr>
        </p:nvSpPr>
        <p:spPr/>
        <p:txBody>
          <a:bodyPr/>
          <a:lstStyle/>
          <a:p>
            <a:r>
              <a:rPr lang="en-US"/>
              <a:t>
              </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0451233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smtClean="0"/>
              <a:t>3/31/2025</a:t>
            </a:fld>
            <a:endParaRPr lang="en-US" dirty="0"/>
          </a:p>
        </p:txBody>
      </p:sp>
      <p:sp>
        <p:nvSpPr>
          <p:cNvPr id="3" name="Footer Placeholder 2"/>
          <p:cNvSpPr>
            <a:spLocks noGrp="1"/>
          </p:cNvSpPr>
          <p:nvPr>
            <p:ph type="ftr" sz="quarter" idx="11"/>
          </p:nvPr>
        </p:nvSpPr>
        <p:spPr/>
        <p:txBody>
          <a:bodyPr/>
          <a:lstStyle/>
          <a:p>
            <a:r>
              <a:rPr lang="en-US"/>
              <a:t>
              </a:t>
            </a:r>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5982841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ido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76E86A4C-8E40-4F87-A4F0-01A0687C5742}"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5657621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s-ES"/>
              <a:t>Haga clic en el icono para agregar una imagen</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5E72C73-2D91-4E12-BA25-F0AA0C03599B}"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3947136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923A1CC3-2375-41D4-9E03-427CAF2A4C1A}" type="datetimeFigureOut">
              <a:rPr lang="en-US" smtClean="0"/>
              <a:t>3/31/2025</a:t>
            </a:fld>
            <a:endParaRPr lang="en-US" dirty="0"/>
          </a:p>
        </p:txBody>
      </p:sp>
      <p:sp>
        <p:nvSpPr>
          <p:cNvPr id="6" name="Footer Placeholder 5"/>
          <p:cNvSpPr>
            <a:spLocks noGrp="1"/>
          </p:cNvSpPr>
          <p:nvPr>
            <p:ph type="ftr" sz="quarter" idx="11"/>
          </p:nvPr>
        </p:nvSpPr>
        <p:spPr/>
        <p:txBody>
          <a:bodyPr/>
          <a:lstStyle/>
          <a:p>
            <a:r>
              <a:rPr lang="en-US"/>
              <a:t>
              </a:t>
            </a:r>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0295036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ítulo y descripció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s-ES"/>
              <a:t>Haga clic para modificar el estilo de título del patrón</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FF16868-8199-4C2C-A5B1-63AEE139F88E}"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485750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ita con descripció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s-ES"/>
              <a:t>Haga clic para modificar el estilo de título del patrón</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AD9FF7F-6988-44CC-821B-644E70CD2F73}"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304130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arjeta de nombre">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5C12C299-16B2-4475-990D-751901EACC14}"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75412364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smtClean="0"/>
              <a:t>3/31/2025</a:t>
            </a:fld>
            <a:endParaRPr lang="en-US" dirty="0"/>
          </a:p>
        </p:txBody>
      </p:sp>
      <p:sp>
        <p:nvSpPr>
          <p:cNvPr id="8" name="Footer Placeholder 7"/>
          <p:cNvSpPr>
            <a:spLocks noGrp="1"/>
          </p:cNvSpPr>
          <p:nvPr>
            <p:ph type="ftr" sz="quarter" idx="11"/>
          </p:nvPr>
        </p:nvSpPr>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1346213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smtClean="0"/>
              <a:t>3/31/2025</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r>
              <a:rPr lang="en-US"/>
              <a:t>
              </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41786928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7195783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Título vertical y texto">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smtClean="0"/>
              <a:t>3/31/2025</a:t>
            </a:fld>
            <a:endParaRPr lang="en-US" dirty="0"/>
          </a:p>
        </p:txBody>
      </p:sp>
      <p:sp>
        <p:nvSpPr>
          <p:cNvPr id="5" name="Footer Placeholder 4"/>
          <p:cNvSpPr>
            <a:spLocks noGrp="1"/>
          </p:cNvSpPr>
          <p:nvPr>
            <p:ph type="ftr" sz="quarter" idx="11"/>
          </p:nvPr>
        </p:nvSpPr>
        <p:spPr/>
        <p:txBody>
          <a:bodyPr/>
          <a:lstStyle/>
          <a:p>
            <a:r>
              <a:rPr lang="en-US"/>
              <a:t>
              </a:t>
            </a:r>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874486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smtClean="0"/>
              <a:t>3/31/2025</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r>
              <a:rPr lang="en-US"/>
              <a:t>
              </a:t>
            </a:r>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smtClean="0"/>
              <a:pPr/>
              <a:t>‹Nº›</a:t>
            </a:fld>
            <a:endParaRPr lang="en-US" dirty="0"/>
          </a:p>
        </p:txBody>
      </p:sp>
    </p:spTree>
    <p:extLst>
      <p:ext uri="{BB962C8B-B14F-4D97-AF65-F5344CB8AC3E}">
        <p14:creationId xmlns:p14="http://schemas.microsoft.com/office/powerpoint/2010/main" val="208564661"/>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 id="2147483726" r:id="rId16"/>
    <p:sldLayoutId id="2147483727"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9958F220-B200-4CA9-84DA-A8142DFF560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418226" y="1375132"/>
            <a:ext cx="4125317" cy="4125317"/>
          </a:xfrm>
          <a:prstGeom prst="rect">
            <a:avLst/>
          </a:prstGeom>
        </p:spPr>
      </p:pic>
      <p:sp>
        <p:nvSpPr>
          <p:cNvPr id="3" name="Marcador de contenido 2"/>
          <p:cNvSpPr>
            <a:spLocks noGrp="1"/>
          </p:cNvSpPr>
          <p:nvPr>
            <p:ph idx="1"/>
          </p:nvPr>
        </p:nvSpPr>
        <p:spPr>
          <a:xfrm>
            <a:off x="639098" y="2418735"/>
            <a:ext cx="6072776" cy="3811740"/>
          </a:xfrm>
        </p:spPr>
        <p:txBody>
          <a:bodyPr anchor="ctr">
            <a:normAutofit/>
          </a:bodyPr>
          <a:lstStyle/>
          <a:p>
            <a:pPr marL="0" indent="0">
              <a:buNone/>
            </a:pPr>
            <a:r>
              <a:rPr lang="es-GT" sz="3200" b="1" dirty="0">
                <a:solidFill>
                  <a:srgbClr val="FFFFFF"/>
                </a:solidFill>
              </a:rPr>
              <a:t>PERÍODO DE RECUPERACIÓN</a:t>
            </a:r>
          </a:p>
        </p:txBody>
      </p:sp>
    </p:spTree>
    <p:extLst>
      <p:ext uri="{BB962C8B-B14F-4D97-AF65-F5344CB8AC3E}">
        <p14:creationId xmlns:p14="http://schemas.microsoft.com/office/powerpoint/2010/main" val="291775756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1" name="Rectangle 10">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12" name="Oval 11">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3" name="Oval 12">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4" name="Rectangle 13">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15"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GT"/>
            </a:p>
          </p:txBody>
        </p:sp>
        <p:sp>
          <p:nvSpPr>
            <p:cNvPr id="16"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GT"/>
            </a:p>
          </p:txBody>
        </p:sp>
        <p:sp>
          <p:nvSpPr>
            <p:cNvPr id="17"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GT"/>
            </a:p>
          </p:txBody>
        </p:sp>
      </p:grpSp>
      <p:sp>
        <p:nvSpPr>
          <p:cNvPr id="19" name="Rectangle 18">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GT"/>
          </a:p>
        </p:txBody>
      </p:sp>
      <p:graphicFrame>
        <p:nvGraphicFramePr>
          <p:cNvPr id="5" name="Marcador de contenido 2">
            <a:extLst>
              <a:ext uri="{FF2B5EF4-FFF2-40B4-BE49-F238E27FC236}">
                <a16:creationId xmlns:a16="http://schemas.microsoft.com/office/drawing/2014/main" id="{7E962534-CE88-4481-95FD-F4E5D0658AD5}"/>
              </a:ext>
            </a:extLst>
          </p:cNvPr>
          <p:cNvGraphicFramePr>
            <a:graphicFrameLocks noGrp="1"/>
          </p:cNvGraphicFramePr>
          <p:nvPr>
            <p:ph idx="1"/>
            <p:extLst>
              <p:ext uri="{D42A27DB-BD31-4B8C-83A1-F6EECF244321}">
                <p14:modId xmlns:p14="http://schemas.microsoft.com/office/powerpoint/2010/main" val="801190021"/>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239200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GT"/>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GT"/>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GT"/>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GT"/>
          </a:p>
        </p:txBody>
      </p:sp>
      <p:sp>
        <p:nvSpPr>
          <p:cNvPr id="2" name="Título 1"/>
          <p:cNvSpPr>
            <a:spLocks noGrp="1"/>
          </p:cNvSpPr>
          <p:nvPr>
            <p:ph type="title"/>
          </p:nvPr>
        </p:nvSpPr>
        <p:spPr>
          <a:xfrm>
            <a:off x="994087" y="1130603"/>
            <a:ext cx="3342442" cy="4596794"/>
          </a:xfrm>
        </p:spPr>
        <p:txBody>
          <a:bodyPr anchor="ctr">
            <a:normAutofit/>
          </a:bodyPr>
          <a:lstStyle/>
          <a:p>
            <a:r>
              <a:rPr lang="es-GT" sz="3200" b="1">
                <a:solidFill>
                  <a:srgbClr val="EBEBEB"/>
                </a:solidFill>
              </a:rPr>
              <a:t>PERÍODO DE RECUPERACIÓN TRADICIONAL (PR)</a:t>
            </a:r>
          </a:p>
        </p:txBody>
      </p:sp>
      <p:sp>
        <p:nvSpPr>
          <p:cNvPr id="3" name="Marcador de contenido 2"/>
          <p:cNvSpPr>
            <a:spLocks noGrp="1"/>
          </p:cNvSpPr>
          <p:nvPr>
            <p:ph idx="1"/>
          </p:nvPr>
        </p:nvSpPr>
        <p:spPr>
          <a:xfrm>
            <a:off x="5290077" y="437513"/>
            <a:ext cx="5502614" cy="5954325"/>
          </a:xfrm>
        </p:spPr>
        <p:txBody>
          <a:bodyPr anchor="ctr">
            <a:normAutofit/>
          </a:bodyPr>
          <a:lstStyle/>
          <a:p>
            <a:pPr marL="0" indent="0">
              <a:buNone/>
            </a:pPr>
            <a:r>
              <a:rPr lang="es-GT" sz="2000" b="1"/>
              <a:t>Es el número de años esperado que se requiere para recuperar la inversión original (costo del activo). Es el método formal más simple y el más antiguo para evaluar los proyectos de presupuestación de capital.</a:t>
            </a:r>
          </a:p>
        </p:txBody>
      </p:sp>
    </p:spTree>
    <p:extLst>
      <p:ext uri="{BB962C8B-B14F-4D97-AF65-F5344CB8AC3E}">
        <p14:creationId xmlns:p14="http://schemas.microsoft.com/office/powerpoint/2010/main" val="5283743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GT"/>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GT"/>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GT"/>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GT"/>
          </a:p>
        </p:txBody>
      </p:sp>
      <p:sp>
        <p:nvSpPr>
          <p:cNvPr id="3" name="Marcador de contenido 2"/>
          <p:cNvSpPr>
            <a:spLocks noGrp="1"/>
          </p:cNvSpPr>
          <p:nvPr>
            <p:ph idx="1"/>
          </p:nvPr>
        </p:nvSpPr>
        <p:spPr>
          <a:xfrm>
            <a:off x="5290077" y="437513"/>
            <a:ext cx="5502614" cy="5954325"/>
          </a:xfrm>
        </p:spPr>
        <p:txBody>
          <a:bodyPr anchor="ctr">
            <a:normAutofit/>
          </a:bodyPr>
          <a:lstStyle/>
          <a:p>
            <a:pPr marL="0" indent="0">
              <a:buNone/>
            </a:pPr>
            <a:r>
              <a:rPr lang="es-GT" sz="2000" b="1"/>
              <a:t>Para calcular el período de recuperación de un proyecto, sume los flujos de efectivo esperados para cada año hasta que el valor acumulativo equivalga a la cantidad que se invirtió de manera inicial. El tiempo total, incluyendo la fracción de un año si es apropiada, que toma recuperar la cantidad original invertida es el período de recuperación.</a:t>
            </a:r>
          </a:p>
        </p:txBody>
      </p:sp>
    </p:spTree>
    <p:extLst>
      <p:ext uri="{BB962C8B-B14F-4D97-AF65-F5344CB8AC3E}">
        <p14:creationId xmlns:p14="http://schemas.microsoft.com/office/powerpoint/2010/main" val="13886984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GT" b="1" dirty="0"/>
              <a:t>PERÍODO DE RECUPERACIÓN EXACTO</a:t>
            </a:r>
          </a:p>
        </p:txBody>
      </p:sp>
      <p:sp>
        <p:nvSpPr>
          <p:cNvPr id="3" name="Marcador de contenido 2"/>
          <p:cNvSpPr>
            <a:spLocks noGrp="1"/>
          </p:cNvSpPr>
          <p:nvPr>
            <p:ph idx="1"/>
          </p:nvPr>
        </p:nvSpPr>
        <p:spPr>
          <a:xfrm>
            <a:off x="785611" y="2603500"/>
            <a:ext cx="10573555" cy="3416300"/>
          </a:xfrm>
        </p:spPr>
        <p:txBody>
          <a:bodyPr/>
          <a:lstStyle/>
          <a:p>
            <a:pPr marL="0" indent="0">
              <a:buNone/>
            </a:pPr>
            <a:endParaRPr lang="es-GT" dirty="0"/>
          </a:p>
          <a:p>
            <a:pPr marL="0" indent="0">
              <a:buNone/>
            </a:pPr>
            <a:r>
              <a:rPr lang="es-GT" b="1" dirty="0"/>
              <a:t>Período de				Número de años antes			Cantidad de la inversión inicial</a:t>
            </a:r>
          </a:p>
          <a:p>
            <a:pPr marL="0" indent="0">
              <a:buNone/>
            </a:pPr>
            <a:r>
              <a:rPr lang="es-GT" b="1" dirty="0"/>
              <a:t>recuperación (PR)	=	de la recuperación total		+	no recuperada al principio del </a:t>
            </a:r>
          </a:p>
          <a:p>
            <a:pPr marL="0" indent="0">
              <a:buNone/>
            </a:pPr>
            <a:r>
              <a:rPr lang="es-GT" b="1" dirty="0"/>
              <a:t>						de la inversión inicial					año de recuperación         </a:t>
            </a:r>
          </a:p>
          <a:p>
            <a:pPr marL="0" indent="0">
              <a:buNone/>
            </a:pPr>
            <a:r>
              <a:rPr lang="es-GT" b="1" dirty="0"/>
              <a:t>														Flujo de efectivo total generado														         durante el año de recuperación</a:t>
            </a:r>
          </a:p>
        </p:txBody>
      </p:sp>
      <p:sp>
        <p:nvSpPr>
          <p:cNvPr id="4" name="Abrir llave 3"/>
          <p:cNvSpPr/>
          <p:nvPr/>
        </p:nvSpPr>
        <p:spPr>
          <a:xfrm>
            <a:off x="3322749" y="3000776"/>
            <a:ext cx="51516" cy="1429555"/>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GT"/>
          </a:p>
        </p:txBody>
      </p:sp>
      <p:sp>
        <p:nvSpPr>
          <p:cNvPr id="5" name="Cerrar llave 4"/>
          <p:cNvSpPr/>
          <p:nvPr/>
        </p:nvSpPr>
        <p:spPr>
          <a:xfrm>
            <a:off x="6362163" y="3000776"/>
            <a:ext cx="45719" cy="1429555"/>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GT"/>
          </a:p>
        </p:txBody>
      </p:sp>
      <p:sp>
        <p:nvSpPr>
          <p:cNvPr id="6" name="Abrir llave 5"/>
          <p:cNvSpPr/>
          <p:nvPr/>
        </p:nvSpPr>
        <p:spPr>
          <a:xfrm>
            <a:off x="7134897" y="2987893"/>
            <a:ext cx="58597" cy="1931831"/>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GT"/>
          </a:p>
        </p:txBody>
      </p:sp>
      <p:sp>
        <p:nvSpPr>
          <p:cNvPr id="7" name="Cerrar llave 6"/>
          <p:cNvSpPr/>
          <p:nvPr/>
        </p:nvSpPr>
        <p:spPr>
          <a:xfrm>
            <a:off x="10954126" y="2975012"/>
            <a:ext cx="180304" cy="1931831"/>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s-GT"/>
          </a:p>
        </p:txBody>
      </p:sp>
      <p:cxnSp>
        <p:nvCxnSpPr>
          <p:cNvPr id="9" name="Conector recto 8"/>
          <p:cNvCxnSpPr/>
          <p:nvPr/>
        </p:nvCxnSpPr>
        <p:spPr>
          <a:xfrm>
            <a:off x="7302321" y="4159876"/>
            <a:ext cx="3651805" cy="12879"/>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6398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24E43EB-867C-4B35-9A5C-E435157C72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7C0F5DA-B59F-4F13-8BB8-FFD8F2C572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a:lstStyle/>
          <a:p>
            <a:endParaRPr lang="es-GT"/>
          </a:p>
        </p:txBody>
      </p:sp>
      <p:sp>
        <p:nvSpPr>
          <p:cNvPr id="12" name="Freeform 5">
            <a:extLst>
              <a:ext uri="{FF2B5EF4-FFF2-40B4-BE49-F238E27FC236}">
                <a16:creationId xmlns:a16="http://schemas.microsoft.com/office/drawing/2014/main" id="{9CEA1DEC-CC9E-4776-9E08-048A15BFA6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GT"/>
          </a:p>
        </p:txBody>
      </p:sp>
      <p:sp>
        <p:nvSpPr>
          <p:cNvPr id="14" name="Freeform: Shape 13">
            <a:extLst>
              <a:ext uri="{FF2B5EF4-FFF2-40B4-BE49-F238E27FC236}">
                <a16:creationId xmlns:a16="http://schemas.microsoft.com/office/drawing/2014/main" id="{9CE399CF-F4B8-4832-A8CB-B93F6B1EF4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5171964" y="-140866"/>
            <a:ext cx="6053670" cy="7139732"/>
          </a:xfrm>
          <a:custGeom>
            <a:avLst/>
            <a:gdLst>
              <a:gd name="connsiteX0" fmla="*/ 6053670 w 6053670"/>
              <a:gd name="connsiteY0" fmla="*/ 1098 h 7139732"/>
              <a:gd name="connsiteX1" fmla="*/ 6053670 w 6053670"/>
              <a:gd name="connsiteY1" fmla="*/ 1084479 h 7139732"/>
              <a:gd name="connsiteX2" fmla="*/ 6053670 w 6053670"/>
              <a:gd name="connsiteY2" fmla="*/ 1254558 h 7139732"/>
              <a:gd name="connsiteX3" fmla="*/ 6053670 w 6053670"/>
              <a:gd name="connsiteY3" fmla="*/ 7139732 h 7139732"/>
              <a:gd name="connsiteX4" fmla="*/ 0 w 6053670"/>
              <a:gd name="connsiteY4" fmla="*/ 7139732 h 7139732"/>
              <a:gd name="connsiteX5" fmla="*/ 0 w 6053670"/>
              <a:gd name="connsiteY5" fmla="*/ 1249853 h 7139732"/>
              <a:gd name="connsiteX6" fmla="*/ 0 w 6053670"/>
              <a:gd name="connsiteY6" fmla="*/ 1084479 h 7139732"/>
              <a:gd name="connsiteX7" fmla="*/ 0 w 6053670"/>
              <a:gd name="connsiteY7" fmla="*/ 0 h 7139732"/>
              <a:gd name="connsiteX8" fmla="*/ 35717 w 6053670"/>
              <a:gd name="connsiteY8" fmla="*/ 5488 h 7139732"/>
              <a:gd name="connsiteX9" fmla="*/ 140445 w 6053670"/>
              <a:gd name="connsiteY9" fmla="*/ 21641 h 7139732"/>
              <a:gd name="connsiteX10" fmla="*/ 216722 w 6053670"/>
              <a:gd name="connsiteY10" fmla="*/ 32932 h 7139732"/>
              <a:gd name="connsiteX11" fmla="*/ 307527 w 6053670"/>
              <a:gd name="connsiteY11" fmla="*/ 44850 h 7139732"/>
              <a:gd name="connsiteX12" fmla="*/ 415282 w 6053670"/>
              <a:gd name="connsiteY12" fmla="*/ 59121 h 7139732"/>
              <a:gd name="connsiteX13" fmla="*/ 534539 w 6053670"/>
              <a:gd name="connsiteY13" fmla="*/ 74175 h 7139732"/>
              <a:gd name="connsiteX14" fmla="*/ 668931 w 6053670"/>
              <a:gd name="connsiteY14" fmla="*/ 90014 h 7139732"/>
              <a:gd name="connsiteX15" fmla="*/ 815430 w 6053670"/>
              <a:gd name="connsiteY15" fmla="*/ 106794 h 7139732"/>
              <a:gd name="connsiteX16" fmla="*/ 974641 w 6053670"/>
              <a:gd name="connsiteY16" fmla="*/ 123574 h 7139732"/>
              <a:gd name="connsiteX17" fmla="*/ 1144144 w 6053670"/>
              <a:gd name="connsiteY17" fmla="*/ 140667 h 7139732"/>
              <a:gd name="connsiteX18" fmla="*/ 1326965 w 6053670"/>
              <a:gd name="connsiteY18" fmla="*/ 156506 h 7139732"/>
              <a:gd name="connsiteX19" fmla="*/ 1518261 w 6053670"/>
              <a:gd name="connsiteY19" fmla="*/ 171717 h 7139732"/>
              <a:gd name="connsiteX20" fmla="*/ 1720453 w 6053670"/>
              <a:gd name="connsiteY20" fmla="*/ 185518 h 7139732"/>
              <a:gd name="connsiteX21" fmla="*/ 1931121 w 6053670"/>
              <a:gd name="connsiteY21" fmla="*/ 198690 h 7139732"/>
              <a:gd name="connsiteX22" fmla="*/ 2150869 w 6053670"/>
              <a:gd name="connsiteY22" fmla="*/ 211079 h 7139732"/>
              <a:gd name="connsiteX23" fmla="*/ 2263467 w 6053670"/>
              <a:gd name="connsiteY23" fmla="*/ 215470 h 7139732"/>
              <a:gd name="connsiteX24" fmla="*/ 2378487 w 6053670"/>
              <a:gd name="connsiteY24" fmla="*/ 220332 h 7139732"/>
              <a:gd name="connsiteX25" fmla="*/ 2495323 w 6053670"/>
              <a:gd name="connsiteY25" fmla="*/ 224879 h 7139732"/>
              <a:gd name="connsiteX26" fmla="*/ 2612764 w 6053670"/>
              <a:gd name="connsiteY26" fmla="*/ 227859 h 7139732"/>
              <a:gd name="connsiteX27" fmla="*/ 2732627 w 6053670"/>
              <a:gd name="connsiteY27" fmla="*/ 230525 h 7139732"/>
              <a:gd name="connsiteX28" fmla="*/ 2853700 w 6053670"/>
              <a:gd name="connsiteY28" fmla="*/ 233348 h 7139732"/>
              <a:gd name="connsiteX29" fmla="*/ 2977195 w 6053670"/>
              <a:gd name="connsiteY29" fmla="*/ 235229 h 7139732"/>
              <a:gd name="connsiteX30" fmla="*/ 3101901 w 6053670"/>
              <a:gd name="connsiteY30" fmla="*/ 235229 h 7139732"/>
              <a:gd name="connsiteX31" fmla="*/ 3227817 w 6053670"/>
              <a:gd name="connsiteY31" fmla="*/ 236170 h 7139732"/>
              <a:gd name="connsiteX32" fmla="*/ 3354944 w 6053670"/>
              <a:gd name="connsiteY32" fmla="*/ 235229 h 7139732"/>
              <a:gd name="connsiteX33" fmla="*/ 3483887 w 6053670"/>
              <a:gd name="connsiteY33" fmla="*/ 233348 h 7139732"/>
              <a:gd name="connsiteX34" fmla="*/ 3612830 w 6053670"/>
              <a:gd name="connsiteY34" fmla="*/ 231623 h 7139732"/>
              <a:gd name="connsiteX35" fmla="*/ 3743590 w 6053670"/>
              <a:gd name="connsiteY35" fmla="*/ 227859 h 7139732"/>
              <a:gd name="connsiteX36" fmla="*/ 3875560 w 6053670"/>
              <a:gd name="connsiteY36" fmla="*/ 223938 h 7139732"/>
              <a:gd name="connsiteX37" fmla="*/ 4007530 w 6053670"/>
              <a:gd name="connsiteY37" fmla="*/ 219391 h 7139732"/>
              <a:gd name="connsiteX38" fmla="*/ 4140710 w 6053670"/>
              <a:gd name="connsiteY38" fmla="*/ 212961 h 7139732"/>
              <a:gd name="connsiteX39" fmla="*/ 4275102 w 6053670"/>
              <a:gd name="connsiteY39" fmla="*/ 205277 h 7139732"/>
              <a:gd name="connsiteX40" fmla="*/ 4410098 w 6053670"/>
              <a:gd name="connsiteY40" fmla="*/ 197907 h 7139732"/>
              <a:gd name="connsiteX41" fmla="*/ 4545096 w 6053670"/>
              <a:gd name="connsiteY41" fmla="*/ 188498 h 7139732"/>
              <a:gd name="connsiteX42" fmla="*/ 4681909 w 6053670"/>
              <a:gd name="connsiteY42" fmla="*/ 177207 h 7139732"/>
              <a:gd name="connsiteX43" fmla="*/ 4816905 w 6053670"/>
              <a:gd name="connsiteY43" fmla="*/ 165916 h 7139732"/>
              <a:gd name="connsiteX44" fmla="*/ 4954323 w 6053670"/>
              <a:gd name="connsiteY44" fmla="*/ 152899 h 7139732"/>
              <a:gd name="connsiteX45" fmla="*/ 5092347 w 6053670"/>
              <a:gd name="connsiteY45" fmla="*/ 138629 h 7139732"/>
              <a:gd name="connsiteX46" fmla="*/ 5228555 w 6053670"/>
              <a:gd name="connsiteY46" fmla="*/ 123574 h 7139732"/>
              <a:gd name="connsiteX47" fmla="*/ 5366578 w 6053670"/>
              <a:gd name="connsiteY47" fmla="*/ 106010 h 7139732"/>
              <a:gd name="connsiteX48" fmla="*/ 5503997 w 6053670"/>
              <a:gd name="connsiteY48" fmla="*/ 87192 h 7139732"/>
              <a:gd name="connsiteX49" fmla="*/ 5642020 w 6053670"/>
              <a:gd name="connsiteY49" fmla="*/ 68530 h 7139732"/>
              <a:gd name="connsiteX50" fmla="*/ 5779438 w 6053670"/>
              <a:gd name="connsiteY50" fmla="*/ 46733 h 7139732"/>
              <a:gd name="connsiteX51" fmla="*/ 5916251 w 6053670"/>
              <a:gd name="connsiteY51" fmla="*/ 24464 h 7139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6053670" h="7139732">
                <a:moveTo>
                  <a:pt x="6053670" y="1098"/>
                </a:moveTo>
                <a:lnTo>
                  <a:pt x="6053670" y="1084479"/>
                </a:lnTo>
                <a:lnTo>
                  <a:pt x="6053670" y="1254558"/>
                </a:lnTo>
                <a:lnTo>
                  <a:pt x="6053670" y="7139732"/>
                </a:lnTo>
                <a:lnTo>
                  <a:pt x="0" y="7139732"/>
                </a:lnTo>
                <a:lnTo>
                  <a:pt x="0" y="1249853"/>
                </a:lnTo>
                <a:lnTo>
                  <a:pt x="0" y="1084479"/>
                </a:lnTo>
                <a:lnTo>
                  <a:pt x="0" y="0"/>
                </a:lnTo>
                <a:lnTo>
                  <a:pt x="35717" y="5488"/>
                </a:lnTo>
                <a:lnTo>
                  <a:pt x="140445" y="21641"/>
                </a:lnTo>
                <a:lnTo>
                  <a:pt x="216722" y="32932"/>
                </a:lnTo>
                <a:lnTo>
                  <a:pt x="307527" y="44850"/>
                </a:lnTo>
                <a:lnTo>
                  <a:pt x="415282" y="59121"/>
                </a:lnTo>
                <a:lnTo>
                  <a:pt x="534539" y="74175"/>
                </a:lnTo>
                <a:lnTo>
                  <a:pt x="668931" y="90014"/>
                </a:lnTo>
                <a:lnTo>
                  <a:pt x="815430" y="106794"/>
                </a:lnTo>
                <a:lnTo>
                  <a:pt x="974641" y="123574"/>
                </a:lnTo>
                <a:lnTo>
                  <a:pt x="1144144" y="140667"/>
                </a:lnTo>
                <a:lnTo>
                  <a:pt x="1326965" y="156506"/>
                </a:lnTo>
                <a:lnTo>
                  <a:pt x="1518261" y="171717"/>
                </a:lnTo>
                <a:lnTo>
                  <a:pt x="1720453" y="185518"/>
                </a:lnTo>
                <a:lnTo>
                  <a:pt x="1931121" y="198690"/>
                </a:lnTo>
                <a:lnTo>
                  <a:pt x="2150869" y="211079"/>
                </a:lnTo>
                <a:lnTo>
                  <a:pt x="2263467" y="215470"/>
                </a:lnTo>
                <a:lnTo>
                  <a:pt x="2378487" y="220332"/>
                </a:lnTo>
                <a:lnTo>
                  <a:pt x="2495323" y="224879"/>
                </a:lnTo>
                <a:lnTo>
                  <a:pt x="2612764" y="227859"/>
                </a:lnTo>
                <a:lnTo>
                  <a:pt x="2732627" y="230525"/>
                </a:lnTo>
                <a:lnTo>
                  <a:pt x="2853700" y="233348"/>
                </a:lnTo>
                <a:lnTo>
                  <a:pt x="2977195" y="235229"/>
                </a:lnTo>
                <a:lnTo>
                  <a:pt x="3101901" y="235229"/>
                </a:lnTo>
                <a:lnTo>
                  <a:pt x="3227817" y="236170"/>
                </a:lnTo>
                <a:lnTo>
                  <a:pt x="3354944" y="235229"/>
                </a:lnTo>
                <a:lnTo>
                  <a:pt x="3483887" y="233348"/>
                </a:lnTo>
                <a:lnTo>
                  <a:pt x="3612830" y="231623"/>
                </a:lnTo>
                <a:lnTo>
                  <a:pt x="3743590" y="227859"/>
                </a:lnTo>
                <a:lnTo>
                  <a:pt x="3875560" y="223938"/>
                </a:lnTo>
                <a:lnTo>
                  <a:pt x="4007530" y="219391"/>
                </a:lnTo>
                <a:lnTo>
                  <a:pt x="4140710" y="212961"/>
                </a:lnTo>
                <a:lnTo>
                  <a:pt x="4275102" y="205277"/>
                </a:lnTo>
                <a:lnTo>
                  <a:pt x="4410098" y="197907"/>
                </a:lnTo>
                <a:lnTo>
                  <a:pt x="4545096" y="188498"/>
                </a:lnTo>
                <a:lnTo>
                  <a:pt x="4681909" y="177207"/>
                </a:lnTo>
                <a:lnTo>
                  <a:pt x="4816905" y="165916"/>
                </a:lnTo>
                <a:lnTo>
                  <a:pt x="4954323" y="152899"/>
                </a:lnTo>
                <a:lnTo>
                  <a:pt x="5092347" y="138629"/>
                </a:lnTo>
                <a:lnTo>
                  <a:pt x="5228555" y="123574"/>
                </a:lnTo>
                <a:lnTo>
                  <a:pt x="5366578" y="106010"/>
                </a:lnTo>
                <a:lnTo>
                  <a:pt x="5503997" y="87192"/>
                </a:lnTo>
                <a:lnTo>
                  <a:pt x="5642020" y="68530"/>
                </a:lnTo>
                <a:lnTo>
                  <a:pt x="5779438" y="46733"/>
                </a:lnTo>
                <a:lnTo>
                  <a:pt x="5916251" y="24464"/>
                </a:lnTo>
                <a:close/>
              </a:path>
            </a:pathLst>
          </a:custGeom>
          <a:solidFill>
            <a:schemeClr val="bg1"/>
          </a:solidFill>
          <a:ln>
            <a:noFill/>
          </a:ln>
        </p:spPr>
        <p:txBody>
          <a:bodyPr/>
          <a:lstStyle/>
          <a:p>
            <a:endParaRPr lang="es-GT"/>
          </a:p>
        </p:txBody>
      </p:sp>
      <p:sp>
        <p:nvSpPr>
          <p:cNvPr id="16" name="Freeform 5">
            <a:extLst>
              <a:ext uri="{FF2B5EF4-FFF2-40B4-BE49-F238E27FC236}">
                <a16:creationId xmlns:a16="http://schemas.microsoft.com/office/drawing/2014/main" id="{1F23E73A-FDC8-462C-83C1-3AA89614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GT"/>
          </a:p>
        </p:txBody>
      </p:sp>
      <p:sp>
        <p:nvSpPr>
          <p:cNvPr id="3" name="Marcador de contenido 2"/>
          <p:cNvSpPr>
            <a:spLocks noGrp="1"/>
          </p:cNvSpPr>
          <p:nvPr>
            <p:ph idx="1"/>
          </p:nvPr>
        </p:nvSpPr>
        <p:spPr>
          <a:xfrm>
            <a:off x="5290077" y="437513"/>
            <a:ext cx="5502614" cy="5954325"/>
          </a:xfrm>
        </p:spPr>
        <p:txBody>
          <a:bodyPr anchor="ctr">
            <a:normAutofit/>
          </a:bodyPr>
          <a:lstStyle/>
          <a:p>
            <a:pPr marL="0" indent="0">
              <a:buNone/>
            </a:pPr>
            <a:r>
              <a:rPr lang="es-GT" sz="2000" b="1"/>
              <a:t>El uso del periodo de recuperación para tomar decisiones de presupuesto de capital se basa en el concepto de que es mejor recuperar el costo (la inversión) de un proyecto más pronto que más tarde</a:t>
            </a:r>
          </a:p>
        </p:txBody>
      </p:sp>
    </p:spTree>
    <p:extLst>
      <p:ext uri="{BB962C8B-B14F-4D97-AF65-F5344CB8AC3E}">
        <p14:creationId xmlns:p14="http://schemas.microsoft.com/office/powerpoint/2010/main" val="29310463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08BCF048-8940-4354-B9EC-5AD74E283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31" name="Rectangle 30">
              <a:extLst>
                <a:ext uri="{FF2B5EF4-FFF2-40B4-BE49-F238E27FC236}">
                  <a16:creationId xmlns:a16="http://schemas.microsoft.com/office/drawing/2014/main" id="{D024C14A-78BD-44B0-82BE-6A0D0A2706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32" name="Oval 31">
              <a:extLst>
                <a:ext uri="{FF2B5EF4-FFF2-40B4-BE49-F238E27FC236}">
                  <a16:creationId xmlns:a16="http://schemas.microsoft.com/office/drawing/2014/main" id="{809F3D29-EDB1-4F1C-A0E0-36F28CE171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33" name="Oval 32">
              <a:extLst>
                <a:ext uri="{FF2B5EF4-FFF2-40B4-BE49-F238E27FC236}">
                  <a16:creationId xmlns:a16="http://schemas.microsoft.com/office/drawing/2014/main" id="{5282F4AB-C7B8-4A86-9927-AA106AA27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34" name="Rectangle 33">
              <a:extLst>
                <a:ext uri="{FF2B5EF4-FFF2-40B4-BE49-F238E27FC236}">
                  <a16:creationId xmlns:a16="http://schemas.microsoft.com/office/drawing/2014/main" id="{60B26874-5AFA-4D1E-94A9-53AF9790D7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sp>
          <p:nvSpPr>
            <p:cNvPr id="35" name="Freeform 5">
              <a:extLst>
                <a:ext uri="{FF2B5EF4-FFF2-40B4-BE49-F238E27FC236}">
                  <a16:creationId xmlns:a16="http://schemas.microsoft.com/office/drawing/2014/main" id="{A1DA6C95-40F8-4305-89F6-17F6167C0B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txBody>
            <a:bodyPr/>
            <a:lstStyle/>
            <a:p>
              <a:endParaRPr lang="es-GT"/>
            </a:p>
          </p:txBody>
        </p:sp>
        <p:sp>
          <p:nvSpPr>
            <p:cNvPr id="36" name="Freeform 5">
              <a:extLst>
                <a:ext uri="{FF2B5EF4-FFF2-40B4-BE49-F238E27FC236}">
                  <a16:creationId xmlns:a16="http://schemas.microsoft.com/office/drawing/2014/main" id="{A2FA2D29-AEEE-4FFA-B233-94FBE84C9B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txBody>
            <a:bodyPr/>
            <a:lstStyle/>
            <a:p>
              <a:endParaRPr lang="es-GT"/>
            </a:p>
          </p:txBody>
        </p:sp>
        <p:sp>
          <p:nvSpPr>
            <p:cNvPr id="37" name="Freeform 5">
              <a:extLst>
                <a:ext uri="{FF2B5EF4-FFF2-40B4-BE49-F238E27FC236}">
                  <a16:creationId xmlns:a16="http://schemas.microsoft.com/office/drawing/2014/main" id="{6DA5143E-FA8E-4EC1-99F7-35AE5AD4E377}"/>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txBody>
            <a:bodyPr/>
            <a:lstStyle/>
            <a:p>
              <a:endParaRPr lang="es-GT"/>
            </a:p>
          </p:txBody>
        </p:sp>
      </p:grpSp>
      <p:sp>
        <p:nvSpPr>
          <p:cNvPr id="2" name="Título 1"/>
          <p:cNvSpPr>
            <a:spLocks noGrp="1"/>
          </p:cNvSpPr>
          <p:nvPr>
            <p:ph type="title"/>
          </p:nvPr>
        </p:nvSpPr>
        <p:spPr>
          <a:xfrm>
            <a:off x="1154955" y="973667"/>
            <a:ext cx="2942210" cy="4833745"/>
          </a:xfrm>
        </p:spPr>
        <p:txBody>
          <a:bodyPr>
            <a:normAutofit/>
          </a:bodyPr>
          <a:lstStyle/>
          <a:p>
            <a:r>
              <a:rPr lang="es-GT" b="1">
                <a:solidFill>
                  <a:srgbClr val="EBEBEB"/>
                </a:solidFill>
              </a:rPr>
              <a:t>REGLA GENERAL</a:t>
            </a:r>
          </a:p>
        </p:txBody>
      </p:sp>
      <p:sp>
        <p:nvSpPr>
          <p:cNvPr id="39" name="Rectangle 38">
            <a:extLst>
              <a:ext uri="{FF2B5EF4-FFF2-40B4-BE49-F238E27FC236}">
                <a16:creationId xmlns:a16="http://schemas.microsoft.com/office/drawing/2014/main" id="{CC28BCC9-4093-4FD5-83EB-7EC297F513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s-GT"/>
          </a:p>
        </p:txBody>
      </p:sp>
      <p:graphicFrame>
        <p:nvGraphicFramePr>
          <p:cNvPr id="25" name="Marcador de contenido 2">
            <a:extLst>
              <a:ext uri="{FF2B5EF4-FFF2-40B4-BE49-F238E27FC236}">
                <a16:creationId xmlns:a16="http://schemas.microsoft.com/office/drawing/2014/main" id="{DE3980AE-E9C6-4D1B-B09D-5C7879651140}"/>
              </a:ext>
            </a:extLst>
          </p:cNvPr>
          <p:cNvGraphicFramePr>
            <a:graphicFrameLocks noGrp="1"/>
          </p:cNvGraphicFramePr>
          <p:nvPr>
            <p:ph idx="1"/>
            <p:extLst>
              <p:ext uri="{D42A27DB-BD31-4B8C-83A1-F6EECF244321}">
                <p14:modId xmlns:p14="http://schemas.microsoft.com/office/powerpoint/2010/main" val="2839662004"/>
              </p:ext>
            </p:extLst>
          </p:nvPr>
        </p:nvGraphicFramePr>
        <p:xfrm>
          <a:off x="5194300" y="808038"/>
          <a:ext cx="6391275" cy="524668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21477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p:cNvSpPr>
            <a:spLocks noGrp="1"/>
          </p:cNvSpPr>
          <p:nvPr>
            <p:ph idx="1"/>
          </p:nvPr>
        </p:nvSpPr>
        <p:spPr>
          <a:xfrm>
            <a:off x="553792" y="2240924"/>
            <a:ext cx="10934163" cy="4301544"/>
          </a:xfrm>
        </p:spPr>
        <p:txBody>
          <a:bodyPr>
            <a:noAutofit/>
          </a:bodyPr>
          <a:lstStyle/>
          <a:p>
            <a:pPr marL="0" indent="0" algn="just">
              <a:buNone/>
            </a:pPr>
            <a:r>
              <a:rPr lang="es-GT" sz="4000" b="1" dirty="0"/>
              <a:t>Donde n* es el período de recuperación que la empresa ha determinado como apropiado. Por ejemplo, si la empresa requiere que los proyectos tengan un periodo de recuperación de tres años o menos, el proyecto C sería aceptable pero el L no</a:t>
            </a:r>
          </a:p>
        </p:txBody>
      </p:sp>
    </p:spTree>
    <p:extLst>
      <p:ext uri="{BB962C8B-B14F-4D97-AF65-F5344CB8AC3E}">
        <p14:creationId xmlns:p14="http://schemas.microsoft.com/office/powerpoint/2010/main" val="20390398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s-GT"/>
            </a:p>
          </p:txBody>
        </p:sp>
      </p:gr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678424" y="1059025"/>
            <a:ext cx="5302189" cy="4739950"/>
          </a:xfrm>
        </p:spPr>
        <p:txBody>
          <a:bodyPr anchor="ctr">
            <a:normAutofit/>
          </a:bodyPr>
          <a:lstStyle/>
          <a:p>
            <a:pPr marL="0" indent="0" algn="just">
              <a:buNone/>
            </a:pPr>
            <a:r>
              <a:rPr lang="es-GT" sz="2800" b="1" dirty="0">
                <a:solidFill>
                  <a:schemeClr val="tx1"/>
                </a:solidFill>
              </a:rPr>
              <a:t>Dado que el período de recuperación ignora el valor del dinero en el tiempo, depender sólo de este método podría llevar a decisiones incorrectas, por lo menos si la meta es maximizar el valor</a:t>
            </a:r>
          </a:p>
        </p:txBody>
      </p:sp>
    </p:spTree>
    <p:extLst>
      <p:ext uri="{BB962C8B-B14F-4D97-AF65-F5344CB8AC3E}">
        <p14:creationId xmlns:p14="http://schemas.microsoft.com/office/powerpoint/2010/main" val="1949547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grpSp>
        <p:nvGrpSpPr>
          <p:cNvPr id="18"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s-GT"/>
            </a:p>
          </p:txBody>
        </p:sp>
      </p:grpSp>
      <p:sp>
        <p:nvSpPr>
          <p:cNvPr id="2" name="Título 1"/>
          <p:cNvSpPr>
            <a:spLocks noGrp="1"/>
          </p:cNvSpPr>
          <p:nvPr>
            <p:ph type="title"/>
          </p:nvPr>
        </p:nvSpPr>
        <p:spPr>
          <a:xfrm>
            <a:off x="1000372" y="1209957"/>
            <a:ext cx="3034580" cy="4438087"/>
          </a:xfrm>
        </p:spPr>
        <p:txBody>
          <a:bodyPr anchor="ctr">
            <a:normAutofit/>
          </a:bodyPr>
          <a:lstStyle/>
          <a:p>
            <a:pPr algn="r"/>
            <a:endParaRPr lang="es-GT" sz="3200">
              <a:solidFill>
                <a:schemeClr val="tx1"/>
              </a:solidFill>
            </a:endParaRP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678424" y="1059025"/>
            <a:ext cx="5302189" cy="4739950"/>
          </a:xfrm>
        </p:spPr>
        <p:txBody>
          <a:bodyPr anchor="ctr">
            <a:normAutofit/>
          </a:bodyPr>
          <a:lstStyle/>
          <a:p>
            <a:pPr marL="0" indent="0" algn="just">
              <a:buNone/>
            </a:pPr>
            <a:r>
              <a:rPr lang="es-GT" sz="2400" b="1" dirty="0">
                <a:solidFill>
                  <a:schemeClr val="tx1"/>
                </a:solidFill>
              </a:rPr>
              <a:t>Para corregir el hecho de que el método de recuperación tradicional no considere el valor del dinero en el tiempo, se puede calcular el período de recuperación descontado (PRD) para el proyecto C y saber el tiempo que tomará al flujo de efectivo descontado del proyecto para recuperar el costo de la inversión</a:t>
            </a:r>
          </a:p>
        </p:txBody>
      </p:sp>
    </p:spTree>
    <p:extLst>
      <p:ext uri="{BB962C8B-B14F-4D97-AF65-F5344CB8AC3E}">
        <p14:creationId xmlns:p14="http://schemas.microsoft.com/office/powerpoint/2010/main" val="46557006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s-GT"/>
            </a:p>
          </p:txBody>
        </p:sp>
      </p:grpSp>
      <p:sp>
        <p:nvSpPr>
          <p:cNvPr id="2" name="Título 1"/>
          <p:cNvSpPr>
            <a:spLocks noGrp="1"/>
          </p:cNvSpPr>
          <p:nvPr>
            <p:ph type="title"/>
          </p:nvPr>
        </p:nvSpPr>
        <p:spPr>
          <a:xfrm>
            <a:off x="1000372" y="1209957"/>
            <a:ext cx="3034580" cy="4438087"/>
          </a:xfrm>
        </p:spPr>
        <p:txBody>
          <a:bodyPr anchor="ctr">
            <a:normAutofit/>
          </a:bodyPr>
          <a:lstStyle/>
          <a:p>
            <a:pPr algn="r"/>
            <a:r>
              <a:rPr lang="es-GT" sz="3200" b="1">
                <a:solidFill>
                  <a:schemeClr val="tx1"/>
                </a:solidFill>
              </a:rPr>
              <a:t>Período de Recuperación Descontado</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678424" y="1059025"/>
            <a:ext cx="5302189" cy="4739950"/>
          </a:xfrm>
        </p:spPr>
        <p:txBody>
          <a:bodyPr anchor="ctr">
            <a:normAutofit/>
          </a:bodyPr>
          <a:lstStyle/>
          <a:p>
            <a:pPr marL="0" indent="0">
              <a:buNone/>
            </a:pPr>
            <a:r>
              <a:rPr lang="es-GT" b="1">
                <a:solidFill>
                  <a:schemeClr val="tx1"/>
                </a:solidFill>
              </a:rPr>
              <a:t>A diferencia del cálculo de la recuperación tradicional, el cálculo de periodo de recuperación descontado considera el valor del dinero en el tiempo. Mediante el período de recuperación descontado, un proyecto se debe aceptar cuando su periodo descontado es menor que su vida esperada</a:t>
            </a:r>
          </a:p>
        </p:txBody>
      </p:sp>
    </p:spTree>
    <p:extLst>
      <p:ext uri="{BB962C8B-B14F-4D97-AF65-F5344CB8AC3E}">
        <p14:creationId xmlns:p14="http://schemas.microsoft.com/office/powerpoint/2010/main" val="952572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219AE65-9B94-44EA-BEF3-EF4BFA169C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0C81A57-9CD5-461B-8FFE-4A8CB6CF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017539" y="467397"/>
            <a:ext cx="695829" cy="591911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s-GT"/>
          </a:p>
        </p:txBody>
      </p:sp>
      <p:grpSp>
        <p:nvGrpSpPr>
          <p:cNvPr id="12" name="Group 11">
            <a:extLst>
              <a:ext uri="{FF2B5EF4-FFF2-40B4-BE49-F238E27FC236}">
                <a16:creationId xmlns:a16="http://schemas.microsoft.com/office/drawing/2014/main" id="{3086C462-37F4-494D-8292-CCB95221CC1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a:solidFill>
            <a:srgbClr val="FFFFFF"/>
          </a:solidFill>
        </p:grpSpPr>
        <p:sp>
          <p:nvSpPr>
            <p:cNvPr id="13" name="Rectangle 12">
              <a:extLst>
                <a:ext uri="{FF2B5EF4-FFF2-40B4-BE49-F238E27FC236}">
                  <a16:creationId xmlns:a16="http://schemas.microsoft.com/office/drawing/2014/main" id="{2C7D2D64-353F-4802-AA48-A70CE6020B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s-GT"/>
            </a:p>
          </p:txBody>
        </p:sp>
        <p:sp>
          <p:nvSpPr>
            <p:cNvPr id="14" name="Freeform 5">
              <a:extLst>
                <a:ext uri="{FF2B5EF4-FFF2-40B4-BE49-F238E27FC236}">
                  <a16:creationId xmlns:a16="http://schemas.microsoft.com/office/drawing/2014/main" id="{30A6328F-CAA3-4052-BF4C-14BD47706E65}"/>
                </a:ext>
                <a:ext uri="{C183D7F6-B498-43B3-948B-1728B52AA6E4}">
                  <adec:decorative xmlns:adec="http://schemas.microsoft.com/office/drawing/2017/decorative" val="1"/>
                </a:ext>
              </a:extLst>
            </p:cNvPr>
            <p:cNvSpPr>
              <a:spLocks noEditPoints="1"/>
            </p:cNvSpPr>
            <p:nvPr>
              <p:extLst>
                <p:ext uri="{386F3935-93C4-4BCD-93E2-E3B085C9AB24}">
                  <p16:designElem xmlns:p16="http://schemas.microsoft.com/office/powerpoint/2015/main" val="1"/>
                </p:ext>
              </p:extLst>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ln>
              <a:noFill/>
            </a:ln>
          </p:spPr>
          <p:style>
            <a:lnRef idx="0">
              <a:scrgbClr r="0" g="0" b="0"/>
            </a:lnRef>
            <a:fillRef idx="1002">
              <a:schemeClr val="dk2"/>
            </a:fillRef>
            <a:effectRef idx="0">
              <a:scrgbClr r="0" g="0" b="0"/>
            </a:effectRef>
            <a:fontRef idx="major"/>
          </p:style>
          <p:txBody>
            <a:bodyPr/>
            <a:lstStyle/>
            <a:p>
              <a:endParaRPr lang="es-GT"/>
            </a:p>
          </p:txBody>
        </p:sp>
      </p:grpSp>
      <p:sp>
        <p:nvSpPr>
          <p:cNvPr id="2" name="Título 1"/>
          <p:cNvSpPr>
            <a:spLocks noGrp="1"/>
          </p:cNvSpPr>
          <p:nvPr>
            <p:ph type="title"/>
          </p:nvPr>
        </p:nvSpPr>
        <p:spPr>
          <a:xfrm>
            <a:off x="1000372" y="1209957"/>
            <a:ext cx="3034580" cy="4438087"/>
          </a:xfrm>
        </p:spPr>
        <p:txBody>
          <a:bodyPr anchor="ctr">
            <a:normAutofit/>
          </a:bodyPr>
          <a:lstStyle/>
          <a:p>
            <a:pPr algn="r"/>
            <a:r>
              <a:rPr lang="es-GT" sz="3200" b="1">
                <a:solidFill>
                  <a:schemeClr val="tx1"/>
                </a:solidFill>
              </a:rPr>
              <a:t>Regla de decisión del período de recuperación descontado (PRD)</a:t>
            </a:r>
          </a:p>
        </p:txBody>
      </p:sp>
      <p:cxnSp>
        <p:nvCxnSpPr>
          <p:cNvPr id="16" name="Straight Connector 15">
            <a:extLst>
              <a:ext uri="{FF2B5EF4-FFF2-40B4-BE49-F238E27FC236}">
                <a16:creationId xmlns:a16="http://schemas.microsoft.com/office/drawing/2014/main" id="{AD23B2CD-009B-425A-9616-1E1AD1D5AB4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356687" y="1930986"/>
            <a:ext cx="0" cy="3200400"/>
          </a:xfrm>
          <a:prstGeom prst="line">
            <a:avLst/>
          </a:prstGeom>
          <a:ln w="15875" cap="sq">
            <a:solidFill>
              <a:schemeClr val="tx2"/>
            </a:solidFill>
            <a:miter lim="800000"/>
          </a:ln>
        </p:spPr>
        <p:style>
          <a:lnRef idx="1">
            <a:schemeClr val="accent1"/>
          </a:lnRef>
          <a:fillRef idx="0">
            <a:schemeClr val="accent1"/>
          </a:fillRef>
          <a:effectRef idx="0">
            <a:schemeClr val="accent1"/>
          </a:effectRef>
          <a:fontRef idx="minor">
            <a:schemeClr val="tx1"/>
          </a:fontRef>
        </p:style>
      </p:cxnSp>
      <p:sp>
        <p:nvSpPr>
          <p:cNvPr id="3" name="Marcador de contenido 2"/>
          <p:cNvSpPr>
            <a:spLocks noGrp="1"/>
          </p:cNvSpPr>
          <p:nvPr>
            <p:ph idx="1"/>
          </p:nvPr>
        </p:nvSpPr>
        <p:spPr>
          <a:xfrm>
            <a:off x="4678424" y="1059025"/>
            <a:ext cx="5302189" cy="4739950"/>
          </a:xfrm>
        </p:spPr>
        <p:txBody>
          <a:bodyPr anchor="ctr">
            <a:normAutofit/>
          </a:bodyPr>
          <a:lstStyle/>
          <a:p>
            <a:pPr marL="0" indent="0">
              <a:buNone/>
            </a:pPr>
            <a:endParaRPr lang="es-GT" b="1">
              <a:solidFill>
                <a:schemeClr val="tx1"/>
              </a:solidFill>
            </a:endParaRPr>
          </a:p>
          <a:p>
            <a:pPr marL="0" indent="0">
              <a:buNone/>
            </a:pPr>
            <a:r>
              <a:rPr lang="es-GT" b="1">
                <a:solidFill>
                  <a:schemeClr val="tx1"/>
                </a:solidFill>
              </a:rPr>
              <a:t>El proyecto es aceptable si PRD &lt; vida del proyecto</a:t>
            </a:r>
            <a:r>
              <a:rPr lang="es-GT">
                <a:solidFill>
                  <a:schemeClr val="tx1"/>
                </a:solidFill>
              </a:rPr>
              <a:t>  </a:t>
            </a:r>
          </a:p>
        </p:txBody>
      </p:sp>
    </p:spTree>
    <p:extLst>
      <p:ext uri="{BB962C8B-B14F-4D97-AF65-F5344CB8AC3E}">
        <p14:creationId xmlns:p14="http://schemas.microsoft.com/office/powerpoint/2010/main" val="20134755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74253" y="1184857"/>
            <a:ext cx="8641723" cy="5100034"/>
          </a:xfrm>
        </p:spPr>
      </p:pic>
    </p:spTree>
    <p:extLst>
      <p:ext uri="{BB962C8B-B14F-4D97-AF65-F5344CB8AC3E}">
        <p14:creationId xmlns:p14="http://schemas.microsoft.com/office/powerpoint/2010/main" val="2807008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9000"/>
                <a:hueMod val="91000"/>
                <a:satMod val="164000"/>
                <a:lumMod val="74000"/>
              </a:schemeClr>
              <a:schemeClr val="bg2">
                <a:hueMod val="124000"/>
                <a:satMod val="140000"/>
                <a:lumMod val="142000"/>
              </a:schemeClr>
            </a:duotone>
          </a:blip>
          <a:stretch/>
        </a:blipFill>
        <a:effectLst/>
      </p:bgPr>
    </p:bg>
    <p:spTree>
      <p:nvGrpSpPr>
        <p:cNvPr id="1" name=""/>
        <p:cNvGrpSpPr/>
        <p:nvPr/>
      </p:nvGrpSpPr>
      <p:grpSpPr>
        <a:xfrm>
          <a:off x="0" y="0"/>
          <a:ext cx="0" cy="0"/>
          <a:chOff x="0" y="0"/>
          <a:chExt cx="0" cy="0"/>
        </a:xfrm>
      </p:grpSpPr>
      <p:sp>
        <p:nvSpPr>
          <p:cNvPr id="2" name="Título 1"/>
          <p:cNvSpPr>
            <a:spLocks noGrp="1"/>
          </p:cNvSpPr>
          <p:nvPr>
            <p:ph type="title"/>
          </p:nvPr>
        </p:nvSpPr>
        <p:spPr>
          <a:xfrm>
            <a:off x="836247" y="1085549"/>
            <a:ext cx="3430947" cy="4686903"/>
          </a:xfrm>
        </p:spPr>
        <p:txBody>
          <a:bodyPr anchor="ctr">
            <a:normAutofit/>
          </a:bodyPr>
          <a:lstStyle/>
          <a:p>
            <a:pPr algn="r"/>
            <a:r>
              <a:rPr lang="es-GT" b="1">
                <a:solidFill>
                  <a:schemeClr val="tx1"/>
                </a:solidFill>
              </a:rPr>
              <a:t>Ejercicio</a:t>
            </a:r>
          </a:p>
        </p:txBody>
      </p:sp>
      <p:sp>
        <p:nvSpPr>
          <p:cNvPr id="3" name="Marcador de contenido 2"/>
          <p:cNvSpPr>
            <a:spLocks noGrp="1"/>
          </p:cNvSpPr>
          <p:nvPr>
            <p:ph idx="1"/>
          </p:nvPr>
        </p:nvSpPr>
        <p:spPr>
          <a:xfrm>
            <a:off x="5041399" y="1085549"/>
            <a:ext cx="5579707" cy="4686903"/>
          </a:xfrm>
        </p:spPr>
        <p:txBody>
          <a:bodyPr anchor="ctr">
            <a:normAutofit/>
          </a:bodyPr>
          <a:lstStyle/>
          <a:p>
            <a:pPr marL="0" indent="0">
              <a:buNone/>
            </a:pPr>
            <a:r>
              <a:rPr lang="es-GT" b="1">
                <a:solidFill>
                  <a:schemeClr val="tx1"/>
                </a:solidFill>
              </a:rPr>
              <a:t>Textiles del Norte está considerando comprar una máquina nueva cuyo costo es de Q 75,000.00. Se espera que la máquina genere flujos de efectivo después de impuestos durante sus tres años de vida por Q 30,000.00, Q 38,000.00 y Q 28,000.00. Textiles del Norte requiere que la inversión tenga una tasa de rendimiento de al menos 12%. ¿Cuál es su período de recuperación tradicional y cuál su período de recuperación descontado? ¿Debería Textiles del Norte comprar la máquina?</a:t>
            </a:r>
          </a:p>
          <a:p>
            <a:pPr marL="0" indent="0">
              <a:buNone/>
            </a:pPr>
            <a:endParaRPr lang="es-GT">
              <a:solidFill>
                <a:schemeClr val="tx1"/>
              </a:solidFill>
            </a:endParaRPr>
          </a:p>
        </p:txBody>
      </p:sp>
    </p:spTree>
    <p:extLst>
      <p:ext uri="{BB962C8B-B14F-4D97-AF65-F5344CB8AC3E}">
        <p14:creationId xmlns:p14="http://schemas.microsoft.com/office/powerpoint/2010/main" val="3248868479"/>
      </p:ext>
    </p:extLst>
  </p:cSld>
  <p:clrMapOvr>
    <a:overrideClrMapping bg1="dk1" tx1="lt1" bg2="dk2" tx2="lt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ala de reuniones Ion">
  <a:themeElements>
    <a:clrScheme name="Sala de reuniones Ion">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Sala de reuniones 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ala de reuniones 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121</TotalTime>
  <Words>589</Words>
  <Application>Microsoft Office PowerPoint</Application>
  <PresentationFormat>Panorámica</PresentationFormat>
  <Paragraphs>26</Paragraphs>
  <Slides>14</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14</vt:i4>
      </vt:variant>
    </vt:vector>
  </HeadingPairs>
  <TitlesOfParts>
    <vt:vector size="18" baseType="lpstr">
      <vt:lpstr>Arial</vt:lpstr>
      <vt:lpstr>Century Gothic</vt:lpstr>
      <vt:lpstr>Wingdings 3</vt:lpstr>
      <vt:lpstr>Sala de reuniones Ion</vt:lpstr>
      <vt:lpstr>Presentación de PowerPoint</vt:lpstr>
      <vt:lpstr>Presentación de PowerPoint</vt:lpstr>
      <vt:lpstr>PERÍODO DE RECUPERACIÓN TRADICIONAL (PR)</vt:lpstr>
      <vt:lpstr>Presentación de PowerPoint</vt:lpstr>
      <vt:lpstr>PERÍODO DE RECUPERACIÓN EXACTO</vt:lpstr>
      <vt:lpstr>Presentación de PowerPoint</vt:lpstr>
      <vt:lpstr>REGLA GENERAL</vt:lpstr>
      <vt:lpstr>Presentación de PowerPoint</vt:lpstr>
      <vt:lpstr>Presentación de PowerPoint</vt:lpstr>
      <vt:lpstr>Presentación de PowerPoint</vt:lpstr>
      <vt:lpstr>Período de Recuperación Descontado</vt:lpstr>
      <vt:lpstr>Regla de decisión del período de recuperación descontado (PRD)</vt:lpstr>
      <vt:lpstr>Presentación de PowerPoint</vt:lpstr>
      <vt:lpstr>Ejercicio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patricia.alemgtr@outlook.com</dc:creator>
  <cp:lastModifiedBy>Patricia Martínez</cp:lastModifiedBy>
  <cp:revision>4</cp:revision>
  <dcterms:created xsi:type="dcterms:W3CDTF">2020-04-13T23:33:28Z</dcterms:created>
  <dcterms:modified xsi:type="dcterms:W3CDTF">2025-03-31T22:39:42Z</dcterms:modified>
</cp:coreProperties>
</file>