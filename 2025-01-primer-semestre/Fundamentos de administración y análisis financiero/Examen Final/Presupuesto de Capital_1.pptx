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38" r:id="rId1"/>
  </p:sldMasterIdLst>
  <p:sldIdLst>
    <p:sldId id="256" r:id="rId2"/>
    <p:sldId id="258" r:id="rId3"/>
    <p:sldId id="259" r:id="rId4"/>
    <p:sldId id="260" r:id="rId5"/>
    <p:sldId id="261" r:id="rId6"/>
    <p:sldId id="262" r:id="rId7"/>
    <p:sldId id="263" r:id="rId8"/>
    <p:sldId id="265" r:id="rId9"/>
    <p:sldId id="266" r:id="rId10"/>
    <p:sldId id="267" r:id="rId11"/>
    <p:sldId id="268" r:id="rId12"/>
    <p:sldId id="269" r:id="rId13"/>
    <p:sldId id="270" r:id="rId14"/>
    <p:sldId id="271" r:id="rId15"/>
    <p:sldId id="272" r:id="rId16"/>
    <p:sldId id="273" r:id="rId17"/>
    <p:sldId id="27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1" d="100"/>
          <a:sy n="61" d="100"/>
        </p:scale>
        <p:origin x="1098" y="28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8886578-F60A-43BF-9DB8-A22226B6023A}"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253BEFBE-6A35-443D-9392-934D1A882720}">
      <dgm:prSet/>
      <dgm:spPr/>
      <dgm:t>
        <a:bodyPr/>
        <a:lstStyle/>
        <a:p>
          <a:r>
            <a:rPr lang="es-GT" b="1"/>
            <a:t>Cuáles inversiones son aceptables, y</a:t>
          </a:r>
          <a:endParaRPr lang="en-US"/>
        </a:p>
      </dgm:t>
    </dgm:pt>
    <dgm:pt modelId="{7EC4BF4A-5578-49E4-AC64-E880305A22A1}" type="parTrans" cxnId="{C5979D6A-2589-4FA4-A0FE-BC779E150C44}">
      <dgm:prSet/>
      <dgm:spPr/>
      <dgm:t>
        <a:bodyPr/>
        <a:lstStyle/>
        <a:p>
          <a:endParaRPr lang="en-US"/>
        </a:p>
      </dgm:t>
    </dgm:pt>
    <dgm:pt modelId="{ABC023B6-5AA1-4798-A58F-B8F2F0681D2C}" type="sibTrans" cxnId="{C5979D6A-2589-4FA4-A0FE-BC779E150C44}">
      <dgm:prSet/>
      <dgm:spPr/>
      <dgm:t>
        <a:bodyPr/>
        <a:lstStyle/>
        <a:p>
          <a:endParaRPr lang="en-US"/>
        </a:p>
      </dgm:t>
    </dgm:pt>
    <dgm:pt modelId="{5DA7E202-1025-44A8-9618-A20E4AFD2CDE}">
      <dgm:prSet/>
      <dgm:spPr/>
      <dgm:t>
        <a:bodyPr/>
        <a:lstStyle/>
        <a:p>
          <a:r>
            <a:rPr lang="es-GT" b="1"/>
            <a:t>Cuáles en realidad se deben comprar</a:t>
          </a:r>
          <a:endParaRPr lang="en-US"/>
        </a:p>
      </dgm:t>
    </dgm:pt>
    <dgm:pt modelId="{E5B5860F-CA3F-4D39-B301-46B3C6987D0A}" type="parTrans" cxnId="{F3CF900F-CB37-48E4-8C9A-3DEE8A6E54E8}">
      <dgm:prSet/>
      <dgm:spPr/>
      <dgm:t>
        <a:bodyPr/>
        <a:lstStyle/>
        <a:p>
          <a:endParaRPr lang="en-US"/>
        </a:p>
      </dgm:t>
    </dgm:pt>
    <dgm:pt modelId="{32A6807B-9B0E-4EAA-81E6-BC4F9D480881}" type="sibTrans" cxnId="{F3CF900F-CB37-48E4-8C9A-3DEE8A6E54E8}">
      <dgm:prSet/>
      <dgm:spPr/>
      <dgm:t>
        <a:bodyPr/>
        <a:lstStyle/>
        <a:p>
          <a:endParaRPr lang="en-US"/>
        </a:p>
      </dgm:t>
    </dgm:pt>
    <dgm:pt modelId="{FC87A3F4-6D7F-49CC-8808-5A62935C9542}" type="pres">
      <dgm:prSet presAssocID="{B8886578-F60A-43BF-9DB8-A22226B6023A}" presName="root" presStyleCnt="0">
        <dgm:presLayoutVars>
          <dgm:dir/>
          <dgm:resizeHandles val="exact"/>
        </dgm:presLayoutVars>
      </dgm:prSet>
      <dgm:spPr/>
    </dgm:pt>
    <dgm:pt modelId="{F2923249-4ED3-40D3-BC4D-038841EC98F4}" type="pres">
      <dgm:prSet presAssocID="{253BEFBE-6A35-443D-9392-934D1A882720}" presName="compNode" presStyleCnt="0"/>
      <dgm:spPr/>
    </dgm:pt>
    <dgm:pt modelId="{0163973A-2FB9-44A3-821C-9C2CFA2A0AAB}" type="pres">
      <dgm:prSet presAssocID="{253BEFBE-6A35-443D-9392-934D1A882720}" presName="bgRect" presStyleLbl="bgShp" presStyleIdx="0" presStyleCnt="2"/>
      <dgm:spPr/>
    </dgm:pt>
    <dgm:pt modelId="{4D8D79F8-3F69-47C4-8D4E-3F5EAF3B8199}" type="pres">
      <dgm:prSet presAssocID="{253BEFBE-6A35-443D-9392-934D1A88272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itcoin"/>
        </a:ext>
      </dgm:extLst>
    </dgm:pt>
    <dgm:pt modelId="{1E3376A0-EB4B-44E1-B667-294A4724F1EE}" type="pres">
      <dgm:prSet presAssocID="{253BEFBE-6A35-443D-9392-934D1A882720}" presName="spaceRect" presStyleCnt="0"/>
      <dgm:spPr/>
    </dgm:pt>
    <dgm:pt modelId="{67EDE9E0-A8D0-4CBD-AF02-897B88B2D6BC}" type="pres">
      <dgm:prSet presAssocID="{253BEFBE-6A35-443D-9392-934D1A882720}" presName="parTx" presStyleLbl="revTx" presStyleIdx="0" presStyleCnt="2">
        <dgm:presLayoutVars>
          <dgm:chMax val="0"/>
          <dgm:chPref val="0"/>
        </dgm:presLayoutVars>
      </dgm:prSet>
      <dgm:spPr/>
    </dgm:pt>
    <dgm:pt modelId="{DCC67338-AE83-4FF0-8FB4-709596E4F4E8}" type="pres">
      <dgm:prSet presAssocID="{ABC023B6-5AA1-4798-A58F-B8F2F0681D2C}" presName="sibTrans" presStyleCnt="0"/>
      <dgm:spPr/>
    </dgm:pt>
    <dgm:pt modelId="{74A130EC-5ECC-48F9-87D5-2BEF67939039}" type="pres">
      <dgm:prSet presAssocID="{5DA7E202-1025-44A8-9618-A20E4AFD2CDE}" presName="compNode" presStyleCnt="0"/>
      <dgm:spPr/>
    </dgm:pt>
    <dgm:pt modelId="{4A0EFA01-EFB4-492F-B438-6E9545B69850}" type="pres">
      <dgm:prSet presAssocID="{5DA7E202-1025-44A8-9618-A20E4AFD2CDE}" presName="bgRect" presStyleLbl="bgShp" presStyleIdx="1" presStyleCnt="2"/>
      <dgm:spPr/>
    </dgm:pt>
    <dgm:pt modelId="{AC98C149-9026-4D3E-9368-48DF4E9AE9EA}" type="pres">
      <dgm:prSet presAssocID="{5DA7E202-1025-44A8-9618-A20E4AFD2CDE}"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Kiosk"/>
        </a:ext>
      </dgm:extLst>
    </dgm:pt>
    <dgm:pt modelId="{C438AFB9-8B69-4387-AC42-74FA9B9D59AE}" type="pres">
      <dgm:prSet presAssocID="{5DA7E202-1025-44A8-9618-A20E4AFD2CDE}" presName="spaceRect" presStyleCnt="0"/>
      <dgm:spPr/>
    </dgm:pt>
    <dgm:pt modelId="{19FEFA36-EC30-4BE5-B00A-722A65021F86}" type="pres">
      <dgm:prSet presAssocID="{5DA7E202-1025-44A8-9618-A20E4AFD2CDE}" presName="parTx" presStyleLbl="revTx" presStyleIdx="1" presStyleCnt="2">
        <dgm:presLayoutVars>
          <dgm:chMax val="0"/>
          <dgm:chPref val="0"/>
        </dgm:presLayoutVars>
      </dgm:prSet>
      <dgm:spPr/>
    </dgm:pt>
  </dgm:ptLst>
  <dgm:cxnLst>
    <dgm:cxn modelId="{F3CF900F-CB37-48E4-8C9A-3DEE8A6E54E8}" srcId="{B8886578-F60A-43BF-9DB8-A22226B6023A}" destId="{5DA7E202-1025-44A8-9618-A20E4AFD2CDE}" srcOrd="1" destOrd="0" parTransId="{E5B5860F-CA3F-4D39-B301-46B3C6987D0A}" sibTransId="{32A6807B-9B0E-4EAA-81E6-BC4F9D480881}"/>
    <dgm:cxn modelId="{C5979D6A-2589-4FA4-A0FE-BC779E150C44}" srcId="{B8886578-F60A-43BF-9DB8-A22226B6023A}" destId="{253BEFBE-6A35-443D-9392-934D1A882720}" srcOrd="0" destOrd="0" parTransId="{7EC4BF4A-5578-49E4-AC64-E880305A22A1}" sibTransId="{ABC023B6-5AA1-4798-A58F-B8F2F0681D2C}"/>
    <dgm:cxn modelId="{B5756EC1-44A4-4131-BB16-C700689B9B03}" type="presOf" srcId="{253BEFBE-6A35-443D-9392-934D1A882720}" destId="{67EDE9E0-A8D0-4CBD-AF02-897B88B2D6BC}" srcOrd="0" destOrd="0" presId="urn:microsoft.com/office/officeart/2018/2/layout/IconVerticalSolidList"/>
    <dgm:cxn modelId="{D4B348EA-4980-4F4C-B9F2-9B5C99D8A163}" type="presOf" srcId="{5DA7E202-1025-44A8-9618-A20E4AFD2CDE}" destId="{19FEFA36-EC30-4BE5-B00A-722A65021F86}" srcOrd="0" destOrd="0" presId="urn:microsoft.com/office/officeart/2018/2/layout/IconVerticalSolidList"/>
    <dgm:cxn modelId="{9ECD52FB-54DD-43F1-84BD-F291ECD1ED6D}" type="presOf" srcId="{B8886578-F60A-43BF-9DB8-A22226B6023A}" destId="{FC87A3F4-6D7F-49CC-8808-5A62935C9542}" srcOrd="0" destOrd="0" presId="urn:microsoft.com/office/officeart/2018/2/layout/IconVerticalSolidList"/>
    <dgm:cxn modelId="{FBCCBC25-F742-4A8C-AB7A-16A3F065D7BA}" type="presParOf" srcId="{FC87A3F4-6D7F-49CC-8808-5A62935C9542}" destId="{F2923249-4ED3-40D3-BC4D-038841EC98F4}" srcOrd="0" destOrd="0" presId="urn:microsoft.com/office/officeart/2018/2/layout/IconVerticalSolidList"/>
    <dgm:cxn modelId="{B20586C3-1614-4CAD-90BD-097D80674C33}" type="presParOf" srcId="{F2923249-4ED3-40D3-BC4D-038841EC98F4}" destId="{0163973A-2FB9-44A3-821C-9C2CFA2A0AAB}" srcOrd="0" destOrd="0" presId="urn:microsoft.com/office/officeart/2018/2/layout/IconVerticalSolidList"/>
    <dgm:cxn modelId="{C2C6ECF0-2F95-44B8-BAC9-7982D3874C06}" type="presParOf" srcId="{F2923249-4ED3-40D3-BC4D-038841EC98F4}" destId="{4D8D79F8-3F69-47C4-8D4E-3F5EAF3B8199}" srcOrd="1" destOrd="0" presId="urn:microsoft.com/office/officeart/2018/2/layout/IconVerticalSolidList"/>
    <dgm:cxn modelId="{47F8D0F3-AF15-458B-845C-8C8902DC07F1}" type="presParOf" srcId="{F2923249-4ED3-40D3-BC4D-038841EC98F4}" destId="{1E3376A0-EB4B-44E1-B667-294A4724F1EE}" srcOrd="2" destOrd="0" presId="urn:microsoft.com/office/officeart/2018/2/layout/IconVerticalSolidList"/>
    <dgm:cxn modelId="{90926ABB-F691-408A-BB04-C3003DF434C0}" type="presParOf" srcId="{F2923249-4ED3-40D3-BC4D-038841EC98F4}" destId="{67EDE9E0-A8D0-4CBD-AF02-897B88B2D6BC}" srcOrd="3" destOrd="0" presId="urn:microsoft.com/office/officeart/2018/2/layout/IconVerticalSolidList"/>
    <dgm:cxn modelId="{6F3DC0F2-EC27-4EF3-8E19-6829F06A9B3D}" type="presParOf" srcId="{FC87A3F4-6D7F-49CC-8808-5A62935C9542}" destId="{DCC67338-AE83-4FF0-8FB4-709596E4F4E8}" srcOrd="1" destOrd="0" presId="urn:microsoft.com/office/officeart/2018/2/layout/IconVerticalSolidList"/>
    <dgm:cxn modelId="{FDBADF50-B836-4668-89E0-14CE7C9C7551}" type="presParOf" srcId="{FC87A3F4-6D7F-49CC-8808-5A62935C9542}" destId="{74A130EC-5ECC-48F9-87D5-2BEF67939039}" srcOrd="2" destOrd="0" presId="urn:microsoft.com/office/officeart/2018/2/layout/IconVerticalSolidList"/>
    <dgm:cxn modelId="{C8D89F27-F2E0-4931-970C-75E69B68E7B5}" type="presParOf" srcId="{74A130EC-5ECC-48F9-87D5-2BEF67939039}" destId="{4A0EFA01-EFB4-492F-B438-6E9545B69850}" srcOrd="0" destOrd="0" presId="urn:microsoft.com/office/officeart/2018/2/layout/IconVerticalSolidList"/>
    <dgm:cxn modelId="{B41396A2-B194-4714-87EB-14FCC804C3E9}" type="presParOf" srcId="{74A130EC-5ECC-48F9-87D5-2BEF67939039}" destId="{AC98C149-9026-4D3E-9368-48DF4E9AE9EA}" srcOrd="1" destOrd="0" presId="urn:microsoft.com/office/officeart/2018/2/layout/IconVerticalSolidList"/>
    <dgm:cxn modelId="{645B39A3-6DBA-48B6-9DBF-DB59D1ED3D3D}" type="presParOf" srcId="{74A130EC-5ECC-48F9-87D5-2BEF67939039}" destId="{C438AFB9-8B69-4387-AC42-74FA9B9D59AE}" srcOrd="2" destOrd="0" presId="urn:microsoft.com/office/officeart/2018/2/layout/IconVerticalSolidList"/>
    <dgm:cxn modelId="{353C57CC-B68F-4E73-8676-CE2174DFD388}" type="presParOf" srcId="{74A130EC-5ECC-48F9-87D5-2BEF67939039}" destId="{19FEFA36-EC30-4BE5-B00A-722A65021F8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2B531FD-78F6-460F-BFA5-1B04FFE652BA}" type="doc">
      <dgm:prSet loTypeId="urn:microsoft.com/office/officeart/2005/8/layout/process4" loCatId="process" qsTypeId="urn:microsoft.com/office/officeart/2005/8/quickstyle/simple5" qsCatId="simple" csTypeId="urn:microsoft.com/office/officeart/2005/8/colors/colorful1" csCatId="colorful"/>
      <dgm:spPr/>
      <dgm:t>
        <a:bodyPr/>
        <a:lstStyle/>
        <a:p>
          <a:endParaRPr lang="en-US"/>
        </a:p>
      </dgm:t>
    </dgm:pt>
    <dgm:pt modelId="{7AA15DD6-E03A-4246-8C0B-C280D8919B9B}">
      <dgm:prSet/>
      <dgm:spPr/>
      <dgm:t>
        <a:bodyPr/>
        <a:lstStyle/>
        <a:p>
          <a:r>
            <a:rPr lang="es-GT" b="1"/>
            <a:t>Su impacto es a largo plazo, por lo tanto la empresa pierde cierta flexibilidad de toma de decisiones cuando se compran proyectos de capital</a:t>
          </a:r>
          <a:endParaRPr lang="en-US"/>
        </a:p>
      </dgm:t>
    </dgm:pt>
    <dgm:pt modelId="{CC8EB5DE-CE48-47BA-ABF8-C774756CA8E6}" type="parTrans" cxnId="{D1BA88E8-4C7A-4D8A-A401-965D1571D047}">
      <dgm:prSet/>
      <dgm:spPr/>
      <dgm:t>
        <a:bodyPr/>
        <a:lstStyle/>
        <a:p>
          <a:endParaRPr lang="en-US"/>
        </a:p>
      </dgm:t>
    </dgm:pt>
    <dgm:pt modelId="{A3846850-0086-4129-8939-5A0900EFE2F8}" type="sibTrans" cxnId="{D1BA88E8-4C7A-4D8A-A401-965D1571D047}">
      <dgm:prSet/>
      <dgm:spPr/>
      <dgm:t>
        <a:bodyPr/>
        <a:lstStyle/>
        <a:p>
          <a:endParaRPr lang="en-US"/>
        </a:p>
      </dgm:t>
    </dgm:pt>
    <dgm:pt modelId="{3B6479E6-5FFF-480D-97EF-9138DDEA666E}">
      <dgm:prSet/>
      <dgm:spPr/>
      <dgm:t>
        <a:bodyPr/>
        <a:lstStyle/>
        <a:p>
          <a:r>
            <a:rPr lang="es-GT" b="1"/>
            <a:t>Un error en el pronóstico de los requerimientos de activos puede tener consecuencias serias (mucha inversión – poca inversión)</a:t>
          </a:r>
          <a:endParaRPr lang="en-US"/>
        </a:p>
      </dgm:t>
    </dgm:pt>
    <dgm:pt modelId="{4E621785-CEE1-469B-95A9-8D509A1A081D}" type="parTrans" cxnId="{E1317BEE-7C3B-4996-B029-B6432431B3B0}">
      <dgm:prSet/>
      <dgm:spPr/>
      <dgm:t>
        <a:bodyPr/>
        <a:lstStyle/>
        <a:p>
          <a:endParaRPr lang="en-US"/>
        </a:p>
      </dgm:t>
    </dgm:pt>
    <dgm:pt modelId="{8275BF64-C32D-4010-8736-6F2A800122C8}" type="sibTrans" cxnId="{E1317BEE-7C3B-4996-B029-B6432431B3B0}">
      <dgm:prSet/>
      <dgm:spPr/>
      <dgm:t>
        <a:bodyPr/>
        <a:lstStyle/>
        <a:p>
          <a:endParaRPr lang="en-US"/>
        </a:p>
      </dgm:t>
    </dgm:pt>
    <dgm:pt modelId="{BDCB4085-7214-4041-ABC1-8019539A878F}">
      <dgm:prSet/>
      <dgm:spPr/>
      <dgm:t>
        <a:bodyPr/>
        <a:lstStyle/>
        <a:p>
          <a:r>
            <a:rPr lang="es-GT" b="1"/>
            <a:t>La oportunidad</a:t>
          </a:r>
          <a:endParaRPr lang="en-US"/>
        </a:p>
      </dgm:t>
    </dgm:pt>
    <dgm:pt modelId="{D8BA9CF3-A949-4295-A97B-081C3745FAE4}" type="parTrans" cxnId="{25403D55-42A1-4441-99C5-F58DC8B93454}">
      <dgm:prSet/>
      <dgm:spPr/>
      <dgm:t>
        <a:bodyPr/>
        <a:lstStyle/>
        <a:p>
          <a:endParaRPr lang="en-US"/>
        </a:p>
      </dgm:t>
    </dgm:pt>
    <dgm:pt modelId="{23D1ED8C-C604-4FA4-8878-F95C4F631146}" type="sibTrans" cxnId="{25403D55-42A1-4441-99C5-F58DC8B93454}">
      <dgm:prSet/>
      <dgm:spPr/>
      <dgm:t>
        <a:bodyPr/>
        <a:lstStyle/>
        <a:p>
          <a:endParaRPr lang="en-US"/>
        </a:p>
      </dgm:t>
    </dgm:pt>
    <dgm:pt modelId="{DC9B7253-CE6F-468C-B250-BA829C72ED78}" type="pres">
      <dgm:prSet presAssocID="{42B531FD-78F6-460F-BFA5-1B04FFE652BA}" presName="Name0" presStyleCnt="0">
        <dgm:presLayoutVars>
          <dgm:dir/>
          <dgm:animLvl val="lvl"/>
          <dgm:resizeHandles val="exact"/>
        </dgm:presLayoutVars>
      </dgm:prSet>
      <dgm:spPr/>
    </dgm:pt>
    <dgm:pt modelId="{D068C513-9814-48BF-B2D4-F8B2C3AE9F42}" type="pres">
      <dgm:prSet presAssocID="{BDCB4085-7214-4041-ABC1-8019539A878F}" presName="boxAndChildren" presStyleCnt="0"/>
      <dgm:spPr/>
    </dgm:pt>
    <dgm:pt modelId="{CF8E06B0-AA54-4E6A-9928-F34CBA47BC7F}" type="pres">
      <dgm:prSet presAssocID="{BDCB4085-7214-4041-ABC1-8019539A878F}" presName="parentTextBox" presStyleLbl="node1" presStyleIdx="0" presStyleCnt="3"/>
      <dgm:spPr/>
    </dgm:pt>
    <dgm:pt modelId="{6564716B-2AB3-42A5-B006-6CA448325195}" type="pres">
      <dgm:prSet presAssocID="{8275BF64-C32D-4010-8736-6F2A800122C8}" presName="sp" presStyleCnt="0"/>
      <dgm:spPr/>
    </dgm:pt>
    <dgm:pt modelId="{E6F1F697-81E7-4B96-B7D8-51BFF05C1021}" type="pres">
      <dgm:prSet presAssocID="{3B6479E6-5FFF-480D-97EF-9138DDEA666E}" presName="arrowAndChildren" presStyleCnt="0"/>
      <dgm:spPr/>
    </dgm:pt>
    <dgm:pt modelId="{9FDE3E44-AE8C-4ED6-A49F-9FC808FB3F3F}" type="pres">
      <dgm:prSet presAssocID="{3B6479E6-5FFF-480D-97EF-9138DDEA666E}" presName="parentTextArrow" presStyleLbl="node1" presStyleIdx="1" presStyleCnt="3"/>
      <dgm:spPr/>
    </dgm:pt>
    <dgm:pt modelId="{BC941EF7-F47A-4ED8-96D6-7E53A6E5832B}" type="pres">
      <dgm:prSet presAssocID="{A3846850-0086-4129-8939-5A0900EFE2F8}" presName="sp" presStyleCnt="0"/>
      <dgm:spPr/>
    </dgm:pt>
    <dgm:pt modelId="{1137AD74-F366-4DE6-A20E-F6A87F4FCB2D}" type="pres">
      <dgm:prSet presAssocID="{7AA15DD6-E03A-4246-8C0B-C280D8919B9B}" presName="arrowAndChildren" presStyleCnt="0"/>
      <dgm:spPr/>
    </dgm:pt>
    <dgm:pt modelId="{D0F5B82D-CFE5-4EAC-84FD-F8DF9F60EC06}" type="pres">
      <dgm:prSet presAssocID="{7AA15DD6-E03A-4246-8C0B-C280D8919B9B}" presName="parentTextArrow" presStyleLbl="node1" presStyleIdx="2" presStyleCnt="3"/>
      <dgm:spPr/>
    </dgm:pt>
  </dgm:ptLst>
  <dgm:cxnLst>
    <dgm:cxn modelId="{25403D55-42A1-4441-99C5-F58DC8B93454}" srcId="{42B531FD-78F6-460F-BFA5-1B04FFE652BA}" destId="{BDCB4085-7214-4041-ABC1-8019539A878F}" srcOrd="2" destOrd="0" parTransId="{D8BA9CF3-A949-4295-A97B-081C3745FAE4}" sibTransId="{23D1ED8C-C604-4FA4-8878-F95C4F631146}"/>
    <dgm:cxn modelId="{4EE7FEA1-9BA2-446F-9051-0A4977F2CEF9}" type="presOf" srcId="{7AA15DD6-E03A-4246-8C0B-C280D8919B9B}" destId="{D0F5B82D-CFE5-4EAC-84FD-F8DF9F60EC06}" srcOrd="0" destOrd="0" presId="urn:microsoft.com/office/officeart/2005/8/layout/process4"/>
    <dgm:cxn modelId="{997249BF-EB46-4838-9485-E38CD0DCD649}" type="presOf" srcId="{3B6479E6-5FFF-480D-97EF-9138DDEA666E}" destId="{9FDE3E44-AE8C-4ED6-A49F-9FC808FB3F3F}" srcOrd="0" destOrd="0" presId="urn:microsoft.com/office/officeart/2005/8/layout/process4"/>
    <dgm:cxn modelId="{3A82AFE6-62D3-41EA-A95A-E961B97DBA07}" type="presOf" srcId="{BDCB4085-7214-4041-ABC1-8019539A878F}" destId="{CF8E06B0-AA54-4E6A-9928-F34CBA47BC7F}" srcOrd="0" destOrd="0" presId="urn:microsoft.com/office/officeart/2005/8/layout/process4"/>
    <dgm:cxn modelId="{D1BA88E8-4C7A-4D8A-A401-965D1571D047}" srcId="{42B531FD-78F6-460F-BFA5-1B04FFE652BA}" destId="{7AA15DD6-E03A-4246-8C0B-C280D8919B9B}" srcOrd="0" destOrd="0" parTransId="{CC8EB5DE-CE48-47BA-ABF8-C774756CA8E6}" sibTransId="{A3846850-0086-4129-8939-5A0900EFE2F8}"/>
    <dgm:cxn modelId="{E1317BEE-7C3B-4996-B029-B6432431B3B0}" srcId="{42B531FD-78F6-460F-BFA5-1B04FFE652BA}" destId="{3B6479E6-5FFF-480D-97EF-9138DDEA666E}" srcOrd="1" destOrd="0" parTransId="{4E621785-CEE1-469B-95A9-8D509A1A081D}" sibTransId="{8275BF64-C32D-4010-8736-6F2A800122C8}"/>
    <dgm:cxn modelId="{7D4118F6-10BA-4E7B-A66B-E1C260279A07}" type="presOf" srcId="{42B531FD-78F6-460F-BFA5-1B04FFE652BA}" destId="{DC9B7253-CE6F-468C-B250-BA829C72ED78}" srcOrd="0" destOrd="0" presId="urn:microsoft.com/office/officeart/2005/8/layout/process4"/>
    <dgm:cxn modelId="{D787F130-CB97-47AD-866D-C6169CF959A1}" type="presParOf" srcId="{DC9B7253-CE6F-468C-B250-BA829C72ED78}" destId="{D068C513-9814-48BF-B2D4-F8B2C3AE9F42}" srcOrd="0" destOrd="0" presId="urn:microsoft.com/office/officeart/2005/8/layout/process4"/>
    <dgm:cxn modelId="{D6455812-6711-4736-A4E5-7F5B28168637}" type="presParOf" srcId="{D068C513-9814-48BF-B2D4-F8B2C3AE9F42}" destId="{CF8E06B0-AA54-4E6A-9928-F34CBA47BC7F}" srcOrd="0" destOrd="0" presId="urn:microsoft.com/office/officeart/2005/8/layout/process4"/>
    <dgm:cxn modelId="{5FA56572-1B3F-4FEB-A418-55D99AA7CC74}" type="presParOf" srcId="{DC9B7253-CE6F-468C-B250-BA829C72ED78}" destId="{6564716B-2AB3-42A5-B006-6CA448325195}" srcOrd="1" destOrd="0" presId="urn:microsoft.com/office/officeart/2005/8/layout/process4"/>
    <dgm:cxn modelId="{862805C1-40F4-48EB-84C8-97BA38D7DF88}" type="presParOf" srcId="{DC9B7253-CE6F-468C-B250-BA829C72ED78}" destId="{E6F1F697-81E7-4B96-B7D8-51BFF05C1021}" srcOrd="2" destOrd="0" presId="urn:microsoft.com/office/officeart/2005/8/layout/process4"/>
    <dgm:cxn modelId="{C021A464-D76E-4F6A-9D65-25605DA725E2}" type="presParOf" srcId="{E6F1F697-81E7-4B96-B7D8-51BFF05C1021}" destId="{9FDE3E44-AE8C-4ED6-A49F-9FC808FB3F3F}" srcOrd="0" destOrd="0" presId="urn:microsoft.com/office/officeart/2005/8/layout/process4"/>
    <dgm:cxn modelId="{F81BDCFA-D61E-45C2-A972-D4B2B34D2DC1}" type="presParOf" srcId="{DC9B7253-CE6F-468C-B250-BA829C72ED78}" destId="{BC941EF7-F47A-4ED8-96D6-7E53A6E5832B}" srcOrd="3" destOrd="0" presId="urn:microsoft.com/office/officeart/2005/8/layout/process4"/>
    <dgm:cxn modelId="{25B52471-0F59-4973-A5D6-D45EA72D3DF0}" type="presParOf" srcId="{DC9B7253-CE6F-468C-B250-BA829C72ED78}" destId="{1137AD74-F366-4DE6-A20E-F6A87F4FCB2D}" srcOrd="4" destOrd="0" presId="urn:microsoft.com/office/officeart/2005/8/layout/process4"/>
    <dgm:cxn modelId="{295DE8A5-A198-45D5-980C-FB1AC352A42A}" type="presParOf" srcId="{1137AD74-F366-4DE6-A20E-F6A87F4FCB2D}" destId="{D0F5B82D-CFE5-4EAC-84FD-F8DF9F60EC06}"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1CF5F4F-08EE-4C59-99D1-30FE3D44E2B2}"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19EBAD7E-8583-47B8-9FAF-6B9336AE25A7}">
      <dgm:prSet/>
      <dgm:spPr/>
      <dgm:t>
        <a:bodyPr/>
        <a:lstStyle/>
        <a:p>
          <a:r>
            <a:rPr lang="es-GT" b="1"/>
            <a:t>La presupuestación de capital efectiva puede mejorar tanto la programación de las adquisiciones de activos como la calidad de los activos que se compran</a:t>
          </a:r>
          <a:endParaRPr lang="en-US"/>
        </a:p>
      </dgm:t>
    </dgm:pt>
    <dgm:pt modelId="{42CA29C0-54DA-4A26-8101-A4E779C712B1}" type="parTrans" cxnId="{F6F02283-B1EF-4EE9-85CD-49BC51EA7301}">
      <dgm:prSet/>
      <dgm:spPr/>
      <dgm:t>
        <a:bodyPr/>
        <a:lstStyle/>
        <a:p>
          <a:endParaRPr lang="en-US"/>
        </a:p>
      </dgm:t>
    </dgm:pt>
    <dgm:pt modelId="{CDFE7653-DA18-44D8-9B94-E6346EBC8A75}" type="sibTrans" cxnId="{F6F02283-B1EF-4EE9-85CD-49BC51EA7301}">
      <dgm:prSet/>
      <dgm:spPr/>
      <dgm:t>
        <a:bodyPr/>
        <a:lstStyle/>
        <a:p>
          <a:endParaRPr lang="en-US"/>
        </a:p>
      </dgm:t>
    </dgm:pt>
    <dgm:pt modelId="{C78A5A19-EA70-4522-8640-4CD9C9661FA3}">
      <dgm:prSet/>
      <dgm:spPr/>
      <dgm:t>
        <a:bodyPr/>
        <a:lstStyle/>
        <a:p>
          <a:r>
            <a:rPr lang="es-GT" b="1"/>
            <a:t>La adquisición de activos fijos por lo general implica gastos significativos,  y antes de que una empresa pueda gastar una cantidad fuerte de dinero, debe tener los fondos disponibles.</a:t>
          </a:r>
          <a:endParaRPr lang="en-US"/>
        </a:p>
      </dgm:t>
    </dgm:pt>
    <dgm:pt modelId="{32AA9BEF-A2F6-4750-A298-D71C0D324AD0}" type="parTrans" cxnId="{5E452415-E598-4BFD-83FB-057BA4CEDB8F}">
      <dgm:prSet/>
      <dgm:spPr/>
      <dgm:t>
        <a:bodyPr/>
        <a:lstStyle/>
        <a:p>
          <a:endParaRPr lang="en-US"/>
        </a:p>
      </dgm:t>
    </dgm:pt>
    <dgm:pt modelId="{DC79A867-B840-4F6B-AFCD-A274AF893D0F}" type="sibTrans" cxnId="{5E452415-E598-4BFD-83FB-057BA4CEDB8F}">
      <dgm:prSet/>
      <dgm:spPr/>
      <dgm:t>
        <a:bodyPr/>
        <a:lstStyle/>
        <a:p>
          <a:endParaRPr lang="en-US"/>
        </a:p>
      </dgm:t>
    </dgm:pt>
    <dgm:pt modelId="{3516D7C4-B72D-4AA4-A08E-1FDE9318CEAD}" type="pres">
      <dgm:prSet presAssocID="{81CF5F4F-08EE-4C59-99D1-30FE3D44E2B2}" presName="hierChild1" presStyleCnt="0">
        <dgm:presLayoutVars>
          <dgm:chPref val="1"/>
          <dgm:dir/>
          <dgm:animOne val="branch"/>
          <dgm:animLvl val="lvl"/>
          <dgm:resizeHandles/>
        </dgm:presLayoutVars>
      </dgm:prSet>
      <dgm:spPr/>
    </dgm:pt>
    <dgm:pt modelId="{95E2EC4E-9941-48F9-9D2F-27D7B66293F8}" type="pres">
      <dgm:prSet presAssocID="{19EBAD7E-8583-47B8-9FAF-6B9336AE25A7}" presName="hierRoot1" presStyleCnt="0"/>
      <dgm:spPr/>
    </dgm:pt>
    <dgm:pt modelId="{0B8D77A7-1667-401F-95E0-2D9CC45CDC51}" type="pres">
      <dgm:prSet presAssocID="{19EBAD7E-8583-47B8-9FAF-6B9336AE25A7}" presName="composite" presStyleCnt="0"/>
      <dgm:spPr/>
    </dgm:pt>
    <dgm:pt modelId="{3EC40B61-109C-4E4B-A26F-7A6A8FE8396E}" type="pres">
      <dgm:prSet presAssocID="{19EBAD7E-8583-47B8-9FAF-6B9336AE25A7}" presName="background" presStyleLbl="node0" presStyleIdx="0" presStyleCnt="2"/>
      <dgm:spPr/>
    </dgm:pt>
    <dgm:pt modelId="{74C22DE3-D1E5-4FD9-90EC-B9A69E11B2E1}" type="pres">
      <dgm:prSet presAssocID="{19EBAD7E-8583-47B8-9FAF-6B9336AE25A7}" presName="text" presStyleLbl="fgAcc0" presStyleIdx="0" presStyleCnt="2">
        <dgm:presLayoutVars>
          <dgm:chPref val="3"/>
        </dgm:presLayoutVars>
      </dgm:prSet>
      <dgm:spPr/>
    </dgm:pt>
    <dgm:pt modelId="{7789640F-135C-4B68-8F3D-5924DDD8A175}" type="pres">
      <dgm:prSet presAssocID="{19EBAD7E-8583-47B8-9FAF-6B9336AE25A7}" presName="hierChild2" presStyleCnt="0"/>
      <dgm:spPr/>
    </dgm:pt>
    <dgm:pt modelId="{76E10937-6492-4CC0-89F9-1EDBA5CD9551}" type="pres">
      <dgm:prSet presAssocID="{C78A5A19-EA70-4522-8640-4CD9C9661FA3}" presName="hierRoot1" presStyleCnt="0"/>
      <dgm:spPr/>
    </dgm:pt>
    <dgm:pt modelId="{5711F12C-33F8-470A-B2FD-E15E2510BB43}" type="pres">
      <dgm:prSet presAssocID="{C78A5A19-EA70-4522-8640-4CD9C9661FA3}" presName="composite" presStyleCnt="0"/>
      <dgm:spPr/>
    </dgm:pt>
    <dgm:pt modelId="{6F6BE71B-1667-4B30-97BD-E4C78FB17134}" type="pres">
      <dgm:prSet presAssocID="{C78A5A19-EA70-4522-8640-4CD9C9661FA3}" presName="background" presStyleLbl="node0" presStyleIdx="1" presStyleCnt="2"/>
      <dgm:spPr/>
    </dgm:pt>
    <dgm:pt modelId="{D32805CD-F464-4B3B-8930-8938795E0456}" type="pres">
      <dgm:prSet presAssocID="{C78A5A19-EA70-4522-8640-4CD9C9661FA3}" presName="text" presStyleLbl="fgAcc0" presStyleIdx="1" presStyleCnt="2">
        <dgm:presLayoutVars>
          <dgm:chPref val="3"/>
        </dgm:presLayoutVars>
      </dgm:prSet>
      <dgm:spPr/>
    </dgm:pt>
    <dgm:pt modelId="{57D5AFB3-2733-4E90-82CF-D2C7B52CD075}" type="pres">
      <dgm:prSet presAssocID="{C78A5A19-EA70-4522-8640-4CD9C9661FA3}" presName="hierChild2" presStyleCnt="0"/>
      <dgm:spPr/>
    </dgm:pt>
  </dgm:ptLst>
  <dgm:cxnLst>
    <dgm:cxn modelId="{5E452415-E598-4BFD-83FB-057BA4CEDB8F}" srcId="{81CF5F4F-08EE-4C59-99D1-30FE3D44E2B2}" destId="{C78A5A19-EA70-4522-8640-4CD9C9661FA3}" srcOrd="1" destOrd="0" parTransId="{32AA9BEF-A2F6-4750-A298-D71C0D324AD0}" sibTransId="{DC79A867-B840-4F6B-AFCD-A274AF893D0F}"/>
    <dgm:cxn modelId="{8762C43A-F8AE-42D3-88E2-FDF1BE524A0F}" type="presOf" srcId="{19EBAD7E-8583-47B8-9FAF-6B9336AE25A7}" destId="{74C22DE3-D1E5-4FD9-90EC-B9A69E11B2E1}" srcOrd="0" destOrd="0" presId="urn:microsoft.com/office/officeart/2005/8/layout/hierarchy1"/>
    <dgm:cxn modelId="{8CEA106B-CF15-4F0B-95C8-192FFF7E7B16}" type="presOf" srcId="{C78A5A19-EA70-4522-8640-4CD9C9661FA3}" destId="{D32805CD-F464-4B3B-8930-8938795E0456}" srcOrd="0" destOrd="0" presId="urn:microsoft.com/office/officeart/2005/8/layout/hierarchy1"/>
    <dgm:cxn modelId="{F6F02283-B1EF-4EE9-85CD-49BC51EA7301}" srcId="{81CF5F4F-08EE-4C59-99D1-30FE3D44E2B2}" destId="{19EBAD7E-8583-47B8-9FAF-6B9336AE25A7}" srcOrd="0" destOrd="0" parTransId="{42CA29C0-54DA-4A26-8101-A4E779C712B1}" sibTransId="{CDFE7653-DA18-44D8-9B94-E6346EBC8A75}"/>
    <dgm:cxn modelId="{EF8028E4-4EF0-4A60-A63E-A6FBCBEB35D3}" type="presOf" srcId="{81CF5F4F-08EE-4C59-99D1-30FE3D44E2B2}" destId="{3516D7C4-B72D-4AA4-A08E-1FDE9318CEAD}" srcOrd="0" destOrd="0" presId="urn:microsoft.com/office/officeart/2005/8/layout/hierarchy1"/>
    <dgm:cxn modelId="{919F26E6-F661-4251-9BD0-B29D8AE3FF81}" type="presParOf" srcId="{3516D7C4-B72D-4AA4-A08E-1FDE9318CEAD}" destId="{95E2EC4E-9941-48F9-9D2F-27D7B66293F8}" srcOrd="0" destOrd="0" presId="urn:microsoft.com/office/officeart/2005/8/layout/hierarchy1"/>
    <dgm:cxn modelId="{69ED9586-BDDB-4F93-8DFE-D8780140BA10}" type="presParOf" srcId="{95E2EC4E-9941-48F9-9D2F-27D7B66293F8}" destId="{0B8D77A7-1667-401F-95E0-2D9CC45CDC51}" srcOrd="0" destOrd="0" presId="urn:microsoft.com/office/officeart/2005/8/layout/hierarchy1"/>
    <dgm:cxn modelId="{22F343ED-E3B9-43EC-AFCE-3F6670DAE86F}" type="presParOf" srcId="{0B8D77A7-1667-401F-95E0-2D9CC45CDC51}" destId="{3EC40B61-109C-4E4B-A26F-7A6A8FE8396E}" srcOrd="0" destOrd="0" presId="urn:microsoft.com/office/officeart/2005/8/layout/hierarchy1"/>
    <dgm:cxn modelId="{55B420F3-456C-4C58-BFC5-B25C2A0BB1FA}" type="presParOf" srcId="{0B8D77A7-1667-401F-95E0-2D9CC45CDC51}" destId="{74C22DE3-D1E5-4FD9-90EC-B9A69E11B2E1}" srcOrd="1" destOrd="0" presId="urn:microsoft.com/office/officeart/2005/8/layout/hierarchy1"/>
    <dgm:cxn modelId="{687ACAB4-6327-45F5-9E19-955D25AB0E23}" type="presParOf" srcId="{95E2EC4E-9941-48F9-9D2F-27D7B66293F8}" destId="{7789640F-135C-4B68-8F3D-5924DDD8A175}" srcOrd="1" destOrd="0" presId="urn:microsoft.com/office/officeart/2005/8/layout/hierarchy1"/>
    <dgm:cxn modelId="{A7963955-4970-4ADE-9FD5-135FE49C6E5D}" type="presParOf" srcId="{3516D7C4-B72D-4AA4-A08E-1FDE9318CEAD}" destId="{76E10937-6492-4CC0-89F9-1EDBA5CD9551}" srcOrd="1" destOrd="0" presId="urn:microsoft.com/office/officeart/2005/8/layout/hierarchy1"/>
    <dgm:cxn modelId="{D50AAA20-583C-42CB-B629-5BD0AB74464B}" type="presParOf" srcId="{76E10937-6492-4CC0-89F9-1EDBA5CD9551}" destId="{5711F12C-33F8-470A-B2FD-E15E2510BB43}" srcOrd="0" destOrd="0" presId="urn:microsoft.com/office/officeart/2005/8/layout/hierarchy1"/>
    <dgm:cxn modelId="{8889250B-31C6-492E-9FB2-DFB8A012045D}" type="presParOf" srcId="{5711F12C-33F8-470A-B2FD-E15E2510BB43}" destId="{6F6BE71B-1667-4B30-97BD-E4C78FB17134}" srcOrd="0" destOrd="0" presId="urn:microsoft.com/office/officeart/2005/8/layout/hierarchy1"/>
    <dgm:cxn modelId="{DB218EFD-6288-438E-84DE-251769967DCD}" type="presParOf" srcId="{5711F12C-33F8-470A-B2FD-E15E2510BB43}" destId="{D32805CD-F464-4B3B-8930-8938795E0456}" srcOrd="1" destOrd="0" presId="urn:microsoft.com/office/officeart/2005/8/layout/hierarchy1"/>
    <dgm:cxn modelId="{3A1E5E38-7C19-43D9-B9BD-4F2BB4A160B0}" type="presParOf" srcId="{76E10937-6492-4CC0-89F9-1EDBA5CD9551}" destId="{57D5AFB3-2733-4E90-82CF-D2C7B52CD075}"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63973A-2FB9-44A3-821C-9C2CFA2A0AAB}">
      <dsp:nvSpPr>
        <dsp:cNvPr id="0" name=""/>
        <dsp:cNvSpPr/>
      </dsp:nvSpPr>
      <dsp:spPr>
        <a:xfrm>
          <a:off x="0" y="906502"/>
          <a:ext cx="6261100" cy="167354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8D79F8-3F69-47C4-8D4E-3F5EAF3B8199}">
      <dsp:nvSpPr>
        <dsp:cNvPr id="0" name=""/>
        <dsp:cNvSpPr/>
      </dsp:nvSpPr>
      <dsp:spPr>
        <a:xfrm>
          <a:off x="506246" y="1283049"/>
          <a:ext cx="920448" cy="92044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7EDE9E0-A8D0-4CBD-AF02-897B88B2D6BC}">
      <dsp:nvSpPr>
        <dsp:cNvPr id="0" name=""/>
        <dsp:cNvSpPr/>
      </dsp:nvSpPr>
      <dsp:spPr>
        <a:xfrm>
          <a:off x="1932941" y="906502"/>
          <a:ext cx="4328158" cy="16735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117" tIns="177117" rIns="177117" bIns="177117" numCol="1" spcCol="1270" anchor="ctr" anchorCtr="0">
          <a:noAutofit/>
        </a:bodyPr>
        <a:lstStyle/>
        <a:p>
          <a:pPr marL="0" lvl="0" indent="0" algn="l" defTabSz="1111250">
            <a:lnSpc>
              <a:spcPct val="90000"/>
            </a:lnSpc>
            <a:spcBef>
              <a:spcPct val="0"/>
            </a:spcBef>
            <a:spcAft>
              <a:spcPct val="35000"/>
            </a:spcAft>
            <a:buNone/>
          </a:pPr>
          <a:r>
            <a:rPr lang="es-GT" sz="2500" b="1" kern="1200"/>
            <a:t>Cuáles inversiones son aceptables, y</a:t>
          </a:r>
          <a:endParaRPr lang="en-US" sz="2500" kern="1200"/>
        </a:p>
      </dsp:txBody>
      <dsp:txXfrm>
        <a:off x="1932941" y="906502"/>
        <a:ext cx="4328158" cy="1673542"/>
      </dsp:txXfrm>
    </dsp:sp>
    <dsp:sp modelId="{4A0EFA01-EFB4-492F-B438-6E9545B69850}">
      <dsp:nvSpPr>
        <dsp:cNvPr id="0" name=""/>
        <dsp:cNvSpPr/>
      </dsp:nvSpPr>
      <dsp:spPr>
        <a:xfrm>
          <a:off x="0" y="2998430"/>
          <a:ext cx="6261100" cy="167354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C98C149-9026-4D3E-9368-48DF4E9AE9EA}">
      <dsp:nvSpPr>
        <dsp:cNvPr id="0" name=""/>
        <dsp:cNvSpPr/>
      </dsp:nvSpPr>
      <dsp:spPr>
        <a:xfrm>
          <a:off x="506246" y="3374977"/>
          <a:ext cx="920448" cy="92044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9FEFA36-EC30-4BE5-B00A-722A65021F86}">
      <dsp:nvSpPr>
        <dsp:cNvPr id="0" name=""/>
        <dsp:cNvSpPr/>
      </dsp:nvSpPr>
      <dsp:spPr>
        <a:xfrm>
          <a:off x="1932941" y="2998430"/>
          <a:ext cx="4328158" cy="16735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117" tIns="177117" rIns="177117" bIns="177117" numCol="1" spcCol="1270" anchor="ctr" anchorCtr="0">
          <a:noAutofit/>
        </a:bodyPr>
        <a:lstStyle/>
        <a:p>
          <a:pPr marL="0" lvl="0" indent="0" algn="l" defTabSz="1111250">
            <a:lnSpc>
              <a:spcPct val="90000"/>
            </a:lnSpc>
            <a:spcBef>
              <a:spcPct val="0"/>
            </a:spcBef>
            <a:spcAft>
              <a:spcPct val="35000"/>
            </a:spcAft>
            <a:buNone/>
          </a:pPr>
          <a:r>
            <a:rPr lang="es-GT" sz="2500" b="1" kern="1200"/>
            <a:t>Cuáles en realidad se deben comprar</a:t>
          </a:r>
          <a:endParaRPr lang="en-US" sz="2500" kern="1200"/>
        </a:p>
      </dsp:txBody>
      <dsp:txXfrm>
        <a:off x="1932941" y="2998430"/>
        <a:ext cx="4328158" cy="16735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8E06B0-AA54-4E6A-9928-F34CBA47BC7F}">
      <dsp:nvSpPr>
        <dsp:cNvPr id="0" name=""/>
        <dsp:cNvSpPr/>
      </dsp:nvSpPr>
      <dsp:spPr>
        <a:xfrm>
          <a:off x="0" y="4199213"/>
          <a:ext cx="6261100" cy="1378275"/>
        </a:xfrm>
        <a:prstGeom prst="rect">
          <a:avLst/>
        </a:prstGeom>
        <a:gradFill rotWithShape="0">
          <a:gsLst>
            <a:gs pos="0">
              <a:schemeClr val="accent2">
                <a:hueOff val="0"/>
                <a:satOff val="0"/>
                <a:lumOff val="0"/>
                <a:alphaOff val="0"/>
                <a:tint val="94000"/>
                <a:satMod val="103000"/>
                <a:lumMod val="102000"/>
              </a:schemeClr>
            </a:gs>
            <a:gs pos="50000">
              <a:schemeClr val="accent2">
                <a:hueOff val="0"/>
                <a:satOff val="0"/>
                <a:lumOff val="0"/>
                <a:alphaOff val="0"/>
                <a:shade val="100000"/>
                <a:satMod val="110000"/>
                <a:lumMod val="100000"/>
              </a:schemeClr>
            </a:gs>
            <a:gs pos="100000">
              <a:schemeClr val="accent2">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s-GT" sz="2000" b="1" kern="1200"/>
            <a:t>La oportunidad</a:t>
          </a:r>
          <a:endParaRPr lang="en-US" sz="2000" kern="1200"/>
        </a:p>
      </dsp:txBody>
      <dsp:txXfrm>
        <a:off x="0" y="4199213"/>
        <a:ext cx="6261100" cy="1378275"/>
      </dsp:txXfrm>
    </dsp:sp>
    <dsp:sp modelId="{9FDE3E44-AE8C-4ED6-A49F-9FC808FB3F3F}">
      <dsp:nvSpPr>
        <dsp:cNvPr id="0" name=""/>
        <dsp:cNvSpPr/>
      </dsp:nvSpPr>
      <dsp:spPr>
        <a:xfrm rot="10800000">
          <a:off x="0" y="2100099"/>
          <a:ext cx="6261100" cy="2119787"/>
        </a:xfrm>
        <a:prstGeom prst="upArrowCallout">
          <a:avLst/>
        </a:prstGeom>
        <a:gradFill rotWithShape="0">
          <a:gsLst>
            <a:gs pos="0">
              <a:schemeClr val="accent3">
                <a:hueOff val="0"/>
                <a:satOff val="0"/>
                <a:lumOff val="0"/>
                <a:alphaOff val="0"/>
                <a:tint val="94000"/>
                <a:satMod val="103000"/>
                <a:lumMod val="102000"/>
              </a:schemeClr>
            </a:gs>
            <a:gs pos="50000">
              <a:schemeClr val="accent3">
                <a:hueOff val="0"/>
                <a:satOff val="0"/>
                <a:lumOff val="0"/>
                <a:alphaOff val="0"/>
                <a:shade val="100000"/>
                <a:satMod val="110000"/>
                <a:lumMod val="100000"/>
              </a:schemeClr>
            </a:gs>
            <a:gs pos="100000">
              <a:schemeClr val="accent3">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s-GT" sz="2000" b="1" kern="1200"/>
            <a:t>Un error en el pronóstico de los requerimientos de activos puede tener consecuencias serias (mucha inversión – poca inversión)</a:t>
          </a:r>
          <a:endParaRPr lang="en-US" sz="2000" kern="1200"/>
        </a:p>
      </dsp:txBody>
      <dsp:txXfrm rot="10800000">
        <a:off x="0" y="2100099"/>
        <a:ext cx="6261100" cy="1377374"/>
      </dsp:txXfrm>
    </dsp:sp>
    <dsp:sp modelId="{D0F5B82D-CFE5-4EAC-84FD-F8DF9F60EC06}">
      <dsp:nvSpPr>
        <dsp:cNvPr id="0" name=""/>
        <dsp:cNvSpPr/>
      </dsp:nvSpPr>
      <dsp:spPr>
        <a:xfrm rot="10800000">
          <a:off x="0" y="986"/>
          <a:ext cx="6261100" cy="2119787"/>
        </a:xfrm>
        <a:prstGeom prst="upArrowCallout">
          <a:avLst/>
        </a:prstGeom>
        <a:gradFill rotWithShape="0">
          <a:gsLst>
            <a:gs pos="0">
              <a:schemeClr val="accent4">
                <a:hueOff val="0"/>
                <a:satOff val="0"/>
                <a:lumOff val="0"/>
                <a:alphaOff val="0"/>
                <a:tint val="94000"/>
                <a:satMod val="103000"/>
                <a:lumMod val="102000"/>
              </a:schemeClr>
            </a:gs>
            <a:gs pos="50000">
              <a:schemeClr val="accent4">
                <a:hueOff val="0"/>
                <a:satOff val="0"/>
                <a:lumOff val="0"/>
                <a:alphaOff val="0"/>
                <a:shade val="100000"/>
                <a:satMod val="110000"/>
                <a:lumMod val="100000"/>
              </a:schemeClr>
            </a:gs>
            <a:gs pos="100000">
              <a:schemeClr val="accent4">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s-GT" sz="2000" b="1" kern="1200"/>
            <a:t>Su impacto es a largo plazo, por lo tanto la empresa pierde cierta flexibilidad de toma de decisiones cuando se compran proyectos de capital</a:t>
          </a:r>
          <a:endParaRPr lang="en-US" sz="2000" kern="1200"/>
        </a:p>
      </dsp:txBody>
      <dsp:txXfrm rot="10800000">
        <a:off x="0" y="986"/>
        <a:ext cx="6261100" cy="137737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C40B61-109C-4E4B-A26F-7A6A8FE8396E}">
      <dsp:nvSpPr>
        <dsp:cNvPr id="0" name=""/>
        <dsp:cNvSpPr/>
      </dsp:nvSpPr>
      <dsp:spPr>
        <a:xfrm>
          <a:off x="1322" y="81131"/>
          <a:ext cx="4640570" cy="2946761"/>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4C22DE3-D1E5-4FD9-90EC-B9A69E11B2E1}">
      <dsp:nvSpPr>
        <dsp:cNvPr id="0" name=""/>
        <dsp:cNvSpPr/>
      </dsp:nvSpPr>
      <dsp:spPr>
        <a:xfrm>
          <a:off x="516940" y="570969"/>
          <a:ext cx="4640570" cy="2946761"/>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s-GT" sz="2500" b="1" kern="1200"/>
            <a:t>La presupuestación de capital efectiva puede mejorar tanto la programación de las adquisiciones de activos como la calidad de los activos que se compran</a:t>
          </a:r>
          <a:endParaRPr lang="en-US" sz="2500" kern="1200"/>
        </a:p>
      </dsp:txBody>
      <dsp:txXfrm>
        <a:off x="603248" y="657277"/>
        <a:ext cx="4467954" cy="2774145"/>
      </dsp:txXfrm>
    </dsp:sp>
    <dsp:sp modelId="{6F6BE71B-1667-4B30-97BD-E4C78FB17134}">
      <dsp:nvSpPr>
        <dsp:cNvPr id="0" name=""/>
        <dsp:cNvSpPr/>
      </dsp:nvSpPr>
      <dsp:spPr>
        <a:xfrm>
          <a:off x="5673129" y="81131"/>
          <a:ext cx="4640570" cy="2946761"/>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32805CD-F464-4B3B-8930-8938795E0456}">
      <dsp:nvSpPr>
        <dsp:cNvPr id="0" name=""/>
        <dsp:cNvSpPr/>
      </dsp:nvSpPr>
      <dsp:spPr>
        <a:xfrm>
          <a:off x="6188748" y="570969"/>
          <a:ext cx="4640570" cy="2946761"/>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s-GT" sz="2500" b="1" kern="1200"/>
            <a:t>La adquisición de activos fijos por lo general implica gastos significativos,  y antes de que una empresa pueda gastar una cantidad fuerte de dinero, debe tener los fondos disponibles.</a:t>
          </a:r>
          <a:endParaRPr lang="en-US" sz="2500" kern="1200"/>
        </a:p>
      </dsp:txBody>
      <dsp:txXfrm>
        <a:off x="6275056" y="657277"/>
        <a:ext cx="4467954" cy="277414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5923F103-BC34-4FE4-A40E-EDDEECFDA5D0}" type="datetimeFigureOut">
              <a:rPr lang="en-US" smtClean="0"/>
              <a:pPr/>
              <a:t>3/31/2025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a:xfrm>
            <a:off x="9255346" y="2750337"/>
            <a:ext cx="1171888" cy="1356442"/>
          </a:xfrm>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228101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smtClean="0"/>
              <a:t>3/31/2025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4551897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F34E6425-0181-43F2-84FC-787E803FD2F8}" type="datetimeFigureOut">
              <a:rPr lang="en-US" smtClean="0"/>
              <a:t>3/31/2025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a:xfrm>
            <a:off x="10729455" y="2869895"/>
            <a:ext cx="1154151" cy="1090789"/>
          </a:xfrm>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770845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smtClean="0"/>
              <a:t>3/31/2025</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33952051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80322" y="3030008"/>
            <a:ext cx="4698355" cy="290617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594123" y="3030008"/>
            <a:ext cx="4700059" cy="290617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smtClean="0"/>
              <a:t>3/31/2025</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37675904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smtClean="0"/>
              <a:t>3/31/2025</a:t>
            </a:fld>
            <a:endParaRPr lang="en-US" dirty="0"/>
          </a:p>
        </p:txBody>
      </p:sp>
      <p:sp>
        <p:nvSpPr>
          <p:cNvPr id="4" name="Footer Placeholder 3"/>
          <p:cNvSpPr>
            <a:spLocks noGrp="1"/>
          </p:cNvSpPr>
          <p:nvPr>
            <p:ph type="ftr" sz="quarter" idx="11"/>
          </p:nvPr>
        </p:nvSpPr>
        <p:spPr/>
        <p:txBody>
          <a:bodyPr/>
          <a:lstStyle/>
          <a:p>
            <a:r>
              <a:rPr lang="en-US"/>
              <a:t>
              </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3009365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7C8D7E02-BCB8-4D50-A234-369438C08659}" type="datetimeFigureOut">
              <a:rPr lang="en-US" smtClean="0"/>
              <a:t>3/31/2025</a:t>
            </a:fld>
            <a:endParaRPr lang="en-US" dirty="0"/>
          </a:p>
        </p:txBody>
      </p:sp>
      <p:sp>
        <p:nvSpPr>
          <p:cNvPr id="3" name="Footer Placeholder 2"/>
          <p:cNvSpPr>
            <a:spLocks noGrp="1"/>
          </p:cNvSpPr>
          <p:nvPr>
            <p:ph type="ftr" sz="quarter" idx="11"/>
          </p:nvPr>
        </p:nvSpPr>
        <p:spPr/>
        <p:txBody>
          <a:bodyPr/>
          <a:lstStyle/>
          <a:p>
            <a:r>
              <a:rPr lang="en-US"/>
              <a:t>
              </a:t>
            </a:r>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765223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6E86A4C-8E40-4F87-A4F0-01A0687C5742}" type="datetimeFigureOut">
              <a:rPr lang="en-US" smtClean="0"/>
              <a:t>3/31/2025</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1119557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5E72C73-2D91-4E12-BA25-F0AA0C03599B}" type="datetimeFigureOut">
              <a:rPr lang="en-US" smtClean="0"/>
              <a:t>3/31/2025</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34803534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2BE451C3-0FF4-47C4-B829-773ADF60F88C}" type="datetimeFigureOut">
              <a:rPr lang="en-US" smtClean="0"/>
              <a:t>3/31/2025</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a:xfrm>
            <a:off x="10729455" y="4711309"/>
            <a:ext cx="1154151" cy="1090789"/>
          </a:xfrm>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346941771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2BE451C3-0FF4-47C4-B829-773ADF60F88C}" type="datetimeFigureOut">
              <a:rPr lang="en-US" smtClean="0"/>
              <a:t>3/31/2025</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a:xfrm>
            <a:off x="10729455" y="4711615"/>
            <a:ext cx="1154151" cy="1090789"/>
          </a:xfrm>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01615733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2BE451C3-0FF4-47C4-B829-773ADF60F88C}" type="datetimeFigureOut">
              <a:rPr lang="en-US" smtClean="0"/>
              <a:t>3/31/2025</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D57F1E4F-1CFF-5643-939E-217C01CDF565}" type="slidenum">
              <a:rPr lang="en-US" smtClean="0"/>
              <a:pPr/>
              <a:t>‹Nº›</a:t>
            </a:fld>
            <a:endParaRPr lang="en-US" dirty="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285521354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2BE451C3-0FF4-47C4-B829-773ADF60F88C}" type="datetimeFigureOut">
              <a:rPr lang="en-US" smtClean="0"/>
              <a:t>3/31/2025</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70140797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2BE451C3-0FF4-47C4-B829-773ADF60F88C}" type="datetimeFigureOut">
              <a:rPr lang="en-US" smtClean="0"/>
              <a:t>3/31/2025</a:t>
            </a:fld>
            <a:endParaRPr lang="en-US" dirty="0"/>
          </a:p>
        </p:txBody>
      </p:sp>
      <p:sp>
        <p:nvSpPr>
          <p:cNvPr id="4" name="Footer Placeholder 3"/>
          <p:cNvSpPr>
            <a:spLocks noGrp="1"/>
          </p:cNvSpPr>
          <p:nvPr>
            <p:ph type="ftr" sz="quarter" idx="11"/>
          </p:nvPr>
        </p:nvSpPr>
        <p:spPr/>
        <p:txBody>
          <a:bodyPr/>
          <a:lstStyle/>
          <a:p>
            <a:r>
              <a:rPr lang="en-US"/>
              <a:t>
              </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440787653"/>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2BE451C3-0FF4-47C4-B829-773ADF60F88C}" type="datetimeFigureOut">
              <a:rPr lang="en-US" smtClean="0"/>
              <a:t>3/31/2025</a:t>
            </a:fld>
            <a:endParaRPr lang="en-US" dirty="0"/>
          </a:p>
        </p:txBody>
      </p:sp>
      <p:sp>
        <p:nvSpPr>
          <p:cNvPr id="4" name="Footer Placeholder 3"/>
          <p:cNvSpPr>
            <a:spLocks noGrp="1"/>
          </p:cNvSpPr>
          <p:nvPr>
            <p:ph type="ftr" sz="quarter" idx="11"/>
          </p:nvPr>
        </p:nvSpPr>
        <p:spPr/>
        <p:txBody>
          <a:bodyPr/>
          <a:lstStyle/>
          <a:p>
            <a:r>
              <a:rPr lang="en-US"/>
              <a:t>
              </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322403654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3086D93-FCAC-47E0-A2EE-787E62CA814C}" type="datetimeFigureOut">
              <a:rPr lang="en-US" smtClean="0"/>
              <a:t>3/31/2025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1395978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CDA879A6-0FD0-4734-A311-86BFCA472E6E}" type="datetimeFigureOut">
              <a:rPr lang="en-US" smtClean="0"/>
              <a:t>3/31/2025</a:t>
            </a:fld>
            <a:endParaRPr lang="en-US" dirty="0"/>
          </a:p>
        </p:txBody>
      </p:sp>
      <p:sp>
        <p:nvSpPr>
          <p:cNvPr id="5" name="Footer Placeholder 4"/>
          <p:cNvSpPr>
            <a:spLocks noGrp="1"/>
          </p:cNvSpPr>
          <p:nvPr>
            <p:ph type="ftr" sz="quarter" idx="11"/>
          </p:nvPr>
        </p:nvSpPr>
        <p:spPr>
          <a:xfrm>
            <a:off x="680321" y="5936188"/>
            <a:ext cx="6126805" cy="365125"/>
          </a:xfrm>
        </p:spPr>
        <p:txBody>
          <a:bodyPr/>
          <a:lstStyle/>
          <a:p>
            <a:r>
              <a:rPr lang="en-US"/>
              <a:t>
              </a:t>
            </a:r>
            <a:endParaRPr lang="en-US" dirty="0"/>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962799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2BE451C3-0FF4-47C4-B829-773ADF60F88C}" type="datetimeFigureOut">
              <a:rPr lang="en-US" smtClean="0"/>
              <a:t>3/31/2025</a:t>
            </a:fld>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r>
              <a:rPr lang="en-US"/>
              <a:t>
              </a:t>
            </a:r>
            <a:endParaRPr lang="en-US" dirty="0"/>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519349728"/>
      </p:ext>
    </p:extLst>
  </p:cSld>
  <p:clrMap bg1="dk1" tx1="lt1" bg2="dk2" tx2="lt2" accent1="accent1" accent2="accent2" accent3="accent3" accent4="accent4" accent5="accent5" accent6="accent6" hlink="hlink" folHlink="folHlink"/>
  <p:sldLayoutIdLst>
    <p:sldLayoutId id="2147483839" r:id="rId1"/>
    <p:sldLayoutId id="2147483840" r:id="rId2"/>
    <p:sldLayoutId id="2147483841" r:id="rId3"/>
    <p:sldLayoutId id="2147483842" r:id="rId4"/>
    <p:sldLayoutId id="2147483843" r:id="rId5"/>
    <p:sldLayoutId id="2147483844" r:id="rId6"/>
    <p:sldLayoutId id="2147483845" r:id="rId7"/>
    <p:sldLayoutId id="2147483846" r:id="rId8"/>
    <p:sldLayoutId id="2147483847" r:id="rId9"/>
    <p:sldLayoutId id="2147483848" r:id="rId10"/>
    <p:sldLayoutId id="2147483849" r:id="rId11"/>
    <p:sldLayoutId id="2147483850" r:id="rId12"/>
    <p:sldLayoutId id="2147483851" r:id="rId13"/>
    <p:sldLayoutId id="2147483852" r:id="rId14"/>
    <p:sldLayoutId id="2147483853" r:id="rId15"/>
    <p:sldLayoutId id="2147483854" r:id="rId16"/>
    <p:sldLayoutId id="2147483855" r:id="rId17"/>
  </p:sldLayoutIdLst>
  <p:hf sldNum="0"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2" name="Título 1"/>
          <p:cNvSpPr>
            <a:spLocks noGrp="1"/>
          </p:cNvSpPr>
          <p:nvPr>
            <p:ph type="ctrTitle"/>
          </p:nvPr>
        </p:nvSpPr>
        <p:spPr>
          <a:xfrm>
            <a:off x="840510" y="2733709"/>
            <a:ext cx="7657792" cy="1373070"/>
          </a:xfrm>
        </p:spPr>
        <p:txBody>
          <a:bodyPr>
            <a:normAutofit/>
          </a:bodyPr>
          <a:lstStyle/>
          <a:p>
            <a:r>
              <a:rPr lang="es-GT" sz="4600" b="1">
                <a:solidFill>
                  <a:srgbClr val="FFFFFF"/>
                </a:solidFill>
              </a:rPr>
              <a:t>PRESUPUESTO DE CAPITAL</a:t>
            </a:r>
          </a:p>
        </p:txBody>
      </p:sp>
    </p:spTree>
    <p:extLst>
      <p:ext uri="{BB962C8B-B14F-4D97-AF65-F5344CB8AC3E}">
        <p14:creationId xmlns:p14="http://schemas.microsoft.com/office/powerpoint/2010/main" val="41743340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287995" y="661106"/>
            <a:ext cx="6257362" cy="5503101"/>
          </a:xfrm>
        </p:spPr>
        <p:txBody>
          <a:bodyPr anchor="ctr">
            <a:normAutofit/>
          </a:bodyPr>
          <a:lstStyle/>
          <a:p>
            <a:pPr marL="0" indent="0">
              <a:buNone/>
            </a:pPr>
            <a:r>
              <a:rPr lang="es-GT" sz="4000" b="1" dirty="0">
                <a:solidFill>
                  <a:srgbClr val="FFFFFF"/>
                </a:solidFill>
              </a:rPr>
              <a:t>Es una descripción de los gastos planeados en activos fijos y la presupuestación de capital o elaboración del presupuesto de capital es un proceso de analizar proyectos y decidir:</a:t>
            </a:r>
          </a:p>
        </p:txBody>
      </p:sp>
    </p:spTree>
    <p:extLst>
      <p:ext uri="{BB962C8B-B14F-4D97-AF65-F5344CB8AC3E}">
        <p14:creationId xmlns:p14="http://schemas.microsoft.com/office/powerpoint/2010/main" val="2572849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graphicFrame>
        <p:nvGraphicFramePr>
          <p:cNvPr id="5" name="Marcador de contenido 2">
            <a:extLst>
              <a:ext uri="{FF2B5EF4-FFF2-40B4-BE49-F238E27FC236}">
                <a16:creationId xmlns:a16="http://schemas.microsoft.com/office/drawing/2014/main" id="{666F5CED-D9A6-477A-80BC-FE962D69D286}"/>
              </a:ext>
            </a:extLst>
          </p:cNvPr>
          <p:cNvGraphicFramePr>
            <a:graphicFrameLocks noGrp="1"/>
          </p:cNvGraphicFramePr>
          <p:nvPr>
            <p:ph idx="1"/>
            <p:extLst>
              <p:ext uri="{D42A27DB-BD31-4B8C-83A1-F6EECF244321}">
                <p14:modId xmlns:p14="http://schemas.microsoft.com/office/powerpoint/2010/main" val="3398448635"/>
              </p:ext>
            </p:extLst>
          </p:nvPr>
        </p:nvGraphicFramePr>
        <p:xfrm>
          <a:off x="5284788" y="639763"/>
          <a:ext cx="6261100" cy="55784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36187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680321" y="2063262"/>
            <a:ext cx="3739279" cy="2661052"/>
          </a:xfrm>
        </p:spPr>
        <p:txBody>
          <a:bodyPr>
            <a:normAutofit/>
          </a:bodyPr>
          <a:lstStyle/>
          <a:p>
            <a:pPr algn="r"/>
            <a:r>
              <a:rPr lang="es-GT" sz="4100" b="1"/>
              <a:t>IMPORTANCIA DE SU ELABORACIÓN</a:t>
            </a:r>
          </a:p>
        </p:txBody>
      </p:sp>
      <p:graphicFrame>
        <p:nvGraphicFramePr>
          <p:cNvPr id="5" name="Marcador de contenido 2">
            <a:extLst>
              <a:ext uri="{FF2B5EF4-FFF2-40B4-BE49-F238E27FC236}">
                <a16:creationId xmlns:a16="http://schemas.microsoft.com/office/drawing/2014/main" id="{6204C2F9-AC1D-41A3-800C-557C28F7B8EA}"/>
              </a:ext>
            </a:extLst>
          </p:cNvPr>
          <p:cNvGraphicFramePr>
            <a:graphicFrameLocks noGrp="1"/>
          </p:cNvGraphicFramePr>
          <p:nvPr>
            <p:ph idx="1"/>
            <p:extLst>
              <p:ext uri="{D42A27DB-BD31-4B8C-83A1-F6EECF244321}">
                <p14:modId xmlns:p14="http://schemas.microsoft.com/office/powerpoint/2010/main" val="976953421"/>
              </p:ext>
            </p:extLst>
          </p:nvPr>
        </p:nvGraphicFramePr>
        <p:xfrm>
          <a:off x="5284788" y="639763"/>
          <a:ext cx="6261100" cy="55784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436412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graphicFrame>
        <p:nvGraphicFramePr>
          <p:cNvPr id="5" name="Marcador de contenido 2">
            <a:extLst>
              <a:ext uri="{FF2B5EF4-FFF2-40B4-BE49-F238E27FC236}">
                <a16:creationId xmlns:a16="http://schemas.microsoft.com/office/drawing/2014/main" id="{F76ABB6C-5F70-4FED-99B9-BB47B94EDCA5}"/>
              </a:ext>
            </a:extLst>
          </p:cNvPr>
          <p:cNvGraphicFramePr>
            <a:graphicFrameLocks noGrp="1"/>
          </p:cNvGraphicFramePr>
          <p:nvPr>
            <p:ph idx="1"/>
            <p:extLst>
              <p:ext uri="{D42A27DB-BD31-4B8C-83A1-F6EECF244321}">
                <p14:modId xmlns:p14="http://schemas.microsoft.com/office/powerpoint/2010/main" val="1017253657"/>
              </p:ext>
            </p:extLst>
          </p:nvPr>
        </p:nvGraphicFramePr>
        <p:xfrm>
          <a:off x="681037" y="2336800"/>
          <a:ext cx="10830641" cy="3598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41358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54954" y="973667"/>
            <a:ext cx="9907998" cy="983921"/>
          </a:xfrm>
        </p:spPr>
        <p:txBody>
          <a:bodyPr>
            <a:normAutofit fontScale="90000"/>
          </a:bodyPr>
          <a:lstStyle/>
          <a:p>
            <a:r>
              <a:rPr lang="es-GT" b="1" dirty="0"/>
              <a:t>GENERACIÓN DE IDEAS PARA PROYECTOS DE CAPITAL</a:t>
            </a:r>
          </a:p>
        </p:txBody>
      </p:sp>
      <p:sp>
        <p:nvSpPr>
          <p:cNvPr id="3" name="Marcador de contenido 2"/>
          <p:cNvSpPr>
            <a:spLocks noGrp="1"/>
          </p:cNvSpPr>
          <p:nvPr>
            <p:ph idx="1"/>
          </p:nvPr>
        </p:nvSpPr>
        <p:spPr>
          <a:xfrm>
            <a:off x="1154954" y="2603500"/>
            <a:ext cx="10101181" cy="3416300"/>
          </a:xfrm>
        </p:spPr>
        <p:txBody>
          <a:bodyPr>
            <a:normAutofit fontScale="77500" lnSpcReduction="20000"/>
          </a:bodyPr>
          <a:lstStyle/>
          <a:p>
            <a:pPr marL="0" indent="0">
              <a:buNone/>
            </a:pPr>
            <a:r>
              <a:rPr lang="es-GT" sz="2000" b="1" dirty="0"/>
              <a:t>Clientes              	 	representante de ventas                      	Gerente de ventas</a:t>
            </a:r>
          </a:p>
          <a:p>
            <a:pPr marL="0" indent="0">
              <a:buNone/>
            </a:pPr>
            <a:endParaRPr lang="es-GT" sz="2000" b="1" dirty="0"/>
          </a:p>
          <a:p>
            <a:pPr marL="0" indent="0">
              <a:buNone/>
            </a:pPr>
            <a:endParaRPr lang="es-GT" sz="2000" b="1" dirty="0"/>
          </a:p>
          <a:p>
            <a:pPr marL="0" indent="0">
              <a:buNone/>
            </a:pPr>
            <a:r>
              <a:rPr lang="es-GT" sz="2000" b="1" dirty="0"/>
              <a:t>								</a:t>
            </a:r>
          </a:p>
          <a:p>
            <a:pPr marL="0" indent="0">
              <a:lnSpc>
                <a:spcPct val="120000"/>
              </a:lnSpc>
              <a:spcBef>
                <a:spcPts val="0"/>
              </a:spcBef>
              <a:buNone/>
            </a:pPr>
            <a:endParaRPr lang="es-GT" sz="2000" b="1" dirty="0"/>
          </a:p>
          <a:p>
            <a:pPr marL="0" indent="0">
              <a:lnSpc>
                <a:spcPct val="120000"/>
              </a:lnSpc>
              <a:spcBef>
                <a:spcPts val="0"/>
              </a:spcBef>
              <a:buNone/>
            </a:pPr>
            <a:endParaRPr lang="es-GT" sz="2000" b="1" dirty="0"/>
          </a:p>
          <a:p>
            <a:pPr marL="0" indent="0">
              <a:lnSpc>
                <a:spcPct val="120000"/>
              </a:lnSpc>
              <a:spcBef>
                <a:spcPts val="0"/>
              </a:spcBef>
              <a:buNone/>
            </a:pPr>
            <a:r>
              <a:rPr lang="es-GT" sz="2000" b="1" dirty="0"/>
              <a:t>Contadores de costos 					Grupo de investigación 								       de mercados</a:t>
            </a:r>
          </a:p>
          <a:p>
            <a:pPr marL="0" indent="0">
              <a:lnSpc>
                <a:spcPct val="120000"/>
              </a:lnSpc>
              <a:spcBef>
                <a:spcPts val="0"/>
              </a:spcBef>
              <a:buNone/>
            </a:pPr>
            <a:r>
              <a:rPr lang="es-GT" sz="2000" b="1" dirty="0"/>
              <a:t>						        	       e Ingenieros   </a:t>
            </a:r>
          </a:p>
          <a:p>
            <a:pPr marL="0" indent="0">
              <a:buNone/>
            </a:pPr>
            <a:endParaRPr lang="es-GT" sz="2000" b="1" dirty="0"/>
          </a:p>
          <a:p>
            <a:pPr marL="0" indent="0">
              <a:buNone/>
            </a:pPr>
            <a:endParaRPr lang="es-GT" sz="2000" b="1" dirty="0"/>
          </a:p>
          <a:p>
            <a:pPr marL="0" indent="0">
              <a:buNone/>
            </a:pPr>
            <a:r>
              <a:rPr lang="es-GT" sz="2000" b="1" dirty="0"/>
              <a:t>        PROYECTO                 </a:t>
            </a:r>
          </a:p>
        </p:txBody>
      </p:sp>
      <p:cxnSp>
        <p:nvCxnSpPr>
          <p:cNvPr id="5" name="Conector recto de flecha 4"/>
          <p:cNvCxnSpPr/>
          <p:nvPr/>
        </p:nvCxnSpPr>
        <p:spPr>
          <a:xfrm flipV="1">
            <a:off x="2474891" y="2779693"/>
            <a:ext cx="1043189" cy="128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Conector recto de flecha 5"/>
          <p:cNvCxnSpPr/>
          <p:nvPr/>
        </p:nvCxnSpPr>
        <p:spPr>
          <a:xfrm flipV="1">
            <a:off x="7066208" y="2758726"/>
            <a:ext cx="1043189" cy="128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Conector recto de flecha 7"/>
          <p:cNvCxnSpPr/>
          <p:nvPr/>
        </p:nvCxnSpPr>
        <p:spPr>
          <a:xfrm flipH="1">
            <a:off x="9478851" y="2936383"/>
            <a:ext cx="12879" cy="6697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Conector recto de flecha 9"/>
          <p:cNvCxnSpPr/>
          <p:nvPr/>
        </p:nvCxnSpPr>
        <p:spPr>
          <a:xfrm flipH="1">
            <a:off x="4726620" y="4285100"/>
            <a:ext cx="1382333" cy="257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p:cNvCxnSpPr/>
          <p:nvPr/>
        </p:nvCxnSpPr>
        <p:spPr>
          <a:xfrm>
            <a:off x="2261332" y="4579339"/>
            <a:ext cx="0" cy="6568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62525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54954" y="973667"/>
            <a:ext cx="9161023" cy="868011"/>
          </a:xfrm>
        </p:spPr>
        <p:txBody>
          <a:bodyPr/>
          <a:lstStyle/>
          <a:p>
            <a:r>
              <a:rPr lang="es-GT" sz="4000" b="1" dirty="0"/>
              <a:t>CLASIFICACIONES DEL PROYECTO</a:t>
            </a:r>
          </a:p>
        </p:txBody>
      </p:sp>
      <p:sp>
        <p:nvSpPr>
          <p:cNvPr id="3" name="Marcador de contenido 2"/>
          <p:cNvSpPr>
            <a:spLocks noGrp="1"/>
          </p:cNvSpPr>
          <p:nvPr>
            <p:ph idx="1"/>
          </p:nvPr>
        </p:nvSpPr>
        <p:spPr>
          <a:xfrm>
            <a:off x="540913" y="2088345"/>
            <a:ext cx="11178862" cy="3416300"/>
          </a:xfrm>
        </p:spPr>
        <p:txBody>
          <a:bodyPr>
            <a:noAutofit/>
          </a:bodyPr>
          <a:lstStyle/>
          <a:p>
            <a:r>
              <a:rPr lang="es-GT" sz="6600" b="1" dirty="0"/>
              <a:t>Decisiones  de reemplazo </a:t>
            </a:r>
          </a:p>
          <a:p>
            <a:r>
              <a:rPr lang="es-GT" sz="6600" b="1" dirty="0"/>
              <a:t>Decisiones de expansión</a:t>
            </a:r>
          </a:p>
        </p:txBody>
      </p:sp>
    </p:spTree>
    <p:extLst>
      <p:ext uri="{BB962C8B-B14F-4D97-AF65-F5344CB8AC3E}">
        <p14:creationId xmlns:p14="http://schemas.microsoft.com/office/powerpoint/2010/main" val="3565322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54954" y="973667"/>
            <a:ext cx="9701936" cy="1048315"/>
          </a:xfrm>
        </p:spPr>
        <p:txBody>
          <a:bodyPr>
            <a:normAutofit fontScale="90000"/>
          </a:bodyPr>
          <a:lstStyle/>
          <a:p>
            <a:r>
              <a:rPr lang="es-GT" b="1" dirty="0"/>
              <a:t>Similitudes entre </a:t>
            </a:r>
            <a:r>
              <a:rPr lang="es-GT" b="1" dirty="0" err="1"/>
              <a:t>Presupuestación</a:t>
            </a:r>
            <a:r>
              <a:rPr lang="es-GT" b="1" dirty="0"/>
              <a:t> de Capital y Valuación de Activos</a:t>
            </a:r>
          </a:p>
        </p:txBody>
      </p:sp>
      <p:sp>
        <p:nvSpPr>
          <p:cNvPr id="3" name="Marcador de contenido 2"/>
          <p:cNvSpPr>
            <a:spLocks noGrp="1"/>
          </p:cNvSpPr>
          <p:nvPr>
            <p:ph idx="1"/>
          </p:nvPr>
        </p:nvSpPr>
        <p:spPr>
          <a:xfrm>
            <a:off x="1154954" y="2333044"/>
            <a:ext cx="9817846" cy="3416300"/>
          </a:xfrm>
        </p:spPr>
        <p:txBody>
          <a:bodyPr>
            <a:noAutofit/>
          </a:bodyPr>
          <a:lstStyle/>
          <a:p>
            <a:r>
              <a:rPr lang="es-GT" sz="2800" b="1" dirty="0"/>
              <a:t>Estimar flujos de efectivo</a:t>
            </a:r>
          </a:p>
          <a:p>
            <a:r>
              <a:rPr lang="es-GT" sz="2800" b="1" dirty="0"/>
              <a:t>Evaluar el riesgo de los flujos de efectivo</a:t>
            </a:r>
          </a:p>
          <a:p>
            <a:r>
              <a:rPr lang="es-GT" sz="2800" b="1" dirty="0"/>
              <a:t>Calcular el valor presente de los flujos de efectivo esperados</a:t>
            </a:r>
          </a:p>
          <a:p>
            <a:r>
              <a:rPr lang="es-GT" sz="2800" b="1" dirty="0"/>
              <a:t>Comparar el valor presente de los flujos de efectivo futuros esperados con la inversión inicial o el costo requerido para adquirir el activo</a:t>
            </a:r>
          </a:p>
        </p:txBody>
      </p:sp>
    </p:spTree>
    <p:extLst>
      <p:ext uri="{BB962C8B-B14F-4D97-AF65-F5344CB8AC3E}">
        <p14:creationId xmlns:p14="http://schemas.microsoft.com/office/powerpoint/2010/main" val="2819861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54954" y="973668"/>
            <a:ext cx="9109508" cy="1086952"/>
          </a:xfrm>
        </p:spPr>
        <p:txBody>
          <a:bodyPr>
            <a:normAutofit/>
          </a:bodyPr>
          <a:lstStyle/>
          <a:p>
            <a:r>
              <a:rPr lang="es-GT" b="1" dirty="0"/>
              <a:t>¿Por qué debe interesarnos el presupuesto de capital?</a:t>
            </a:r>
          </a:p>
        </p:txBody>
      </p:sp>
      <p:sp>
        <p:nvSpPr>
          <p:cNvPr id="3" name="Marcador de contenido 2"/>
          <p:cNvSpPr>
            <a:spLocks noGrp="1"/>
          </p:cNvSpPr>
          <p:nvPr>
            <p:ph idx="1"/>
          </p:nvPr>
        </p:nvSpPr>
        <p:spPr>
          <a:xfrm>
            <a:off x="1154954" y="2179750"/>
            <a:ext cx="8534400" cy="3615267"/>
          </a:xfrm>
        </p:spPr>
        <p:txBody>
          <a:bodyPr>
            <a:normAutofit/>
          </a:bodyPr>
          <a:lstStyle/>
          <a:p>
            <a:r>
              <a:rPr lang="es-GT" sz="3200" b="1" dirty="0"/>
              <a:t>Administración</a:t>
            </a:r>
          </a:p>
          <a:p>
            <a:r>
              <a:rPr lang="es-GT" sz="3200" b="1" dirty="0"/>
              <a:t>Contabilidad</a:t>
            </a:r>
          </a:p>
          <a:p>
            <a:r>
              <a:rPr lang="es-GT" sz="3200" b="1" dirty="0"/>
              <a:t>Marketing</a:t>
            </a:r>
          </a:p>
          <a:p>
            <a:r>
              <a:rPr lang="es-GT" sz="3200" b="1" dirty="0"/>
              <a:t>Operaciones</a:t>
            </a:r>
          </a:p>
          <a:p>
            <a:r>
              <a:rPr lang="es-GT" sz="3200" b="1" dirty="0"/>
              <a:t>Sistemas de Información</a:t>
            </a:r>
          </a:p>
        </p:txBody>
      </p:sp>
    </p:spTree>
    <p:extLst>
      <p:ext uri="{BB962C8B-B14F-4D97-AF65-F5344CB8AC3E}">
        <p14:creationId xmlns:p14="http://schemas.microsoft.com/office/powerpoint/2010/main" val="39685491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708338" y="566671"/>
            <a:ext cx="10663707" cy="5453130"/>
          </a:xfrm>
        </p:spPr>
        <p:txBody>
          <a:bodyPr>
            <a:normAutofit/>
          </a:bodyPr>
          <a:lstStyle/>
          <a:p>
            <a:pPr marL="0" indent="0">
              <a:buNone/>
            </a:pPr>
            <a:endParaRPr lang="es-GT" sz="3200" b="1" dirty="0"/>
          </a:p>
          <a:p>
            <a:pPr marL="0" indent="0">
              <a:buNone/>
            </a:pPr>
            <a:r>
              <a:rPr lang="es-GT" sz="3200" b="1" dirty="0"/>
              <a:t>Antes de comprometer recursos para expandir, reemplazar o renovar los activos fijos o para llevar a cabo otros tipos de inversiones a largo plazo, las empresas calculan y analizan con cuidado los costos esperados y los beneficios relacionados con estos gastos. Este proceso de evaluación y selección se denomina presupuesto de capital.</a:t>
            </a:r>
          </a:p>
        </p:txBody>
      </p:sp>
    </p:spTree>
    <p:extLst>
      <p:ext uri="{BB962C8B-B14F-4D97-AF65-F5344CB8AC3E}">
        <p14:creationId xmlns:p14="http://schemas.microsoft.com/office/powerpoint/2010/main" val="13279699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GT" b="1" dirty="0"/>
              <a:t>Motivos del gasto de capital</a:t>
            </a:r>
          </a:p>
        </p:txBody>
      </p:sp>
      <p:sp>
        <p:nvSpPr>
          <p:cNvPr id="3" name="Marcador de contenido 2"/>
          <p:cNvSpPr>
            <a:spLocks noGrp="1"/>
          </p:cNvSpPr>
          <p:nvPr>
            <p:ph idx="1"/>
          </p:nvPr>
        </p:nvSpPr>
        <p:spPr>
          <a:xfrm>
            <a:off x="566670" y="1736035"/>
            <a:ext cx="11088710" cy="4373217"/>
          </a:xfrm>
        </p:spPr>
        <p:txBody>
          <a:bodyPr>
            <a:noAutofit/>
          </a:bodyPr>
          <a:lstStyle/>
          <a:p>
            <a:pPr marL="0" indent="0">
              <a:buNone/>
            </a:pPr>
            <a:r>
              <a:rPr lang="es-GT" sz="3200" dirty="0"/>
              <a:t>Un </a:t>
            </a:r>
            <a:r>
              <a:rPr lang="es-GT" sz="3200" b="1" dirty="0"/>
              <a:t>gasto de capital</a:t>
            </a:r>
            <a:r>
              <a:rPr lang="es-GT" sz="3200" dirty="0"/>
              <a:t> es un desembolso de fondos que realiza la empresa, el cual produce beneficios después de un período mayor de un año. Un </a:t>
            </a:r>
            <a:r>
              <a:rPr lang="es-GT" sz="3200" b="1" dirty="0"/>
              <a:t>gasto operativo </a:t>
            </a:r>
            <a:r>
              <a:rPr lang="es-GT" sz="3200" dirty="0"/>
              <a:t>es un desembolso de fondos que produce beneficios que se reciben en un período de un año. Los desembolsos de activos fijos son gastos de capital, pero no todos los gastos de capital se clasifican como activos fijos.</a:t>
            </a:r>
            <a:endParaRPr lang="es-GT" sz="3200" b="1" dirty="0"/>
          </a:p>
        </p:txBody>
      </p:sp>
    </p:spTree>
    <p:extLst>
      <p:ext uri="{BB962C8B-B14F-4D97-AF65-F5344CB8AC3E}">
        <p14:creationId xmlns:p14="http://schemas.microsoft.com/office/powerpoint/2010/main" val="36101980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772732" y="1577009"/>
            <a:ext cx="11062953" cy="4442791"/>
          </a:xfrm>
        </p:spPr>
        <p:txBody>
          <a:bodyPr>
            <a:noAutofit/>
          </a:bodyPr>
          <a:lstStyle/>
          <a:p>
            <a:pPr marL="0" indent="0">
              <a:buNone/>
            </a:pPr>
            <a:r>
              <a:rPr lang="es-GT" sz="4400" b="1" dirty="0"/>
              <a:t>Sus motivos básicos son expandir, reemplazar o renovar los activos fijos u obtener otro beneficio menos tangible durante un período prolongado.</a:t>
            </a:r>
          </a:p>
        </p:txBody>
      </p:sp>
    </p:spTree>
    <p:extLst>
      <p:ext uri="{BB962C8B-B14F-4D97-AF65-F5344CB8AC3E}">
        <p14:creationId xmlns:p14="http://schemas.microsoft.com/office/powerpoint/2010/main" val="35544359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GT" b="1" dirty="0"/>
              <a:t>PASOS DEL PROCESO</a:t>
            </a:r>
          </a:p>
        </p:txBody>
      </p:sp>
      <p:sp>
        <p:nvSpPr>
          <p:cNvPr id="3" name="Marcador de contenido 2"/>
          <p:cNvSpPr>
            <a:spLocks noGrp="1"/>
          </p:cNvSpPr>
          <p:nvPr>
            <p:ph idx="1"/>
          </p:nvPr>
        </p:nvSpPr>
        <p:spPr/>
        <p:txBody>
          <a:bodyPr/>
          <a:lstStyle/>
          <a:p>
            <a:r>
              <a:rPr lang="es-GT" sz="3200" b="1" dirty="0"/>
              <a:t>Generación de propuestas</a:t>
            </a:r>
          </a:p>
          <a:p>
            <a:r>
              <a:rPr lang="es-GT" sz="3200" b="1" dirty="0"/>
              <a:t>Revisión y análisis</a:t>
            </a:r>
          </a:p>
          <a:p>
            <a:r>
              <a:rPr lang="es-GT" sz="3200" b="1" dirty="0"/>
              <a:t>Toma de decisiones</a:t>
            </a:r>
          </a:p>
          <a:p>
            <a:r>
              <a:rPr lang="es-GT" sz="3200" b="1" dirty="0"/>
              <a:t>Puesta en marcha</a:t>
            </a:r>
          </a:p>
          <a:p>
            <a:r>
              <a:rPr lang="es-GT" sz="3200" b="1" dirty="0"/>
              <a:t>Seguimiento</a:t>
            </a:r>
          </a:p>
          <a:p>
            <a:pPr marL="0" indent="0">
              <a:buNone/>
            </a:pPr>
            <a:endParaRPr lang="es-GT" dirty="0"/>
          </a:p>
        </p:txBody>
      </p:sp>
    </p:spTree>
    <p:extLst>
      <p:ext uri="{BB962C8B-B14F-4D97-AF65-F5344CB8AC3E}">
        <p14:creationId xmlns:p14="http://schemas.microsoft.com/office/powerpoint/2010/main" val="3602308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54954" y="682581"/>
            <a:ext cx="9495874" cy="1339402"/>
          </a:xfrm>
        </p:spPr>
        <p:txBody>
          <a:bodyPr>
            <a:normAutofit/>
          </a:bodyPr>
          <a:lstStyle/>
          <a:p>
            <a:r>
              <a:rPr lang="es-GT" b="1" dirty="0"/>
              <a:t>Proyectos independientes y mutuamente excluyentes</a:t>
            </a:r>
          </a:p>
        </p:txBody>
      </p:sp>
      <p:sp>
        <p:nvSpPr>
          <p:cNvPr id="3" name="Marcador de contenido 2"/>
          <p:cNvSpPr>
            <a:spLocks noGrp="1"/>
          </p:cNvSpPr>
          <p:nvPr>
            <p:ph idx="1"/>
          </p:nvPr>
        </p:nvSpPr>
        <p:spPr>
          <a:xfrm>
            <a:off x="746976" y="2150772"/>
            <a:ext cx="10599312" cy="4134118"/>
          </a:xfrm>
        </p:spPr>
        <p:txBody>
          <a:bodyPr>
            <a:noAutofit/>
          </a:bodyPr>
          <a:lstStyle/>
          <a:p>
            <a:r>
              <a:rPr lang="es-GT" sz="2800" b="1" dirty="0"/>
              <a:t>Independientes son aquellos cuyos flujos de efectivo no tienen relación o son independientes uno del otro; la aceptación de uno no elimina a los otros para ser tomados en cuenta</a:t>
            </a:r>
          </a:p>
          <a:p>
            <a:r>
              <a:rPr lang="es-GT" sz="2800" b="1" dirty="0"/>
              <a:t>Mutuamente excluyentes son aquellos que tienen la misma función y por lo tanto no compiten entre sí. La aceptación de uno elimina a todos los demás proyectos que tienen una función similar para ser tomados en cuenta</a:t>
            </a:r>
          </a:p>
        </p:txBody>
      </p:sp>
    </p:spTree>
    <p:extLst>
      <p:ext uri="{BB962C8B-B14F-4D97-AF65-F5344CB8AC3E}">
        <p14:creationId xmlns:p14="http://schemas.microsoft.com/office/powerpoint/2010/main" val="38667770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54954" y="785611"/>
            <a:ext cx="9289812" cy="1184857"/>
          </a:xfrm>
        </p:spPr>
        <p:txBody>
          <a:bodyPr>
            <a:normAutofit/>
          </a:bodyPr>
          <a:lstStyle/>
          <a:p>
            <a:r>
              <a:rPr lang="es-GT" b="1" dirty="0"/>
              <a:t>Fondos ilimitados y racionamiento de capital</a:t>
            </a:r>
          </a:p>
        </p:txBody>
      </p:sp>
      <p:sp>
        <p:nvSpPr>
          <p:cNvPr id="3" name="Marcador de contenido 2"/>
          <p:cNvSpPr>
            <a:spLocks noGrp="1"/>
          </p:cNvSpPr>
          <p:nvPr>
            <p:ph idx="1"/>
          </p:nvPr>
        </p:nvSpPr>
        <p:spPr>
          <a:xfrm>
            <a:off x="1154954" y="1970468"/>
            <a:ext cx="9727694" cy="4049332"/>
          </a:xfrm>
        </p:spPr>
        <p:txBody>
          <a:bodyPr>
            <a:normAutofit/>
          </a:bodyPr>
          <a:lstStyle/>
          <a:p>
            <a:r>
              <a:rPr lang="es-GT" sz="4000" b="1" dirty="0"/>
              <a:t>Con fondos ilimitados la toma de decisiones es muy sencilla</a:t>
            </a:r>
          </a:p>
          <a:p>
            <a:r>
              <a:rPr lang="es-GT" sz="4000" b="1" dirty="0"/>
              <a:t>Racionamiento de capital significa que hay competencia entre los proyectos</a:t>
            </a:r>
          </a:p>
        </p:txBody>
      </p:sp>
    </p:spTree>
    <p:extLst>
      <p:ext uri="{BB962C8B-B14F-4D97-AF65-F5344CB8AC3E}">
        <p14:creationId xmlns:p14="http://schemas.microsoft.com/office/powerpoint/2010/main" val="19217923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24829" y="360608"/>
            <a:ext cx="9792088" cy="1532586"/>
          </a:xfrm>
        </p:spPr>
        <p:txBody>
          <a:bodyPr/>
          <a:lstStyle/>
          <a:p>
            <a:r>
              <a:rPr lang="es-GT" b="1" dirty="0"/>
              <a:t>Métodos de aceptación-rechazo y de clasificación</a:t>
            </a:r>
          </a:p>
        </p:txBody>
      </p:sp>
      <p:sp>
        <p:nvSpPr>
          <p:cNvPr id="3" name="Marcador de contenido 2"/>
          <p:cNvSpPr>
            <a:spLocks noGrp="1"/>
          </p:cNvSpPr>
          <p:nvPr>
            <p:ph idx="1"/>
          </p:nvPr>
        </p:nvSpPr>
        <p:spPr>
          <a:xfrm>
            <a:off x="643944" y="2163651"/>
            <a:ext cx="10753859" cy="3856149"/>
          </a:xfrm>
        </p:spPr>
        <p:txBody>
          <a:bodyPr>
            <a:noAutofit/>
          </a:bodyPr>
          <a:lstStyle/>
          <a:p>
            <a:r>
              <a:rPr lang="es-GT" sz="3600" b="1" dirty="0"/>
              <a:t>Aceptación-rechazo implica evaluación de propuestas</a:t>
            </a:r>
          </a:p>
          <a:p>
            <a:r>
              <a:rPr lang="es-GT" sz="3600" b="1" dirty="0"/>
              <a:t>Método de clasificación consiste en la clasificación de proyectos de acuerdo con cierta medida predeterminada, como la tasa de retorno</a:t>
            </a:r>
          </a:p>
        </p:txBody>
      </p:sp>
    </p:spTree>
    <p:extLst>
      <p:ext uri="{BB962C8B-B14F-4D97-AF65-F5344CB8AC3E}">
        <p14:creationId xmlns:p14="http://schemas.microsoft.com/office/powerpoint/2010/main" val="4136977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54954" y="759855"/>
            <a:ext cx="9392843" cy="1197734"/>
          </a:xfrm>
        </p:spPr>
        <p:txBody>
          <a:bodyPr>
            <a:normAutofit/>
          </a:bodyPr>
          <a:lstStyle/>
          <a:p>
            <a:r>
              <a:rPr lang="es-GT" b="1" dirty="0"/>
              <a:t>Patrones convencionales y no convencionales de flujos de efectivo</a:t>
            </a:r>
          </a:p>
        </p:txBody>
      </p:sp>
      <p:sp>
        <p:nvSpPr>
          <p:cNvPr id="3" name="Marcador de contenido 2"/>
          <p:cNvSpPr>
            <a:spLocks noGrp="1"/>
          </p:cNvSpPr>
          <p:nvPr>
            <p:ph idx="1"/>
          </p:nvPr>
        </p:nvSpPr>
        <p:spPr>
          <a:xfrm>
            <a:off x="1276640" y="1957589"/>
            <a:ext cx="8534400" cy="3615267"/>
          </a:xfrm>
        </p:spPr>
        <p:txBody>
          <a:bodyPr>
            <a:noAutofit/>
          </a:bodyPr>
          <a:lstStyle/>
          <a:p>
            <a:r>
              <a:rPr lang="es-GT" sz="3600" b="1" dirty="0"/>
              <a:t>El patrón convencional consiste en una salida inicial seguida sólo por una serie de entradas.</a:t>
            </a:r>
          </a:p>
          <a:p>
            <a:r>
              <a:rPr lang="es-GT" sz="3600" b="1" dirty="0"/>
              <a:t>El patrón no convencional consiste en una salida inicial seguida por una serie de entradas y salidas</a:t>
            </a:r>
          </a:p>
        </p:txBody>
      </p:sp>
    </p:spTree>
    <p:extLst>
      <p:ext uri="{BB962C8B-B14F-4D97-AF65-F5344CB8AC3E}">
        <p14:creationId xmlns:p14="http://schemas.microsoft.com/office/powerpoint/2010/main" val="3074939444"/>
      </p:ext>
    </p:extLst>
  </p:cSld>
  <p:clrMapOvr>
    <a:masterClrMapping/>
  </p:clrMapOvr>
</p:sld>
</file>

<file path=ppt/theme/theme1.xml><?xml version="1.0" encoding="utf-8"?>
<a:theme xmlns:a="http://schemas.openxmlformats.org/drawingml/2006/main" name="Berlí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erlí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í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106000"/>
                <a:satMod val="220000"/>
                <a:lumMod val="140000"/>
              </a:schemeClr>
            </a:gs>
            <a:gs pos="50000">
              <a:schemeClr val="phClr">
                <a:shade val="100000"/>
                <a:hueMod val="100000"/>
                <a:satMod val="110000"/>
                <a:lumMod val="130000"/>
              </a:schemeClr>
            </a:gs>
            <a:gs pos="100000">
              <a:schemeClr val="phClr">
                <a:shade val="69000"/>
                <a:hueMod val="88000"/>
                <a:satMod val="16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7D30EEFE-7128-4DE5-8A0D-8D4EF32CB0AF}"/>
    </a:ext>
  </a:extLst>
</a:theme>
</file>

<file path=docProps/app.xml><?xml version="1.0" encoding="utf-8"?>
<Properties xmlns="http://schemas.openxmlformats.org/officeDocument/2006/extended-properties" xmlns:vt="http://schemas.openxmlformats.org/officeDocument/2006/docPropsVTypes">
  <Template>Berlín</Template>
  <TotalTime>98</TotalTime>
  <Words>639</Words>
  <Application>Microsoft Office PowerPoint</Application>
  <PresentationFormat>Panorámica</PresentationFormat>
  <Paragraphs>59</Paragraphs>
  <Slides>17</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17</vt:i4>
      </vt:variant>
    </vt:vector>
  </HeadingPairs>
  <TitlesOfParts>
    <vt:vector size="20" baseType="lpstr">
      <vt:lpstr>Arial</vt:lpstr>
      <vt:lpstr>Trebuchet MS</vt:lpstr>
      <vt:lpstr>Berlín</vt:lpstr>
      <vt:lpstr>PRESUPUESTO DE CAPITAL</vt:lpstr>
      <vt:lpstr>Presentación de PowerPoint</vt:lpstr>
      <vt:lpstr>Presentación de PowerPoint</vt:lpstr>
      <vt:lpstr>IMPORTANCIA DE SU ELABORACIÓN</vt:lpstr>
      <vt:lpstr>Presentación de PowerPoint</vt:lpstr>
      <vt:lpstr>GENERACIÓN DE IDEAS PARA PROYECTOS DE CAPITAL</vt:lpstr>
      <vt:lpstr>CLASIFICACIONES DEL PROYECTO</vt:lpstr>
      <vt:lpstr>Similitudes entre Presupuestación de Capital y Valuación de Activos</vt:lpstr>
      <vt:lpstr>¿Por qué debe interesarnos el presupuesto de capital?</vt:lpstr>
      <vt:lpstr>Presentación de PowerPoint</vt:lpstr>
      <vt:lpstr>Motivos del gasto de capital</vt:lpstr>
      <vt:lpstr>Presentación de PowerPoint</vt:lpstr>
      <vt:lpstr>PASOS DEL PROCESO</vt:lpstr>
      <vt:lpstr>Proyectos independientes y mutuamente excluyentes</vt:lpstr>
      <vt:lpstr>Fondos ilimitados y racionamiento de capital</vt:lpstr>
      <vt:lpstr>Métodos de aceptación-rechazo y de clasificación</vt:lpstr>
      <vt:lpstr>Patrones convencionales y no convencionales de flujos de efectivo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PRESUPUESTO DE CAPITAL</dc:title>
  <dc:creator>patricia.alemgtr@outlook.com</dc:creator>
  <cp:lastModifiedBy>Patricia Martínez</cp:lastModifiedBy>
  <cp:revision>3</cp:revision>
  <dcterms:created xsi:type="dcterms:W3CDTF">2020-03-23T01:09:55Z</dcterms:created>
  <dcterms:modified xsi:type="dcterms:W3CDTF">2025-03-31T22:18:19Z</dcterms:modified>
</cp:coreProperties>
</file>