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66" r:id="rId11"/>
    <p:sldId id="265"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80" r:id="rId25"/>
    <p:sldId id="282" r:id="rId26"/>
    <p:sldId id="283" r:id="rId27"/>
    <p:sldId id="284"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3969" autoAdjust="0"/>
  </p:normalViewPr>
  <p:slideViewPr>
    <p:cSldViewPr snapToGrid="0">
      <p:cViewPr varScale="1">
        <p:scale>
          <a:sx n="51" d="100"/>
          <a:sy n="51" d="100"/>
        </p:scale>
        <p:origin x="1248" y="26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9T22:45:00.046"/>
    </inkml:context>
    <inkml:brush xml:id="br0">
      <inkml:brushProperty name="width" value="0.05" units="cm"/>
      <inkml:brushProperty name="height" value="0.05" units="cm"/>
    </inkml:brush>
  </inkml:definitions>
  <inkml:trace contextRef="#ctx0" brushRef="#br0">1 1 24575,'0'1000'-1365,"0"-964"-5461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9T22:45:02.843"/>
    </inkml:context>
    <inkml:brush xml:id="br0">
      <inkml:brushProperty name="width" value="0.05" units="cm"/>
      <inkml:brushProperty name="height" value="0.05" units="cm"/>
    </inkml:brush>
  </inkml:definitions>
  <inkml:trace contextRef="#ctx0" brushRef="#br0">0 0 24575,'711'0'0,"-685"2"0,1 1 0,-1 1 0,29 8 0,-24-5 0,55 6 0,-48-12-1365,-3 0-5461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9T22:45:07.007"/>
    </inkml:context>
    <inkml:brush xml:id="br0">
      <inkml:brushProperty name="width" value="0.05" units="cm"/>
      <inkml:brushProperty name="height" value="0.05" units="cm"/>
    </inkml:brush>
  </inkml:definitions>
  <inkml:trace contextRef="#ctx0" brushRef="#br0">1 44 24575,'36'-2'0,"-1"-1"0,51-12 0,-44 7 0,49-4 0,418 8 63,-265 7-1491,-208-3-5398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9T22:45:09.195"/>
    </inkml:context>
    <inkml:brush xml:id="br0">
      <inkml:brushProperty name="width" value="0.05" units="cm"/>
      <inkml:brushProperty name="height" value="0.05" units="cm"/>
    </inkml:brush>
  </inkml:definitions>
  <inkml:trace contextRef="#ctx0" brushRef="#br0">0 1 24575,'2'36'0,"2"-1"0,10 51 0,-5-44 0,2 50 0,-11 63 0,2 25 0,1-163-35,0 0 0,9 26 0,-5-20-1225,0 5-5566</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9T22:45:11.264"/>
    </inkml:context>
    <inkml:brush xml:id="br0">
      <inkml:brushProperty name="width" value="0.05" units="cm"/>
      <inkml:brushProperty name="height" value="0.05" units="cm"/>
    </inkml:brush>
  </inkml:definitions>
  <inkml:trace contextRef="#ctx0" brushRef="#br0">0 0 24575,'794'0'-1365,"-759"0"-5461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9T22:48:44.957"/>
    </inkml:context>
    <inkml:brush xml:id="br0">
      <inkml:brushProperty name="width" value="0.05" units="cm"/>
      <inkml:brushProperty name="height" value="0.05" units="cm"/>
    </inkml:brush>
  </inkml:definitions>
  <inkml:trace contextRef="#ctx0" brushRef="#br0">596 45 24575,'-7'0'0,"1"-1"0,0 0 0,0-1 0,0 0 0,0 0 0,-8-3 0,-18-6 0,-10 3 0,0 2 0,-1 2 0,1 1 0,-82 7 0,120-3 0,0-1 0,0 1 0,0 0 0,-1 0 0,1 1 0,0-1 0,0 1 0,1 0 0,-1 0 0,0 0 0,1 1 0,-1-1 0,1 1 0,0 0 0,-1 0 0,2 0 0,-1 0 0,0 1 0,1-1 0,-1 1 0,1-1 0,0 1 0,0 0 0,0 0 0,1 0 0,-1 0 0,1 0 0,0 0 0,0 1 0,0 4 0,-2 16 0,1 0 0,2 0 0,0 0 0,5 29 0,-2-8 0,-3-38 0,0 1 0,1-1 0,0 1 0,1-1 0,0 1 0,0-1 0,1 0 0,3 8 0,-4-12 0,0-1 0,0 0 0,1 1 0,-1-1 0,1 0 0,0-1 0,0 1 0,0 0 0,0-1 0,0 0 0,1 0 0,-1 0 0,1 0 0,-1 0 0,1-1 0,0 1 0,-1-1 0,1 0 0,7 1 0,21 1 0,1 0 0,-1-3 0,0 0 0,36-6 0,-38 2 0,-1 2 0,0 1 0,1 1 0,-1 2 0,39 6 0,-60-5 0,-1-1 0,0 0 0,1 1 0,-1 1 0,0-1 0,-1 1 0,1 0 0,-1 1 0,0 0 0,0 0 0,0 0 0,0 0 0,-1 1 0,0 0 0,0 0 0,-1 0 0,0 1 0,0 0 0,0 0 0,-1 0 0,0 0 0,0 0 0,-1 1 0,0-1 0,0 1 0,-1-1 0,0 1 0,0 0 0,-1 0 0,0-1 0,0 1 0,-1 0 0,0 0 0,0-1 0,-1 1 0,-3 8 0,3-12 0,-1 0 0,0 1 0,0-1 0,0 0 0,-1 0 0,0 0 0,1-1 0,-1 1 0,-1-1 0,1 0 0,0 0 0,-1-1 0,1 1 0,-1-1 0,0 0 0,0 0 0,-7 1 0,-14 5 0,0-2 0,-29 3 0,40-7 0,-45 5 0,-1-4 0,-76-4 0,-69 3 0,139 13-1365,41-6-5461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9T22:48:46.827"/>
    </inkml:context>
    <inkml:brush xml:id="br0">
      <inkml:brushProperty name="width" value="0.05" units="cm"/>
      <inkml:brushProperty name="height" value="0.05" units="cm"/>
    </inkml:brush>
  </inkml:definitions>
  <inkml:trace contextRef="#ctx0" brushRef="#br0">1 0 24575,'0'1085'-1365,"0"-1050"-5461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9T22:48:52.312"/>
    </inkml:context>
    <inkml:brush xml:id="br0">
      <inkml:brushProperty name="width" value="0.05" units="cm"/>
      <inkml:brushProperty name="height" value="0.05" units="cm"/>
    </inkml:brush>
  </inkml:definitions>
  <inkml:trace contextRef="#ctx0" brushRef="#br0">209 4 24575,'-9'1'0,"0"0"0,0 1 0,0 0 0,0 1 0,0 0 0,1 0 0,-1 1 0,1 0 0,0 0 0,0 1 0,1 0 0,-1 0 0,1 1 0,0 0 0,-8 10 0,8-9 0,0 0 0,1 0 0,0 1 0,0 0 0,1 0 0,0 0 0,0 1 0,1 0 0,0 0 0,1 0 0,0 0 0,0 0 0,1 1 0,-2 12 0,4-14 0,1-1 0,-1 1 0,2 0 0,-1 0 0,1 0 0,0 0 0,0-1 0,1 1 0,0-1 0,0 0 0,1 0 0,0 0 0,0 0 0,1-1 0,0 0 0,0 1 0,0-2 0,1 1 0,0-1 0,11 9 0,-5-7 0,0 1 0,0-2 0,0 1 0,1-2 0,0 1 0,0-2 0,0 0 0,1 0 0,-1-2 0,28 3 0,-36-4 0,19 0 0,0 0 0,-1-1 0,1-2 0,26-4 0,-45 5 0,0 0 0,0 0 0,0 0 0,0-1 0,0 0 0,0 0 0,0 0 0,-1-1 0,1 0 0,-1 1 0,0-1 0,0-1 0,0 1 0,0-1 0,0 0 0,-1 0 0,0 0 0,0 0 0,0 0 0,0-1 0,-1 1 0,1-1 0,-1 0 0,3-9 0,-1-4 0,-1 1 0,-1-1 0,0 1 0,-1-1 0,-1 0 0,-3-23 0,3 33 0,-2 0 0,1 0 0,-1 0 0,0 0 0,0 0 0,-1 1 0,0-1 0,-1 1 0,0 0 0,0 0 0,0 0 0,-1 1 0,0-1 0,0 1 0,0 0 0,-7-5 0,2 4-114,0 0 1,0 1-1,-1 0 0,0 1 0,0 0 1,0 1-1,-1 0 0,1 0 0,-1 2 1,0-1-1,-20 0 0,-1 1-6712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9T22:48:55.077"/>
    </inkml:context>
    <inkml:brush xml:id="br0">
      <inkml:brushProperty name="width" value="0.05" units="cm"/>
      <inkml:brushProperty name="height" value="0.05" units="cm"/>
    </inkml:brush>
  </inkml:definitions>
  <inkml:trace contextRef="#ctx0" brushRef="#br0">1 1 24575,'0'751'-1365,"0"-716"-5461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9T22:48:58.691"/>
    </inkml:context>
    <inkml:brush xml:id="br0">
      <inkml:brushProperty name="width" value="0.05" units="cm"/>
      <inkml:brushProperty name="height" value="0.05" units="cm"/>
    </inkml:brush>
  </inkml:definitions>
  <inkml:trace contextRef="#ctx0" brushRef="#br0">44 82 24575,'-1'35'0,"-3"-1"0,-12 54 0,8-47 0,-4 52 0,10 196 0,3-158 0,-1-123 0,-1 0 0,2 0 0,-1 0 0,1 1 0,0-1 0,1 0 0,0 0 0,0 0 0,1-1 0,0 1 0,0-1 0,1 1 0,0-1 0,0 0 0,1 0 0,0-1 0,0 1 0,0-1 0,1 0 0,0-1 0,0 1 0,0-1 0,1 0 0,0-1 0,0 0 0,0 0 0,0 0 0,1-1 0,0 0 0,-1 0 0,1-1 0,0 0 0,0-1 0,10 2 0,5 0 0,0-1 0,1-1 0,-1 0 0,1-2 0,-1-1 0,0-1 0,0-1 0,0 0 0,0-2 0,0-1 0,-1-1 0,0-1 0,-1 0 0,0-2 0,33-22 0,-46 26 0,0 0 0,0 0 0,-1-1 0,0 0 0,0 0 0,-1 0 0,0-1 0,0 0 0,-1 0 0,-1-1 0,1 0 0,-1 0 0,-1 0 0,0 0 0,3-16 0,-1-11 0,-2 0 0,-1 0 0,-3-39 0,1 53 0,-1 8 0,0 0 0,-1-1 0,0 1 0,-2 0 0,1 0 0,-2 0 0,0 1 0,-1 0 0,0 0 0,-1 0 0,-12-18 0,-4 2 0,-1 1 0,-1 1 0,-42-37 0,39 44 0,-1 0 0,0 1 0,-2 2 0,0 2 0,-1 0 0,-62-20 0,41 16 0,-15 0-1365,37 14-5461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9T22:49:01.803"/>
    </inkml:context>
    <inkml:brush xml:id="br0">
      <inkml:brushProperty name="width" value="0.05" units="cm"/>
      <inkml:brushProperty name="height" value="0.05" units="cm"/>
    </inkml:brush>
  </inkml:definitions>
  <inkml:trace contextRef="#ctx0" brushRef="#br0">1 1 24575,'0'7'0,"0"9"0,0 9 0,0 8 0,0 5 0,0 3 0,0 2 0,0 0 0,0 0 0,0 0 0,0 0 0,0 0 0,0-1 0,0 0 0,0-1 0,0-6-8191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9T22:49:03.706"/>
    </inkml:context>
    <inkml:brush xml:id="br0">
      <inkml:brushProperty name="width" value="0.05" units="cm"/>
      <inkml:brushProperty name="height" value="0.05" units="cm"/>
    </inkml:brush>
  </inkml:definitions>
  <inkml:trace contextRef="#ctx0" brushRef="#br0">0 41 24575,'8'0'0,"8"0"0,10 0 0,7 0 0,5 0 0,3 0 0,2 0 0,0 0 0,1 0 0,-1 0 0,-1-7 0,1-2 0,-1 0 0,-1 2 0,1 2 0,-8 2-8191</inkml:trace>
</inkml:ink>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25A5EB1B-D756-4D02-8483-E7339741AD8E}" type="datetimeFigureOut">
              <a:rPr lang="es-GT" smtClean="0"/>
              <a:t>14/05/2025</a:t>
            </a:fld>
            <a:endParaRPr lang="es-GT"/>
          </a:p>
        </p:txBody>
      </p:sp>
      <p:sp>
        <p:nvSpPr>
          <p:cNvPr id="5" name="Footer Placeholder 4"/>
          <p:cNvSpPr>
            <a:spLocks noGrp="1"/>
          </p:cNvSpPr>
          <p:nvPr>
            <p:ph type="ftr" sz="quarter" idx="11"/>
          </p:nvPr>
        </p:nvSpPr>
        <p:spPr>
          <a:xfrm>
            <a:off x="1371600" y="4323845"/>
            <a:ext cx="6400800" cy="365125"/>
          </a:xfrm>
        </p:spPr>
        <p:txBody>
          <a:bodyPr/>
          <a:lstStyle/>
          <a:p>
            <a:endParaRPr lang="es-GT"/>
          </a:p>
        </p:txBody>
      </p:sp>
      <p:sp>
        <p:nvSpPr>
          <p:cNvPr id="6" name="Slide Number Placeholder 5"/>
          <p:cNvSpPr>
            <a:spLocks noGrp="1"/>
          </p:cNvSpPr>
          <p:nvPr>
            <p:ph type="sldNum" sz="quarter" idx="12"/>
          </p:nvPr>
        </p:nvSpPr>
        <p:spPr>
          <a:xfrm>
            <a:off x="8077200" y="1430866"/>
            <a:ext cx="2743200" cy="365125"/>
          </a:xfrm>
        </p:spPr>
        <p:txBody>
          <a:bodyPr/>
          <a:lstStyle/>
          <a:p>
            <a:fld id="{BE593C39-8583-480B-AA53-A48E526D1D8D}" type="slidenum">
              <a:rPr lang="es-GT" smtClean="0"/>
              <a:t>‹Nº›</a:t>
            </a:fld>
            <a:endParaRPr lang="es-GT"/>
          </a:p>
        </p:txBody>
      </p:sp>
    </p:spTree>
    <p:extLst>
      <p:ext uri="{BB962C8B-B14F-4D97-AF65-F5344CB8AC3E}">
        <p14:creationId xmlns:p14="http://schemas.microsoft.com/office/powerpoint/2010/main" val="3165784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5A5EB1B-D756-4D02-8483-E7339741AD8E}" type="datetimeFigureOut">
              <a:rPr lang="es-GT" smtClean="0"/>
              <a:t>14/05/2025</a:t>
            </a:fld>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fld id="{BE593C39-8583-480B-AA53-A48E526D1D8D}" type="slidenum">
              <a:rPr lang="es-GT" smtClean="0"/>
              <a:t>‹Nº›</a:t>
            </a:fld>
            <a:endParaRPr lang="es-GT"/>
          </a:p>
        </p:txBody>
      </p:sp>
    </p:spTree>
    <p:extLst>
      <p:ext uri="{BB962C8B-B14F-4D97-AF65-F5344CB8AC3E}">
        <p14:creationId xmlns:p14="http://schemas.microsoft.com/office/powerpoint/2010/main" val="3448991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25A5EB1B-D756-4D02-8483-E7339741AD8E}" type="datetimeFigureOut">
              <a:rPr lang="es-GT" smtClean="0"/>
              <a:t>14/05/2025</a:t>
            </a:fld>
            <a:endParaRPr lang="es-GT"/>
          </a:p>
        </p:txBody>
      </p:sp>
      <p:sp>
        <p:nvSpPr>
          <p:cNvPr id="5" name="Footer Placeholder 4"/>
          <p:cNvSpPr>
            <a:spLocks noGrp="1"/>
          </p:cNvSpPr>
          <p:nvPr>
            <p:ph type="ftr" sz="quarter" idx="11"/>
          </p:nvPr>
        </p:nvSpPr>
        <p:spPr>
          <a:xfrm>
            <a:off x="685800" y="381001"/>
            <a:ext cx="6991492" cy="364065"/>
          </a:xfrm>
        </p:spPr>
        <p:txBody>
          <a:bodyPr/>
          <a:lstStyle/>
          <a:p>
            <a:endParaRPr lang="es-GT"/>
          </a:p>
        </p:txBody>
      </p:sp>
      <p:sp>
        <p:nvSpPr>
          <p:cNvPr id="6" name="Slide Number Placeholder 5"/>
          <p:cNvSpPr>
            <a:spLocks noGrp="1"/>
          </p:cNvSpPr>
          <p:nvPr>
            <p:ph type="sldNum" sz="quarter" idx="12"/>
          </p:nvPr>
        </p:nvSpPr>
        <p:spPr>
          <a:xfrm>
            <a:off x="10862452" y="381000"/>
            <a:ext cx="643748" cy="365125"/>
          </a:xfrm>
        </p:spPr>
        <p:txBody>
          <a:bodyPr/>
          <a:lstStyle/>
          <a:p>
            <a:fld id="{BE593C39-8583-480B-AA53-A48E526D1D8D}" type="slidenum">
              <a:rPr lang="es-GT" smtClean="0"/>
              <a:t>‹Nº›</a:t>
            </a:fld>
            <a:endParaRPr lang="es-GT"/>
          </a:p>
        </p:txBody>
      </p:sp>
    </p:spTree>
    <p:extLst>
      <p:ext uri="{BB962C8B-B14F-4D97-AF65-F5344CB8AC3E}">
        <p14:creationId xmlns:p14="http://schemas.microsoft.com/office/powerpoint/2010/main" val="3435368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25A5EB1B-D756-4D02-8483-E7339741AD8E}" type="datetimeFigureOut">
              <a:rPr lang="es-GT" smtClean="0"/>
              <a:t>14/05/2025</a:t>
            </a:fld>
            <a:endParaRPr lang="es-GT"/>
          </a:p>
        </p:txBody>
      </p:sp>
      <p:sp>
        <p:nvSpPr>
          <p:cNvPr id="6" name="Footer Placeholder 5"/>
          <p:cNvSpPr>
            <a:spLocks noGrp="1"/>
          </p:cNvSpPr>
          <p:nvPr>
            <p:ph type="ftr" sz="quarter" idx="11"/>
          </p:nvPr>
        </p:nvSpPr>
        <p:spPr/>
        <p:txBody>
          <a:bodyPr/>
          <a:lstStyle/>
          <a:p>
            <a:endParaRPr lang="es-GT"/>
          </a:p>
        </p:txBody>
      </p:sp>
      <p:sp>
        <p:nvSpPr>
          <p:cNvPr id="7" name="Slide Number Placeholder 6"/>
          <p:cNvSpPr>
            <a:spLocks noGrp="1"/>
          </p:cNvSpPr>
          <p:nvPr>
            <p:ph type="sldNum" sz="quarter" idx="12"/>
          </p:nvPr>
        </p:nvSpPr>
        <p:spPr/>
        <p:txBody>
          <a:bodyPr/>
          <a:lstStyle/>
          <a:p>
            <a:fld id="{BE593C39-8583-480B-AA53-A48E526D1D8D}" type="slidenum">
              <a:rPr lang="es-GT" smtClean="0"/>
              <a:t>‹Nº›</a:t>
            </a:fld>
            <a:endParaRPr lang="es-GT"/>
          </a:p>
        </p:txBody>
      </p:sp>
    </p:spTree>
    <p:extLst>
      <p:ext uri="{BB962C8B-B14F-4D97-AF65-F5344CB8AC3E}">
        <p14:creationId xmlns:p14="http://schemas.microsoft.com/office/powerpoint/2010/main" val="1708359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5800" y="3132666"/>
            <a:ext cx="5311775" cy="308601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3132666"/>
            <a:ext cx="5334000" cy="308601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25A5EB1B-D756-4D02-8483-E7339741AD8E}" type="datetimeFigureOut">
              <a:rPr lang="es-GT" smtClean="0"/>
              <a:t>14/05/2025</a:t>
            </a:fld>
            <a:endParaRPr lang="es-GT"/>
          </a:p>
        </p:txBody>
      </p:sp>
      <p:sp>
        <p:nvSpPr>
          <p:cNvPr id="8" name="Footer Placeholder 7"/>
          <p:cNvSpPr>
            <a:spLocks noGrp="1"/>
          </p:cNvSpPr>
          <p:nvPr>
            <p:ph type="ftr" sz="quarter" idx="11"/>
          </p:nvPr>
        </p:nvSpPr>
        <p:spPr/>
        <p:txBody>
          <a:bodyPr/>
          <a:lstStyle/>
          <a:p>
            <a:endParaRPr lang="es-GT"/>
          </a:p>
        </p:txBody>
      </p:sp>
      <p:sp>
        <p:nvSpPr>
          <p:cNvPr id="9" name="Slide Number Placeholder 8"/>
          <p:cNvSpPr>
            <a:spLocks noGrp="1"/>
          </p:cNvSpPr>
          <p:nvPr>
            <p:ph type="sldNum" sz="quarter" idx="12"/>
          </p:nvPr>
        </p:nvSpPr>
        <p:spPr/>
        <p:txBody>
          <a:bodyPr/>
          <a:lstStyle/>
          <a:p>
            <a:fld id="{BE593C39-8583-480B-AA53-A48E526D1D8D}" type="slidenum">
              <a:rPr lang="es-GT" smtClean="0"/>
              <a:t>‹Nº›</a:t>
            </a:fld>
            <a:endParaRPr lang="es-GT"/>
          </a:p>
        </p:txBody>
      </p:sp>
    </p:spTree>
    <p:extLst>
      <p:ext uri="{BB962C8B-B14F-4D97-AF65-F5344CB8AC3E}">
        <p14:creationId xmlns:p14="http://schemas.microsoft.com/office/powerpoint/2010/main" val="1533800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25A5EB1B-D756-4D02-8483-E7339741AD8E}" type="datetimeFigureOut">
              <a:rPr lang="es-GT" smtClean="0"/>
              <a:t>14/05/2025</a:t>
            </a:fld>
            <a:endParaRPr lang="es-GT"/>
          </a:p>
        </p:txBody>
      </p:sp>
      <p:sp>
        <p:nvSpPr>
          <p:cNvPr id="4" name="Footer Placeholder 3"/>
          <p:cNvSpPr>
            <a:spLocks noGrp="1"/>
          </p:cNvSpPr>
          <p:nvPr>
            <p:ph type="ftr" sz="quarter" idx="11"/>
          </p:nvPr>
        </p:nvSpPr>
        <p:spPr/>
        <p:txBody>
          <a:bodyPr/>
          <a:lstStyle/>
          <a:p>
            <a:endParaRPr lang="es-GT"/>
          </a:p>
        </p:txBody>
      </p:sp>
      <p:sp>
        <p:nvSpPr>
          <p:cNvPr id="5" name="Slide Number Placeholder 4"/>
          <p:cNvSpPr>
            <a:spLocks noGrp="1"/>
          </p:cNvSpPr>
          <p:nvPr>
            <p:ph type="sldNum" sz="quarter" idx="12"/>
          </p:nvPr>
        </p:nvSpPr>
        <p:spPr/>
        <p:txBody>
          <a:bodyPr/>
          <a:lstStyle/>
          <a:p>
            <a:fld id="{BE593C39-8583-480B-AA53-A48E526D1D8D}" type="slidenum">
              <a:rPr lang="es-GT" smtClean="0"/>
              <a:t>‹Nº›</a:t>
            </a:fld>
            <a:endParaRPr lang="es-GT"/>
          </a:p>
        </p:txBody>
      </p:sp>
    </p:spTree>
    <p:extLst>
      <p:ext uri="{BB962C8B-B14F-4D97-AF65-F5344CB8AC3E}">
        <p14:creationId xmlns:p14="http://schemas.microsoft.com/office/powerpoint/2010/main" val="3854637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A5EB1B-D756-4D02-8483-E7339741AD8E}" type="datetimeFigureOut">
              <a:rPr lang="es-GT" smtClean="0"/>
              <a:t>14/05/2025</a:t>
            </a:fld>
            <a:endParaRPr lang="es-GT"/>
          </a:p>
        </p:txBody>
      </p:sp>
      <p:sp>
        <p:nvSpPr>
          <p:cNvPr id="3" name="Footer Placeholder 2"/>
          <p:cNvSpPr>
            <a:spLocks noGrp="1"/>
          </p:cNvSpPr>
          <p:nvPr>
            <p:ph type="ftr" sz="quarter" idx="11"/>
          </p:nvPr>
        </p:nvSpPr>
        <p:spPr/>
        <p:txBody>
          <a:bodyPr/>
          <a:lstStyle/>
          <a:p>
            <a:endParaRPr lang="es-GT"/>
          </a:p>
        </p:txBody>
      </p:sp>
      <p:sp>
        <p:nvSpPr>
          <p:cNvPr id="4" name="Slide Number Placeholder 3"/>
          <p:cNvSpPr>
            <a:spLocks noGrp="1"/>
          </p:cNvSpPr>
          <p:nvPr>
            <p:ph type="sldNum" sz="quarter" idx="12"/>
          </p:nvPr>
        </p:nvSpPr>
        <p:spPr/>
        <p:txBody>
          <a:bodyPr/>
          <a:lstStyle/>
          <a:p>
            <a:fld id="{BE593C39-8583-480B-AA53-A48E526D1D8D}" type="slidenum">
              <a:rPr lang="es-GT" smtClean="0"/>
              <a:t>‹Nº›</a:t>
            </a:fld>
            <a:endParaRPr lang="es-GT"/>
          </a:p>
        </p:txBody>
      </p:sp>
    </p:spTree>
    <p:extLst>
      <p:ext uri="{BB962C8B-B14F-4D97-AF65-F5344CB8AC3E}">
        <p14:creationId xmlns:p14="http://schemas.microsoft.com/office/powerpoint/2010/main" val="3389435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5A5EB1B-D756-4D02-8483-E7339741AD8E}" type="datetimeFigureOut">
              <a:rPr lang="es-GT" smtClean="0"/>
              <a:t>14/05/2025</a:t>
            </a:fld>
            <a:endParaRPr lang="es-GT"/>
          </a:p>
        </p:txBody>
      </p:sp>
      <p:sp>
        <p:nvSpPr>
          <p:cNvPr id="6" name="Footer Placeholder 5"/>
          <p:cNvSpPr>
            <a:spLocks noGrp="1"/>
          </p:cNvSpPr>
          <p:nvPr>
            <p:ph type="ftr" sz="quarter" idx="11"/>
          </p:nvPr>
        </p:nvSpPr>
        <p:spPr/>
        <p:txBody>
          <a:bodyPr/>
          <a:lstStyle/>
          <a:p>
            <a:endParaRPr lang="es-GT"/>
          </a:p>
        </p:txBody>
      </p:sp>
      <p:sp>
        <p:nvSpPr>
          <p:cNvPr id="7" name="Slide Number Placeholder 6"/>
          <p:cNvSpPr>
            <a:spLocks noGrp="1"/>
          </p:cNvSpPr>
          <p:nvPr>
            <p:ph type="sldNum" sz="quarter" idx="12"/>
          </p:nvPr>
        </p:nvSpPr>
        <p:spPr/>
        <p:txBody>
          <a:bodyPr/>
          <a:lstStyle/>
          <a:p>
            <a:fld id="{BE593C39-8583-480B-AA53-A48E526D1D8D}" type="slidenum">
              <a:rPr lang="es-GT" smtClean="0"/>
              <a:t>‹Nº›</a:t>
            </a:fld>
            <a:endParaRPr lang="es-GT"/>
          </a:p>
        </p:txBody>
      </p:sp>
    </p:spTree>
    <p:extLst>
      <p:ext uri="{BB962C8B-B14F-4D97-AF65-F5344CB8AC3E}">
        <p14:creationId xmlns:p14="http://schemas.microsoft.com/office/powerpoint/2010/main" val="2461875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5A5EB1B-D756-4D02-8483-E7339741AD8E}" type="datetimeFigureOut">
              <a:rPr lang="es-GT" smtClean="0"/>
              <a:t>14/05/2025</a:t>
            </a:fld>
            <a:endParaRPr lang="es-GT"/>
          </a:p>
        </p:txBody>
      </p:sp>
      <p:sp>
        <p:nvSpPr>
          <p:cNvPr id="6" name="Footer Placeholder 5"/>
          <p:cNvSpPr>
            <a:spLocks noGrp="1"/>
          </p:cNvSpPr>
          <p:nvPr>
            <p:ph type="ftr" sz="quarter" idx="11"/>
          </p:nvPr>
        </p:nvSpPr>
        <p:spPr/>
        <p:txBody>
          <a:bodyPr/>
          <a:lstStyle/>
          <a:p>
            <a:endParaRPr lang="es-GT"/>
          </a:p>
        </p:txBody>
      </p:sp>
      <p:sp>
        <p:nvSpPr>
          <p:cNvPr id="7" name="Slide Number Placeholder 6"/>
          <p:cNvSpPr>
            <a:spLocks noGrp="1"/>
          </p:cNvSpPr>
          <p:nvPr>
            <p:ph type="sldNum" sz="quarter" idx="12"/>
          </p:nvPr>
        </p:nvSpPr>
        <p:spPr/>
        <p:txBody>
          <a:bodyPr/>
          <a:lstStyle/>
          <a:p>
            <a:fld id="{BE593C39-8583-480B-AA53-A48E526D1D8D}" type="slidenum">
              <a:rPr lang="es-GT" smtClean="0"/>
              <a:t>‹Nº›</a:t>
            </a:fld>
            <a:endParaRPr lang="es-GT"/>
          </a:p>
        </p:txBody>
      </p:sp>
    </p:spTree>
    <p:extLst>
      <p:ext uri="{BB962C8B-B14F-4D97-AF65-F5344CB8AC3E}">
        <p14:creationId xmlns:p14="http://schemas.microsoft.com/office/powerpoint/2010/main" val="22852423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5A5EB1B-D756-4D02-8483-E7339741AD8E}" type="datetimeFigureOut">
              <a:rPr lang="es-GT" smtClean="0"/>
              <a:t>14/05/2025</a:t>
            </a:fld>
            <a:endParaRPr lang="es-GT"/>
          </a:p>
        </p:txBody>
      </p:sp>
      <p:sp>
        <p:nvSpPr>
          <p:cNvPr id="6" name="Footer Placeholder 5"/>
          <p:cNvSpPr>
            <a:spLocks noGrp="1"/>
          </p:cNvSpPr>
          <p:nvPr>
            <p:ph type="ftr" sz="quarter" idx="11"/>
          </p:nvPr>
        </p:nvSpPr>
        <p:spPr/>
        <p:txBody>
          <a:bodyPr/>
          <a:lstStyle/>
          <a:p>
            <a:endParaRPr lang="es-GT"/>
          </a:p>
        </p:txBody>
      </p:sp>
      <p:sp>
        <p:nvSpPr>
          <p:cNvPr id="7" name="Slide Number Placeholder 6"/>
          <p:cNvSpPr>
            <a:spLocks noGrp="1"/>
          </p:cNvSpPr>
          <p:nvPr>
            <p:ph type="sldNum" sz="quarter" idx="12"/>
          </p:nvPr>
        </p:nvSpPr>
        <p:spPr/>
        <p:txBody>
          <a:bodyPr/>
          <a:lstStyle/>
          <a:p>
            <a:fld id="{BE593C39-8583-480B-AA53-A48E526D1D8D}" type="slidenum">
              <a:rPr lang="es-GT" smtClean="0"/>
              <a:t>‹Nº›</a:t>
            </a:fld>
            <a:endParaRPr lang="es-GT"/>
          </a:p>
        </p:txBody>
      </p:sp>
    </p:spTree>
    <p:extLst>
      <p:ext uri="{BB962C8B-B14F-4D97-AF65-F5344CB8AC3E}">
        <p14:creationId xmlns:p14="http://schemas.microsoft.com/office/powerpoint/2010/main" val="192433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ítulo y descripció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25A5EB1B-D756-4D02-8483-E7339741AD8E}" type="datetimeFigureOut">
              <a:rPr lang="es-GT" smtClean="0"/>
              <a:t>14/05/2025</a:t>
            </a:fld>
            <a:endParaRPr lang="es-GT"/>
          </a:p>
        </p:txBody>
      </p:sp>
      <p:sp>
        <p:nvSpPr>
          <p:cNvPr id="6" name="Footer Placeholder 5"/>
          <p:cNvSpPr>
            <a:spLocks noGrp="1"/>
          </p:cNvSpPr>
          <p:nvPr>
            <p:ph type="ftr" sz="quarter" idx="11"/>
          </p:nvPr>
        </p:nvSpPr>
        <p:spPr>
          <a:xfrm>
            <a:off x="685800" y="379941"/>
            <a:ext cx="6991492" cy="365125"/>
          </a:xfrm>
        </p:spPr>
        <p:txBody>
          <a:bodyPr/>
          <a:lstStyle/>
          <a:p>
            <a:endParaRPr lang="es-GT"/>
          </a:p>
        </p:txBody>
      </p:sp>
      <p:sp>
        <p:nvSpPr>
          <p:cNvPr id="7" name="Slide Number Placeholder 6"/>
          <p:cNvSpPr>
            <a:spLocks noGrp="1"/>
          </p:cNvSpPr>
          <p:nvPr>
            <p:ph type="sldNum" sz="quarter" idx="12"/>
          </p:nvPr>
        </p:nvSpPr>
        <p:spPr>
          <a:xfrm>
            <a:off x="10862452" y="381000"/>
            <a:ext cx="643748" cy="365125"/>
          </a:xfrm>
        </p:spPr>
        <p:txBody>
          <a:bodyPr/>
          <a:lstStyle/>
          <a:p>
            <a:fld id="{BE593C39-8583-480B-AA53-A48E526D1D8D}" type="slidenum">
              <a:rPr lang="es-GT" smtClean="0"/>
              <a:t>‹Nº›</a:t>
            </a:fld>
            <a:endParaRPr lang="es-GT"/>
          </a:p>
        </p:txBody>
      </p:sp>
    </p:spTree>
    <p:extLst>
      <p:ext uri="{BB962C8B-B14F-4D97-AF65-F5344CB8AC3E}">
        <p14:creationId xmlns:p14="http://schemas.microsoft.com/office/powerpoint/2010/main" val="2047316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 con descripció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25A5EB1B-D756-4D02-8483-E7339741AD8E}" type="datetimeFigureOut">
              <a:rPr lang="es-GT" smtClean="0"/>
              <a:t>14/05/2025</a:t>
            </a:fld>
            <a:endParaRPr lang="es-GT"/>
          </a:p>
        </p:txBody>
      </p:sp>
      <p:sp>
        <p:nvSpPr>
          <p:cNvPr id="6" name="Footer Placeholder 5"/>
          <p:cNvSpPr>
            <a:spLocks noGrp="1"/>
          </p:cNvSpPr>
          <p:nvPr>
            <p:ph type="ftr" sz="quarter" idx="11"/>
          </p:nvPr>
        </p:nvSpPr>
        <p:spPr>
          <a:xfrm>
            <a:off x="685800" y="379941"/>
            <a:ext cx="6991492" cy="365125"/>
          </a:xfrm>
        </p:spPr>
        <p:txBody>
          <a:bodyPr/>
          <a:lstStyle/>
          <a:p>
            <a:endParaRPr lang="es-GT"/>
          </a:p>
        </p:txBody>
      </p:sp>
      <p:sp>
        <p:nvSpPr>
          <p:cNvPr id="7" name="Slide Number Placeholder 6"/>
          <p:cNvSpPr>
            <a:spLocks noGrp="1"/>
          </p:cNvSpPr>
          <p:nvPr>
            <p:ph type="sldNum" sz="quarter" idx="12"/>
          </p:nvPr>
        </p:nvSpPr>
        <p:spPr>
          <a:xfrm>
            <a:off x="10862452" y="381000"/>
            <a:ext cx="643748" cy="365125"/>
          </a:xfrm>
        </p:spPr>
        <p:txBody>
          <a:bodyPr/>
          <a:lstStyle/>
          <a:p>
            <a:fld id="{BE593C39-8583-480B-AA53-A48E526D1D8D}" type="slidenum">
              <a:rPr lang="es-GT" smtClean="0"/>
              <a:t>‹Nº›</a:t>
            </a:fld>
            <a:endParaRPr lang="es-GT"/>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7916458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arjeta de nombr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25A5EB1B-D756-4D02-8483-E7339741AD8E}" type="datetimeFigureOut">
              <a:rPr lang="es-GT" smtClean="0"/>
              <a:t>14/05/2025</a:t>
            </a:fld>
            <a:endParaRPr lang="es-GT"/>
          </a:p>
        </p:txBody>
      </p:sp>
      <p:sp>
        <p:nvSpPr>
          <p:cNvPr id="6" name="Footer Placeholder 5"/>
          <p:cNvSpPr>
            <a:spLocks noGrp="1"/>
          </p:cNvSpPr>
          <p:nvPr>
            <p:ph type="ftr" sz="quarter" idx="11"/>
          </p:nvPr>
        </p:nvSpPr>
        <p:spPr>
          <a:xfrm>
            <a:off x="685800" y="378883"/>
            <a:ext cx="6991492" cy="365125"/>
          </a:xfrm>
        </p:spPr>
        <p:txBody>
          <a:bodyPr/>
          <a:lstStyle/>
          <a:p>
            <a:endParaRPr lang="es-GT"/>
          </a:p>
        </p:txBody>
      </p:sp>
      <p:sp>
        <p:nvSpPr>
          <p:cNvPr id="7" name="Slide Number Placeholder 6"/>
          <p:cNvSpPr>
            <a:spLocks noGrp="1"/>
          </p:cNvSpPr>
          <p:nvPr>
            <p:ph type="sldNum" sz="quarter" idx="12"/>
          </p:nvPr>
        </p:nvSpPr>
        <p:spPr>
          <a:xfrm>
            <a:off x="10862452" y="381000"/>
            <a:ext cx="643748" cy="365125"/>
          </a:xfrm>
        </p:spPr>
        <p:txBody>
          <a:bodyPr/>
          <a:lstStyle/>
          <a:p>
            <a:fld id="{BE593C39-8583-480B-AA53-A48E526D1D8D}" type="slidenum">
              <a:rPr lang="es-GT" smtClean="0"/>
              <a:t>‹Nº›</a:t>
            </a:fld>
            <a:endParaRPr lang="es-GT"/>
          </a:p>
        </p:txBody>
      </p:sp>
    </p:spTree>
    <p:extLst>
      <p:ext uri="{BB962C8B-B14F-4D97-AF65-F5344CB8AC3E}">
        <p14:creationId xmlns:p14="http://schemas.microsoft.com/office/powerpoint/2010/main" val="2015912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25A5EB1B-D756-4D02-8483-E7339741AD8E}" type="datetimeFigureOut">
              <a:rPr lang="es-GT" smtClean="0"/>
              <a:t>14/05/2025</a:t>
            </a:fld>
            <a:endParaRPr lang="es-GT"/>
          </a:p>
        </p:txBody>
      </p:sp>
      <p:sp>
        <p:nvSpPr>
          <p:cNvPr id="4" name="Footer Placeholder 3"/>
          <p:cNvSpPr>
            <a:spLocks noGrp="1"/>
          </p:cNvSpPr>
          <p:nvPr>
            <p:ph type="ftr" sz="quarter" idx="11"/>
          </p:nvPr>
        </p:nvSpPr>
        <p:spPr/>
        <p:txBody>
          <a:bodyPr/>
          <a:lstStyle/>
          <a:p>
            <a:endParaRPr lang="es-GT"/>
          </a:p>
        </p:txBody>
      </p:sp>
      <p:sp>
        <p:nvSpPr>
          <p:cNvPr id="5" name="Slide Number Placeholder 4"/>
          <p:cNvSpPr>
            <a:spLocks noGrp="1"/>
          </p:cNvSpPr>
          <p:nvPr>
            <p:ph type="sldNum" sz="quarter" idx="12"/>
          </p:nvPr>
        </p:nvSpPr>
        <p:spPr/>
        <p:txBody>
          <a:bodyPr/>
          <a:lstStyle/>
          <a:p>
            <a:fld id="{BE593C39-8583-480B-AA53-A48E526D1D8D}" type="slidenum">
              <a:rPr lang="es-GT" smtClean="0"/>
              <a:t>‹Nº›</a:t>
            </a:fld>
            <a:endParaRPr lang="es-GT"/>
          </a:p>
        </p:txBody>
      </p:sp>
    </p:spTree>
    <p:extLst>
      <p:ext uri="{BB962C8B-B14F-4D97-AF65-F5344CB8AC3E}">
        <p14:creationId xmlns:p14="http://schemas.microsoft.com/office/powerpoint/2010/main" val="3265318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25A5EB1B-D756-4D02-8483-E7339741AD8E}" type="datetimeFigureOut">
              <a:rPr lang="es-GT" smtClean="0"/>
              <a:t>14/05/2025</a:t>
            </a:fld>
            <a:endParaRPr lang="es-GT"/>
          </a:p>
        </p:txBody>
      </p:sp>
      <p:sp>
        <p:nvSpPr>
          <p:cNvPr id="4" name="Footer Placeholder 3"/>
          <p:cNvSpPr>
            <a:spLocks noGrp="1"/>
          </p:cNvSpPr>
          <p:nvPr>
            <p:ph type="ftr" sz="quarter" idx="11"/>
          </p:nvPr>
        </p:nvSpPr>
        <p:spPr/>
        <p:txBody>
          <a:bodyPr/>
          <a:lstStyle/>
          <a:p>
            <a:endParaRPr lang="es-GT"/>
          </a:p>
        </p:txBody>
      </p:sp>
      <p:sp>
        <p:nvSpPr>
          <p:cNvPr id="5" name="Slide Number Placeholder 4"/>
          <p:cNvSpPr>
            <a:spLocks noGrp="1"/>
          </p:cNvSpPr>
          <p:nvPr>
            <p:ph type="sldNum" sz="quarter" idx="12"/>
          </p:nvPr>
        </p:nvSpPr>
        <p:spPr/>
        <p:txBody>
          <a:bodyPr/>
          <a:lstStyle/>
          <a:p>
            <a:fld id="{BE593C39-8583-480B-AA53-A48E526D1D8D}" type="slidenum">
              <a:rPr lang="es-GT" smtClean="0"/>
              <a:t>‹Nº›</a:t>
            </a:fld>
            <a:endParaRPr lang="es-GT"/>
          </a:p>
        </p:txBody>
      </p:sp>
    </p:spTree>
    <p:extLst>
      <p:ext uri="{BB962C8B-B14F-4D97-AF65-F5344CB8AC3E}">
        <p14:creationId xmlns:p14="http://schemas.microsoft.com/office/powerpoint/2010/main" val="14988704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5A5EB1B-D756-4D02-8483-E7339741AD8E}" type="datetimeFigureOut">
              <a:rPr lang="es-GT" smtClean="0"/>
              <a:t>14/05/2025</a:t>
            </a:fld>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fld id="{BE593C39-8583-480B-AA53-A48E526D1D8D}" type="slidenum">
              <a:rPr lang="es-GT" smtClean="0"/>
              <a:t>‹Nº›</a:t>
            </a:fld>
            <a:endParaRPr lang="es-GT"/>
          </a:p>
        </p:txBody>
      </p:sp>
    </p:spTree>
    <p:extLst>
      <p:ext uri="{BB962C8B-B14F-4D97-AF65-F5344CB8AC3E}">
        <p14:creationId xmlns:p14="http://schemas.microsoft.com/office/powerpoint/2010/main" val="40640615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25A5EB1B-D756-4D02-8483-E7339741AD8E}" type="datetimeFigureOut">
              <a:rPr lang="es-GT" smtClean="0"/>
              <a:t>14/05/2025</a:t>
            </a:fld>
            <a:endParaRPr lang="es-GT"/>
          </a:p>
        </p:txBody>
      </p:sp>
      <p:sp>
        <p:nvSpPr>
          <p:cNvPr id="5" name="Footer Placeholder 4"/>
          <p:cNvSpPr>
            <a:spLocks noGrp="1"/>
          </p:cNvSpPr>
          <p:nvPr>
            <p:ph type="ftr" sz="quarter" idx="11"/>
          </p:nvPr>
        </p:nvSpPr>
        <p:spPr>
          <a:xfrm>
            <a:off x="685800" y="381000"/>
            <a:ext cx="6991492" cy="365125"/>
          </a:xfrm>
        </p:spPr>
        <p:txBody>
          <a:bodyPr/>
          <a:lstStyle/>
          <a:p>
            <a:endParaRPr lang="es-GT"/>
          </a:p>
        </p:txBody>
      </p:sp>
      <p:sp>
        <p:nvSpPr>
          <p:cNvPr id="6" name="Slide Number Placeholder 5"/>
          <p:cNvSpPr>
            <a:spLocks noGrp="1"/>
          </p:cNvSpPr>
          <p:nvPr>
            <p:ph type="sldNum" sz="quarter" idx="12"/>
          </p:nvPr>
        </p:nvSpPr>
        <p:spPr>
          <a:xfrm>
            <a:off x="10862452" y="381000"/>
            <a:ext cx="643748" cy="365125"/>
          </a:xfrm>
        </p:spPr>
        <p:txBody>
          <a:bodyPr/>
          <a:lstStyle/>
          <a:p>
            <a:fld id="{BE593C39-8583-480B-AA53-A48E526D1D8D}" type="slidenum">
              <a:rPr lang="es-GT" smtClean="0"/>
              <a:t>‹Nº›</a:t>
            </a:fld>
            <a:endParaRPr lang="es-GT"/>
          </a:p>
        </p:txBody>
      </p:sp>
    </p:spTree>
    <p:extLst>
      <p:ext uri="{BB962C8B-B14F-4D97-AF65-F5344CB8AC3E}">
        <p14:creationId xmlns:p14="http://schemas.microsoft.com/office/powerpoint/2010/main" val="1807460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5A5EB1B-D756-4D02-8483-E7339741AD8E}" type="datetimeFigureOut">
              <a:rPr lang="es-GT" smtClean="0"/>
              <a:t>14/05/2025</a:t>
            </a:fld>
            <a:endParaRPr lang="es-GT"/>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s-GT"/>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E593C39-8583-480B-AA53-A48E526D1D8D}" type="slidenum">
              <a:rPr lang="es-GT" smtClean="0"/>
              <a:t>‹Nº›</a:t>
            </a:fld>
            <a:endParaRPr lang="es-GT"/>
          </a:p>
        </p:txBody>
      </p:sp>
    </p:spTree>
    <p:extLst>
      <p:ext uri="{BB962C8B-B14F-4D97-AF65-F5344CB8AC3E}">
        <p14:creationId xmlns:p14="http://schemas.microsoft.com/office/powerpoint/2010/main" val="2611171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customXml" Target="../ink/ink9.xml"/><Relationship Id="rId13"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customXml" Target="../ink/ink11.xml"/><Relationship Id="rId2" Type="http://schemas.openxmlformats.org/officeDocument/2006/relationships/customXml" Target="../ink/ink6.xml"/><Relationship Id="rId1" Type="http://schemas.openxmlformats.org/officeDocument/2006/relationships/slideLayout" Target="../slideLayouts/slideLayout2.xml"/><Relationship Id="rId6" Type="http://schemas.openxmlformats.org/officeDocument/2006/relationships/customXml" Target="../ink/ink8.xml"/><Relationship Id="rId11" Type="http://schemas.openxmlformats.org/officeDocument/2006/relationships/image" Target="../media/image13.png"/><Relationship Id="rId5" Type="http://schemas.openxmlformats.org/officeDocument/2006/relationships/image" Target="../media/image10.png"/><Relationship Id="rId15" Type="http://schemas.openxmlformats.org/officeDocument/2006/relationships/image" Target="../media/image15.png"/><Relationship Id="rId10" Type="http://schemas.openxmlformats.org/officeDocument/2006/relationships/customXml" Target="../ink/ink10.xml"/><Relationship Id="rId4" Type="http://schemas.openxmlformats.org/officeDocument/2006/relationships/customXml" Target="../ink/ink7.xml"/><Relationship Id="rId9" Type="http://schemas.openxmlformats.org/officeDocument/2006/relationships/image" Target="../media/image12.png"/><Relationship Id="rId14" Type="http://schemas.openxmlformats.org/officeDocument/2006/relationships/customXml" Target="../ink/ink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Dinero y pasaporte">
            <a:extLst>
              <a:ext uri="{FF2B5EF4-FFF2-40B4-BE49-F238E27FC236}">
                <a16:creationId xmlns:a16="http://schemas.microsoft.com/office/drawing/2014/main" id="{17711CEF-EB97-899A-9965-EBC1EA38D09B}"/>
              </a:ext>
            </a:extLst>
          </p:cNvPr>
          <p:cNvPicPr>
            <a:picLocks noChangeAspect="1"/>
          </p:cNvPicPr>
          <p:nvPr/>
        </p:nvPicPr>
        <p:blipFill rotWithShape="1">
          <a:blip r:embed="rId2">
            <a:alphaModFix amt="40000"/>
          </a:blip>
          <a:srcRect l="5333"/>
          <a:stretch/>
        </p:blipFill>
        <p:spPr>
          <a:xfrm>
            <a:off x="20" y="10"/>
            <a:ext cx="12191980" cy="6857990"/>
          </a:xfrm>
          <a:prstGeom prst="rect">
            <a:avLst/>
          </a:prstGeom>
        </p:spPr>
      </p:pic>
      <p:sp>
        <p:nvSpPr>
          <p:cNvPr id="2" name="Título 1">
            <a:extLst>
              <a:ext uri="{FF2B5EF4-FFF2-40B4-BE49-F238E27FC236}">
                <a16:creationId xmlns:a16="http://schemas.microsoft.com/office/drawing/2014/main" id="{9EDB2DC9-42E5-7941-46B9-968C9CEF2DFB}"/>
              </a:ext>
            </a:extLst>
          </p:cNvPr>
          <p:cNvSpPr>
            <a:spLocks noGrp="1"/>
          </p:cNvSpPr>
          <p:nvPr>
            <p:ph type="ctrTitle"/>
          </p:nvPr>
        </p:nvSpPr>
        <p:spPr>
          <a:xfrm>
            <a:off x="1371600" y="3014139"/>
            <a:ext cx="9448800" cy="1825096"/>
          </a:xfrm>
        </p:spPr>
        <p:txBody>
          <a:bodyPr>
            <a:normAutofit/>
          </a:bodyPr>
          <a:lstStyle/>
          <a:p>
            <a:r>
              <a:rPr lang="es-ES" dirty="0"/>
              <a:t>El Costo de Capital</a:t>
            </a:r>
            <a:endParaRPr lang="es-GT" dirty="0"/>
          </a:p>
        </p:txBody>
      </p:sp>
    </p:spTree>
    <p:extLst>
      <p:ext uri="{BB962C8B-B14F-4D97-AF65-F5344CB8AC3E}">
        <p14:creationId xmlns:p14="http://schemas.microsoft.com/office/powerpoint/2010/main" val="3315071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6A3F16E-CC60-4737-8CBB-9568A351D3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DABE73-66EA-42B0-AB0A-9FB1C0AD7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06393"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12" name="Picture 11">
            <a:extLst>
              <a:ext uri="{FF2B5EF4-FFF2-40B4-BE49-F238E27FC236}">
                <a16:creationId xmlns:a16="http://schemas.microsoft.com/office/drawing/2014/main" id="{336C8DBA-D7B5-4A9A-845B-43FBEA62A9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43730"/>
          <a:stretch/>
        </p:blipFill>
        <p:spPr>
          <a:xfrm rot="16200000">
            <a:off x="-1266906" y="2188762"/>
            <a:ext cx="6860373" cy="2482850"/>
          </a:xfrm>
          <a:prstGeom prst="rect">
            <a:avLst/>
          </a:prstGeom>
        </p:spPr>
      </p:pic>
      <p:sp>
        <p:nvSpPr>
          <p:cNvPr id="3" name="Marcador de contenido 2">
            <a:extLst>
              <a:ext uri="{FF2B5EF4-FFF2-40B4-BE49-F238E27FC236}">
                <a16:creationId xmlns:a16="http://schemas.microsoft.com/office/drawing/2014/main" id="{AE96B9A6-FCC1-A042-B2D8-703AFC495A0F}"/>
              </a:ext>
            </a:extLst>
          </p:cNvPr>
          <p:cNvSpPr>
            <a:spLocks noGrp="1"/>
          </p:cNvSpPr>
          <p:nvPr>
            <p:ph idx="1"/>
          </p:nvPr>
        </p:nvSpPr>
        <p:spPr>
          <a:xfrm>
            <a:off x="4090507" y="1349116"/>
            <a:ext cx="7454077" cy="4869570"/>
          </a:xfrm>
        </p:spPr>
        <p:txBody>
          <a:bodyPr>
            <a:normAutofit/>
          </a:bodyPr>
          <a:lstStyle/>
          <a:p>
            <a:pPr marL="0" indent="0" algn="just">
              <a:buNone/>
            </a:pPr>
            <a:r>
              <a:rPr lang="es-ES" sz="3600" b="1" dirty="0"/>
              <a:t>Se usa para seleccionar las inversiones de capital que aumenten el valor para los accionistas. Al aplicar las técnicas de VPN y la TIR, solo asumimos un costo de capital razonable. Existen más herramientas.</a:t>
            </a:r>
            <a:endParaRPr lang="es-GT" sz="3600" b="1" dirty="0"/>
          </a:p>
        </p:txBody>
      </p:sp>
    </p:spTree>
    <p:extLst>
      <p:ext uri="{BB962C8B-B14F-4D97-AF65-F5344CB8AC3E}">
        <p14:creationId xmlns:p14="http://schemas.microsoft.com/office/powerpoint/2010/main" val="4249723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7CA2D6-BFC6-3831-CDFC-AC124698BD9B}"/>
              </a:ext>
            </a:extLst>
          </p:cNvPr>
          <p:cNvSpPr>
            <a:spLocks noGrp="1"/>
          </p:cNvSpPr>
          <p:nvPr>
            <p:ph type="title"/>
          </p:nvPr>
        </p:nvSpPr>
        <p:spPr/>
        <p:txBody>
          <a:bodyPr/>
          <a:lstStyle/>
          <a:p>
            <a:r>
              <a:rPr lang="es-ES" b="1" dirty="0"/>
              <a:t>El costo Promedio Ponderado de Capital</a:t>
            </a:r>
            <a:endParaRPr lang="es-GT" b="1" dirty="0"/>
          </a:p>
        </p:txBody>
      </p:sp>
      <p:sp>
        <p:nvSpPr>
          <p:cNvPr id="3" name="Marcador de contenido 2">
            <a:extLst>
              <a:ext uri="{FF2B5EF4-FFF2-40B4-BE49-F238E27FC236}">
                <a16:creationId xmlns:a16="http://schemas.microsoft.com/office/drawing/2014/main" id="{F8BAE69F-1010-08AB-CAA0-21DCC734BF44}"/>
              </a:ext>
            </a:extLst>
          </p:cNvPr>
          <p:cNvSpPr>
            <a:spLocks noGrp="1"/>
          </p:cNvSpPr>
          <p:nvPr>
            <p:ph idx="1"/>
          </p:nvPr>
        </p:nvSpPr>
        <p:spPr/>
        <p:txBody>
          <a:bodyPr>
            <a:normAutofit/>
          </a:bodyPr>
          <a:lstStyle/>
          <a:p>
            <a:pPr marL="0" indent="0" algn="just">
              <a:buNone/>
            </a:pPr>
            <a:r>
              <a:rPr lang="es-ES" sz="3600" b="1" dirty="0"/>
              <a:t>El CCPP (costo de capital promedio ponderado) refleja el costo futuro promedio esperado de los fondos a largo plazo. Se calcula ponderando el costo de cada tipo específico de capital por su proporción en la estructura del capital de la empresa.</a:t>
            </a:r>
            <a:endParaRPr lang="es-GT" sz="3600" b="1" dirty="0"/>
          </a:p>
        </p:txBody>
      </p:sp>
    </p:spTree>
    <p:extLst>
      <p:ext uri="{BB962C8B-B14F-4D97-AF65-F5344CB8AC3E}">
        <p14:creationId xmlns:p14="http://schemas.microsoft.com/office/powerpoint/2010/main" val="1495402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893E5E-B0C4-C92F-C66C-0E93F10E08E9}"/>
              </a:ext>
            </a:extLst>
          </p:cNvPr>
          <p:cNvSpPr>
            <a:spLocks noGrp="1"/>
          </p:cNvSpPr>
          <p:nvPr>
            <p:ph type="title"/>
          </p:nvPr>
        </p:nvSpPr>
        <p:spPr/>
        <p:txBody>
          <a:bodyPr/>
          <a:lstStyle/>
          <a:p>
            <a:r>
              <a:rPr lang="es-ES" dirty="0"/>
              <a:t>Cálculo del Costo de Capital Promedio ponderado (CCPP)</a:t>
            </a:r>
            <a:endParaRPr lang="es-GT" dirty="0"/>
          </a:p>
        </p:txBody>
      </p:sp>
      <p:sp>
        <p:nvSpPr>
          <p:cNvPr id="3" name="Marcador de contenido 2">
            <a:extLst>
              <a:ext uri="{FF2B5EF4-FFF2-40B4-BE49-F238E27FC236}">
                <a16:creationId xmlns:a16="http://schemas.microsoft.com/office/drawing/2014/main" id="{BB0D59C5-777E-AF6F-3B90-A771F8D28EBB}"/>
              </a:ext>
            </a:extLst>
          </p:cNvPr>
          <p:cNvSpPr>
            <a:spLocks noGrp="1"/>
          </p:cNvSpPr>
          <p:nvPr>
            <p:ph idx="1"/>
          </p:nvPr>
        </p:nvSpPr>
        <p:spPr/>
        <p:txBody>
          <a:bodyPr>
            <a:noAutofit/>
          </a:bodyPr>
          <a:lstStyle/>
          <a:p>
            <a:pPr marL="0" indent="0" algn="just">
              <a:buNone/>
            </a:pPr>
            <a:r>
              <a:rPr lang="es-ES" sz="3000" b="1" dirty="0"/>
              <a:t>Es sencillo: se multiplica el costo específico de cada forma de financiamiento por su proporción en la estructura de capital de la empresa, y se suman los valores ponderados. El costo de capital promedio ponderado, </a:t>
            </a:r>
            <a:r>
              <a:rPr lang="es-ES" sz="3000" b="1" dirty="0" err="1"/>
              <a:t>k</a:t>
            </a:r>
            <a:r>
              <a:rPr lang="es-ES" sz="3000" b="1" baseline="-25000" dirty="0" err="1"/>
              <a:t>a</a:t>
            </a:r>
            <a:r>
              <a:rPr lang="es-ES" sz="3000" b="1" dirty="0"/>
              <a:t>, se expresa como una ecuación de la manera siguiente:</a:t>
            </a:r>
          </a:p>
          <a:p>
            <a:pPr marL="0" indent="0" algn="ctr">
              <a:buNone/>
            </a:pPr>
            <a:r>
              <a:rPr lang="es-ES" sz="3000" b="1" dirty="0" err="1"/>
              <a:t>k</a:t>
            </a:r>
            <a:r>
              <a:rPr lang="es-ES" sz="3000" b="1" baseline="-25000" dirty="0" err="1"/>
              <a:t>a</a:t>
            </a:r>
            <a:r>
              <a:rPr lang="es-ES" sz="3000" b="1" dirty="0"/>
              <a:t> = (</a:t>
            </a:r>
            <a:r>
              <a:rPr lang="es-ES" sz="3000" b="1" dirty="0" err="1"/>
              <a:t>w</a:t>
            </a:r>
            <a:r>
              <a:rPr lang="es-ES" sz="3000" b="1" baseline="-25000" dirty="0" err="1"/>
              <a:t>i</a:t>
            </a:r>
            <a:r>
              <a:rPr lang="es-ES" sz="3000" b="1" dirty="0"/>
              <a:t> x </a:t>
            </a:r>
            <a:r>
              <a:rPr lang="es-ES" sz="3000" b="1" dirty="0" err="1"/>
              <a:t>k</a:t>
            </a:r>
            <a:r>
              <a:rPr lang="es-ES" sz="3000" b="1" baseline="-25000" dirty="0" err="1"/>
              <a:t>i</a:t>
            </a:r>
            <a:r>
              <a:rPr lang="es-ES" sz="3000" b="1" dirty="0"/>
              <a:t>) + (</a:t>
            </a:r>
            <a:r>
              <a:rPr lang="es-ES" sz="3000" b="1" dirty="0" err="1"/>
              <a:t>w</a:t>
            </a:r>
            <a:r>
              <a:rPr lang="es-ES" sz="3000" b="1" baseline="-25000" dirty="0" err="1"/>
              <a:t>p</a:t>
            </a:r>
            <a:r>
              <a:rPr lang="es-ES" sz="3000" b="1" dirty="0"/>
              <a:t> x </a:t>
            </a:r>
            <a:r>
              <a:rPr lang="es-ES" sz="3000" b="1" dirty="0" err="1"/>
              <a:t>k</a:t>
            </a:r>
            <a:r>
              <a:rPr lang="es-ES" sz="3000" b="1" baseline="-25000" dirty="0" err="1"/>
              <a:t>p</a:t>
            </a:r>
            <a:r>
              <a:rPr lang="es-ES" sz="3000" b="1" dirty="0"/>
              <a:t>) + (</a:t>
            </a:r>
            <a:r>
              <a:rPr lang="es-ES" sz="3000" b="1" dirty="0" err="1"/>
              <a:t>w</a:t>
            </a:r>
            <a:r>
              <a:rPr lang="es-ES" sz="3000" b="1" baseline="-25000" dirty="0" err="1"/>
              <a:t>s</a:t>
            </a:r>
            <a:r>
              <a:rPr lang="es-ES" sz="3000" b="1" dirty="0"/>
              <a:t> x k</a:t>
            </a:r>
            <a:r>
              <a:rPr lang="es-ES" sz="3000" b="1" baseline="-25000" dirty="0"/>
              <a:t>r o n</a:t>
            </a:r>
            <a:r>
              <a:rPr lang="es-ES" sz="3000" b="1" dirty="0"/>
              <a:t>)</a:t>
            </a:r>
          </a:p>
          <a:p>
            <a:pPr marL="0" indent="0" algn="ctr">
              <a:buNone/>
            </a:pPr>
            <a:endParaRPr lang="es-ES" sz="3000" b="1" dirty="0"/>
          </a:p>
          <a:p>
            <a:pPr marL="0" indent="0" algn="just">
              <a:buNone/>
            </a:pPr>
            <a:r>
              <a:rPr lang="es-ES" sz="3000" b="1" dirty="0"/>
              <a:t>Donde:</a:t>
            </a:r>
            <a:endParaRPr lang="es-GT" sz="3000" b="1" dirty="0"/>
          </a:p>
        </p:txBody>
      </p:sp>
    </p:spTree>
    <p:extLst>
      <p:ext uri="{BB962C8B-B14F-4D97-AF65-F5344CB8AC3E}">
        <p14:creationId xmlns:p14="http://schemas.microsoft.com/office/powerpoint/2010/main" val="924263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80E32C4-B600-0923-EF5F-2C2B38294D61}"/>
              </a:ext>
            </a:extLst>
          </p:cNvPr>
          <p:cNvSpPr>
            <a:spLocks noGrp="1"/>
          </p:cNvSpPr>
          <p:nvPr>
            <p:ph idx="1"/>
          </p:nvPr>
        </p:nvSpPr>
        <p:spPr>
          <a:xfrm>
            <a:off x="685800" y="1573968"/>
            <a:ext cx="10820400" cy="4644718"/>
          </a:xfrm>
        </p:spPr>
        <p:txBody>
          <a:bodyPr>
            <a:normAutofit/>
          </a:bodyPr>
          <a:lstStyle/>
          <a:p>
            <a:pPr marL="0" indent="0">
              <a:buNone/>
            </a:pPr>
            <a:r>
              <a:rPr lang="es-ES" sz="3600" b="1" dirty="0" err="1"/>
              <a:t>w</a:t>
            </a:r>
            <a:r>
              <a:rPr lang="es-ES" sz="3600" b="1" baseline="-25000" dirty="0" err="1"/>
              <a:t>i</a:t>
            </a:r>
            <a:r>
              <a:rPr lang="es-ES" sz="3600" b="1" dirty="0"/>
              <a:t> = proporción de la deuda a largo plazo en la estructura de capital</a:t>
            </a:r>
          </a:p>
          <a:p>
            <a:pPr marL="0" indent="0">
              <a:buNone/>
            </a:pPr>
            <a:r>
              <a:rPr lang="es-ES" sz="3600" b="1" dirty="0" err="1"/>
              <a:t>w</a:t>
            </a:r>
            <a:r>
              <a:rPr lang="es-ES" sz="3600" b="1" baseline="-25000" dirty="0" err="1"/>
              <a:t>p</a:t>
            </a:r>
            <a:r>
              <a:rPr lang="es-ES" sz="3600" b="1" dirty="0"/>
              <a:t> = proporción de acciones preferentes en la estructura de capital</a:t>
            </a:r>
          </a:p>
          <a:p>
            <a:pPr marL="0" indent="0">
              <a:buNone/>
            </a:pPr>
            <a:r>
              <a:rPr lang="es-ES" sz="3600" b="1" dirty="0" err="1"/>
              <a:t>w</a:t>
            </a:r>
            <a:r>
              <a:rPr lang="es-ES" sz="3600" b="1" baseline="-25000" dirty="0" err="1"/>
              <a:t>s</a:t>
            </a:r>
            <a:r>
              <a:rPr lang="es-ES" sz="3600" b="1" dirty="0"/>
              <a:t> = proporción de capital en acciones comunes en la estructura de capital</a:t>
            </a:r>
          </a:p>
          <a:p>
            <a:pPr marL="0" indent="0">
              <a:buNone/>
            </a:pPr>
            <a:r>
              <a:rPr lang="es-ES" sz="3600" b="1" dirty="0" err="1"/>
              <a:t>w</a:t>
            </a:r>
            <a:r>
              <a:rPr lang="es-ES" sz="3600" b="1" baseline="-25000" dirty="0" err="1"/>
              <a:t>i</a:t>
            </a:r>
            <a:r>
              <a:rPr lang="es-ES" sz="3600" b="1" dirty="0"/>
              <a:t> + </a:t>
            </a:r>
            <a:r>
              <a:rPr lang="es-ES" sz="3600" b="1" dirty="0" err="1"/>
              <a:t>w</a:t>
            </a:r>
            <a:r>
              <a:rPr lang="es-ES" sz="3600" b="1" baseline="-25000" dirty="0" err="1"/>
              <a:t>p</a:t>
            </a:r>
            <a:r>
              <a:rPr lang="es-ES" sz="3600" b="1" dirty="0"/>
              <a:t> + </a:t>
            </a:r>
            <a:r>
              <a:rPr lang="es-ES" sz="3600" b="1" dirty="0" err="1"/>
              <a:t>w</a:t>
            </a:r>
            <a:r>
              <a:rPr lang="es-ES" sz="3600" b="1" baseline="-25000" dirty="0" err="1"/>
              <a:t>s</a:t>
            </a:r>
            <a:r>
              <a:rPr lang="es-ES" sz="3600" b="1" dirty="0"/>
              <a:t> = 1.0</a:t>
            </a:r>
            <a:endParaRPr lang="es-GT" sz="3600" b="1" dirty="0"/>
          </a:p>
        </p:txBody>
      </p:sp>
    </p:spTree>
    <p:extLst>
      <p:ext uri="{BB962C8B-B14F-4D97-AF65-F5344CB8AC3E}">
        <p14:creationId xmlns:p14="http://schemas.microsoft.com/office/powerpoint/2010/main" val="3939698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F74360-ABC2-0261-ADB9-CC06AC67D80C}"/>
              </a:ext>
            </a:extLst>
          </p:cNvPr>
          <p:cNvSpPr>
            <a:spLocks noGrp="1"/>
          </p:cNvSpPr>
          <p:nvPr>
            <p:ph type="title"/>
          </p:nvPr>
        </p:nvSpPr>
        <p:spPr>
          <a:xfrm>
            <a:off x="1708879" y="269823"/>
            <a:ext cx="9797321" cy="1154243"/>
          </a:xfrm>
        </p:spPr>
        <p:txBody>
          <a:bodyPr>
            <a:normAutofit/>
          </a:bodyPr>
          <a:lstStyle/>
          <a:p>
            <a:r>
              <a:rPr lang="es-ES" b="1" dirty="0"/>
              <a:t>Destacan 3 puntos importantes:</a:t>
            </a:r>
            <a:endParaRPr lang="es-GT" b="1" dirty="0"/>
          </a:p>
        </p:txBody>
      </p:sp>
      <p:sp>
        <p:nvSpPr>
          <p:cNvPr id="3" name="Marcador de contenido 2">
            <a:extLst>
              <a:ext uri="{FF2B5EF4-FFF2-40B4-BE49-F238E27FC236}">
                <a16:creationId xmlns:a16="http://schemas.microsoft.com/office/drawing/2014/main" id="{86BBF56A-4013-DE8F-F69B-D338B196819A}"/>
              </a:ext>
            </a:extLst>
          </p:cNvPr>
          <p:cNvSpPr>
            <a:spLocks noGrp="1"/>
          </p:cNvSpPr>
          <p:nvPr>
            <p:ph idx="1"/>
          </p:nvPr>
        </p:nvSpPr>
        <p:spPr>
          <a:xfrm>
            <a:off x="284813" y="1663908"/>
            <a:ext cx="11527436" cy="4554777"/>
          </a:xfrm>
        </p:spPr>
        <p:txBody>
          <a:bodyPr>
            <a:noAutofit/>
          </a:bodyPr>
          <a:lstStyle/>
          <a:p>
            <a:pPr marL="457200" indent="-457200" algn="just">
              <a:buAutoNum type="arabicPeriod"/>
            </a:pPr>
            <a:r>
              <a:rPr lang="es-ES" sz="2600" dirty="0"/>
              <a:t>Por conveniencia es mejor convertir las ponderaciones a la forma decimal y dejar los costos específicos en términos porcentuales.</a:t>
            </a:r>
          </a:p>
          <a:p>
            <a:pPr marL="457200" indent="-457200" algn="just">
              <a:buAutoNum type="arabicPeriod"/>
            </a:pPr>
            <a:r>
              <a:rPr lang="es-ES" sz="2600" dirty="0"/>
              <a:t>La suma de las ponderaciones debe ser igual a 1.0. En pocas palabras, deben tomarse en cuenta todos los componentes de la estructura de capital.</a:t>
            </a:r>
          </a:p>
          <a:p>
            <a:pPr marL="457200" indent="-457200" algn="just">
              <a:buAutoNum type="arabicPeriod"/>
            </a:pPr>
            <a:r>
              <a:rPr lang="es-ES" sz="2600" dirty="0"/>
              <a:t>La ponderación de capital en acciones comunes de la empresa, </a:t>
            </a:r>
            <a:r>
              <a:rPr lang="es-ES" sz="2600" dirty="0" err="1"/>
              <a:t>w</a:t>
            </a:r>
            <a:r>
              <a:rPr lang="es-ES" sz="2600" baseline="-25000" dirty="0" err="1"/>
              <a:t>s</a:t>
            </a:r>
            <a:r>
              <a:rPr lang="es-ES" sz="2600" dirty="0"/>
              <a:t>, se multiplica por el costo de las ganancias retenidas, k</a:t>
            </a:r>
            <a:r>
              <a:rPr lang="es-ES" sz="2600" baseline="-25000" dirty="0"/>
              <a:t>r</a:t>
            </a:r>
            <a:r>
              <a:rPr lang="es-ES" sz="2600" dirty="0"/>
              <a:t>, o por el costo de las nuevas acciones comunes, </a:t>
            </a:r>
            <a:r>
              <a:rPr lang="es-ES" sz="2600" dirty="0" err="1"/>
              <a:t>k</a:t>
            </a:r>
            <a:r>
              <a:rPr lang="es-ES" sz="2600" baseline="-25000" dirty="0" err="1"/>
              <a:t>n</a:t>
            </a:r>
            <a:r>
              <a:rPr lang="es-ES" sz="2600" dirty="0"/>
              <a:t>. El costo que se usa depende de si el capital en acciones comunes de la empresa se financiará usando ganancias retenidas, k</a:t>
            </a:r>
            <a:r>
              <a:rPr lang="es-ES" sz="2600" baseline="-25000" dirty="0"/>
              <a:t>r</a:t>
            </a:r>
            <a:r>
              <a:rPr lang="es-ES" sz="2600" dirty="0"/>
              <a:t>, o nuevas acciones comunes, </a:t>
            </a:r>
            <a:r>
              <a:rPr lang="es-ES" sz="2600" dirty="0" err="1"/>
              <a:t>k</a:t>
            </a:r>
            <a:r>
              <a:rPr lang="es-ES" sz="2600" baseline="-25000" dirty="0" err="1"/>
              <a:t>n</a:t>
            </a:r>
            <a:r>
              <a:rPr lang="es-ES" sz="2600" dirty="0"/>
              <a:t>.</a:t>
            </a:r>
            <a:endParaRPr lang="es-GT" sz="2600" dirty="0"/>
          </a:p>
        </p:txBody>
      </p:sp>
    </p:spTree>
    <p:extLst>
      <p:ext uri="{BB962C8B-B14F-4D97-AF65-F5344CB8AC3E}">
        <p14:creationId xmlns:p14="http://schemas.microsoft.com/office/powerpoint/2010/main" val="2923045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11C596-2294-08F0-96B2-0C2D80A3103E}"/>
              </a:ext>
            </a:extLst>
          </p:cNvPr>
          <p:cNvSpPr>
            <a:spLocks noGrp="1"/>
          </p:cNvSpPr>
          <p:nvPr>
            <p:ph type="title"/>
          </p:nvPr>
        </p:nvSpPr>
        <p:spPr/>
        <p:txBody>
          <a:bodyPr/>
          <a:lstStyle/>
          <a:p>
            <a:r>
              <a:rPr lang="es-ES" b="1" dirty="0"/>
              <a:t>Costo de la Deuda a Largo Plazo</a:t>
            </a:r>
            <a:endParaRPr lang="es-GT" b="1" dirty="0"/>
          </a:p>
        </p:txBody>
      </p:sp>
      <p:sp>
        <p:nvSpPr>
          <p:cNvPr id="3" name="Marcador de contenido 2">
            <a:extLst>
              <a:ext uri="{FF2B5EF4-FFF2-40B4-BE49-F238E27FC236}">
                <a16:creationId xmlns:a16="http://schemas.microsoft.com/office/drawing/2014/main" id="{CDB3FEED-B125-170B-FE18-55E1A3FCD2CD}"/>
              </a:ext>
            </a:extLst>
          </p:cNvPr>
          <p:cNvSpPr>
            <a:spLocks noGrp="1"/>
          </p:cNvSpPr>
          <p:nvPr>
            <p:ph idx="1"/>
          </p:nvPr>
        </p:nvSpPr>
        <p:spPr/>
        <p:txBody>
          <a:bodyPr>
            <a:normAutofit/>
          </a:bodyPr>
          <a:lstStyle/>
          <a:p>
            <a:pPr algn="just"/>
            <a:r>
              <a:rPr lang="es-ES" sz="3200" b="1" dirty="0"/>
              <a:t>Es el costo después de impuestos al día de hoy de la recaudación de fondos a largo plazo a través de préstamos. Por conveniencia, asumimos por lo general que los fondos se recaudan por medio de la venta de bonos.</a:t>
            </a:r>
          </a:p>
          <a:p>
            <a:pPr algn="just"/>
            <a:r>
              <a:rPr lang="es-ES" sz="3200" b="1" dirty="0"/>
              <a:t>El costo de la deuda antes de impuestos es factor clave para determinar el costo de la deuda después de impuestos.</a:t>
            </a:r>
            <a:endParaRPr lang="es-GT" sz="3200" b="1" dirty="0"/>
          </a:p>
        </p:txBody>
      </p:sp>
    </p:spTree>
    <p:extLst>
      <p:ext uri="{BB962C8B-B14F-4D97-AF65-F5344CB8AC3E}">
        <p14:creationId xmlns:p14="http://schemas.microsoft.com/office/powerpoint/2010/main" val="2695035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D6CAD1-E474-6267-9E60-85D90A2C7B18}"/>
              </a:ext>
            </a:extLst>
          </p:cNvPr>
          <p:cNvSpPr>
            <a:spLocks noGrp="1"/>
          </p:cNvSpPr>
          <p:nvPr>
            <p:ph type="title"/>
          </p:nvPr>
        </p:nvSpPr>
        <p:spPr/>
        <p:txBody>
          <a:bodyPr/>
          <a:lstStyle/>
          <a:p>
            <a:r>
              <a:rPr lang="es-ES" b="1" dirty="0"/>
              <a:t>Costo de la Deuda Antes de Impuestos</a:t>
            </a:r>
            <a:endParaRPr lang="es-GT" b="1" dirty="0"/>
          </a:p>
        </p:txBody>
      </p:sp>
      <p:sp>
        <p:nvSpPr>
          <p:cNvPr id="3" name="Marcador de contenido 2">
            <a:extLst>
              <a:ext uri="{FF2B5EF4-FFF2-40B4-BE49-F238E27FC236}">
                <a16:creationId xmlns:a16="http://schemas.microsoft.com/office/drawing/2014/main" id="{9105D330-3B39-2863-619A-80D9DD80C8D6}"/>
              </a:ext>
            </a:extLst>
          </p:cNvPr>
          <p:cNvSpPr>
            <a:spLocks noGrp="1"/>
          </p:cNvSpPr>
          <p:nvPr>
            <p:ph idx="1"/>
          </p:nvPr>
        </p:nvSpPr>
        <p:spPr/>
        <p:txBody>
          <a:bodyPr/>
          <a:lstStyle/>
          <a:p>
            <a:pPr marL="0" indent="0">
              <a:buNone/>
            </a:pPr>
            <a:r>
              <a:rPr lang="es-ES" b="1" dirty="0"/>
              <a:t>En nuestro ejemplo, los beneficios netos de un bono de $1,000 a 20 años y una tasa de interés cupón del 9%, serán $960. El cálculo del costo anual se aproximaría de la siguiente forma:</a:t>
            </a:r>
          </a:p>
          <a:p>
            <a:pPr marL="0" indent="0">
              <a:buNone/>
            </a:pPr>
            <a:r>
              <a:rPr lang="es-ES" b="1" dirty="0"/>
              <a:t>					$1,000 - N</a:t>
            </a:r>
            <a:r>
              <a:rPr lang="es-ES" b="1" baseline="-25000" dirty="0"/>
              <a:t>d</a:t>
            </a:r>
          </a:p>
          <a:p>
            <a:pPr marL="0" indent="0">
              <a:buNone/>
            </a:pPr>
            <a:r>
              <a:rPr lang="es-ES" b="1" dirty="0"/>
              <a:t>					        n</a:t>
            </a:r>
          </a:p>
          <a:p>
            <a:pPr marL="0" indent="0">
              <a:buNone/>
            </a:pPr>
            <a:r>
              <a:rPr lang="es-ES" sz="3600" b="1" dirty="0" err="1"/>
              <a:t>k</a:t>
            </a:r>
            <a:r>
              <a:rPr lang="es-ES" sz="3600" b="1" baseline="-25000" dirty="0" err="1"/>
              <a:t>d</a:t>
            </a:r>
            <a:r>
              <a:rPr lang="es-ES" sz="3600" b="1" dirty="0"/>
              <a:t> =</a:t>
            </a:r>
            <a:r>
              <a:rPr lang="es-ES" b="1" dirty="0"/>
              <a:t>					N</a:t>
            </a:r>
            <a:r>
              <a:rPr lang="es-ES" b="1" baseline="-25000" dirty="0"/>
              <a:t>d</a:t>
            </a:r>
            <a:r>
              <a:rPr lang="es-ES" b="1" dirty="0"/>
              <a:t> + $1,000</a:t>
            </a:r>
          </a:p>
          <a:p>
            <a:pPr marL="0" indent="0">
              <a:buNone/>
            </a:pPr>
            <a:r>
              <a:rPr lang="es-ES" b="1" dirty="0"/>
              <a:t>					        2</a:t>
            </a:r>
          </a:p>
          <a:p>
            <a:pPr marL="0" indent="0">
              <a:buNone/>
            </a:pPr>
            <a:endParaRPr lang="es-ES" b="1" dirty="0"/>
          </a:p>
          <a:p>
            <a:pPr marL="0" indent="0">
              <a:buNone/>
            </a:pPr>
            <a:r>
              <a:rPr lang="es-ES" b="1" dirty="0"/>
              <a:t>donde:</a:t>
            </a:r>
            <a:endParaRPr lang="es-GT" b="1" dirty="0"/>
          </a:p>
        </p:txBody>
      </p:sp>
      <p:cxnSp>
        <p:nvCxnSpPr>
          <p:cNvPr id="5" name="Conector recto 4">
            <a:extLst>
              <a:ext uri="{FF2B5EF4-FFF2-40B4-BE49-F238E27FC236}">
                <a16:creationId xmlns:a16="http://schemas.microsoft.com/office/drawing/2014/main" id="{3D88E605-AFA4-2087-AEAC-F5C55CDD9D92}"/>
              </a:ext>
            </a:extLst>
          </p:cNvPr>
          <p:cNvCxnSpPr/>
          <p:nvPr/>
        </p:nvCxnSpPr>
        <p:spPr>
          <a:xfrm>
            <a:off x="4841823" y="3702570"/>
            <a:ext cx="2338466" cy="0"/>
          </a:xfrm>
          <a:prstGeom prst="line">
            <a:avLst/>
          </a:prstGeom>
        </p:spPr>
        <p:style>
          <a:lnRef idx="3">
            <a:schemeClr val="dk1"/>
          </a:lnRef>
          <a:fillRef idx="0">
            <a:schemeClr val="dk1"/>
          </a:fillRef>
          <a:effectRef idx="2">
            <a:schemeClr val="dk1"/>
          </a:effectRef>
          <a:fontRef idx="minor">
            <a:schemeClr val="tx1"/>
          </a:fontRef>
        </p:style>
      </p:cxnSp>
      <p:cxnSp>
        <p:nvCxnSpPr>
          <p:cNvPr id="6" name="Conector recto 5">
            <a:extLst>
              <a:ext uri="{FF2B5EF4-FFF2-40B4-BE49-F238E27FC236}">
                <a16:creationId xmlns:a16="http://schemas.microsoft.com/office/drawing/2014/main" id="{4E68295A-0A1D-0091-530B-8A648F9EDFE2}"/>
              </a:ext>
            </a:extLst>
          </p:cNvPr>
          <p:cNvCxnSpPr>
            <a:cxnSpLocks/>
          </p:cNvCxnSpPr>
          <p:nvPr/>
        </p:nvCxnSpPr>
        <p:spPr>
          <a:xfrm>
            <a:off x="3297836" y="4214734"/>
            <a:ext cx="4751882" cy="0"/>
          </a:xfrm>
          <a:prstGeom prst="line">
            <a:avLst/>
          </a:prstGeom>
        </p:spPr>
        <p:style>
          <a:lnRef idx="3">
            <a:schemeClr val="dk1"/>
          </a:lnRef>
          <a:fillRef idx="0">
            <a:schemeClr val="dk1"/>
          </a:fillRef>
          <a:effectRef idx="2">
            <a:schemeClr val="dk1"/>
          </a:effectRef>
          <a:fontRef idx="minor">
            <a:schemeClr val="tx1"/>
          </a:fontRef>
        </p:style>
      </p:cxnSp>
      <p:cxnSp>
        <p:nvCxnSpPr>
          <p:cNvPr id="7" name="Conector recto 6">
            <a:extLst>
              <a:ext uri="{FF2B5EF4-FFF2-40B4-BE49-F238E27FC236}">
                <a16:creationId xmlns:a16="http://schemas.microsoft.com/office/drawing/2014/main" id="{9EFCFB99-D498-EDAD-ACDB-D004AB2BE541}"/>
              </a:ext>
            </a:extLst>
          </p:cNvPr>
          <p:cNvCxnSpPr/>
          <p:nvPr/>
        </p:nvCxnSpPr>
        <p:spPr>
          <a:xfrm>
            <a:off x="4841823" y="4651947"/>
            <a:ext cx="2338466" cy="0"/>
          </a:xfrm>
          <a:prstGeom prst="line">
            <a:avLst/>
          </a:prstGeom>
        </p:spPr>
        <p:style>
          <a:lnRef idx="3">
            <a:schemeClr val="dk1"/>
          </a:lnRef>
          <a:fillRef idx="0">
            <a:schemeClr val="dk1"/>
          </a:fillRef>
          <a:effectRef idx="2">
            <a:schemeClr val="dk1"/>
          </a:effectRef>
          <a:fontRef idx="minor">
            <a:schemeClr val="tx1"/>
          </a:fontRef>
        </p:style>
      </p:cxnSp>
      <p:grpSp>
        <p:nvGrpSpPr>
          <p:cNvPr id="16" name="Grupo 15">
            <a:extLst>
              <a:ext uri="{FF2B5EF4-FFF2-40B4-BE49-F238E27FC236}">
                <a16:creationId xmlns:a16="http://schemas.microsoft.com/office/drawing/2014/main" id="{114386F6-E3BD-FE4F-F096-0300519BF179}"/>
              </a:ext>
            </a:extLst>
          </p:cNvPr>
          <p:cNvGrpSpPr/>
          <p:nvPr/>
        </p:nvGrpSpPr>
        <p:grpSpPr>
          <a:xfrm>
            <a:off x="3702163" y="3447608"/>
            <a:ext cx="928440" cy="405000"/>
            <a:chOff x="3702163" y="3447608"/>
            <a:chExt cx="928440" cy="405000"/>
          </a:xfrm>
        </p:grpSpPr>
        <mc:AlternateContent xmlns:mc="http://schemas.openxmlformats.org/markup-compatibility/2006" xmlns:p14="http://schemas.microsoft.com/office/powerpoint/2010/main">
          <mc:Choice Requires="p14">
            <p:contentPart p14:bwMode="auto" r:id="rId2">
              <p14:nvContentPartPr>
                <p14:cNvPr id="10" name="Entrada de lápiz 9">
                  <a:extLst>
                    <a:ext uri="{FF2B5EF4-FFF2-40B4-BE49-F238E27FC236}">
                      <a16:creationId xmlns:a16="http://schemas.microsoft.com/office/drawing/2014/main" id="{F8A20A8E-D5B0-4D06-9629-0252BD36323B}"/>
                    </a:ext>
                  </a:extLst>
                </p14:cNvPr>
                <p14:cNvContentPartPr/>
                <p14:nvPr/>
              </p14:nvContentPartPr>
              <p14:xfrm>
                <a:off x="3912403" y="3477488"/>
                <a:ext cx="360" cy="373320"/>
              </p14:xfrm>
            </p:contentPart>
          </mc:Choice>
          <mc:Fallback xmlns="">
            <p:pic>
              <p:nvPicPr>
                <p:cNvPr id="10" name="Entrada de lápiz 9">
                  <a:extLst>
                    <a:ext uri="{FF2B5EF4-FFF2-40B4-BE49-F238E27FC236}">
                      <a16:creationId xmlns:a16="http://schemas.microsoft.com/office/drawing/2014/main" id="{F8A20A8E-D5B0-4D06-9629-0252BD36323B}"/>
                    </a:ext>
                  </a:extLst>
                </p:cNvPr>
                <p:cNvPicPr/>
                <p:nvPr/>
              </p:nvPicPr>
              <p:blipFill>
                <a:blip r:embed="rId3"/>
                <a:stretch>
                  <a:fillRect/>
                </a:stretch>
              </p:blipFill>
              <p:spPr>
                <a:xfrm>
                  <a:off x="3903763" y="3468848"/>
                  <a:ext cx="18000" cy="3909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1" name="Entrada de lápiz 10">
                  <a:extLst>
                    <a:ext uri="{FF2B5EF4-FFF2-40B4-BE49-F238E27FC236}">
                      <a16:creationId xmlns:a16="http://schemas.microsoft.com/office/drawing/2014/main" id="{0A2677DC-ABF7-E325-44A7-5CC3BBAA7D84}"/>
                    </a:ext>
                  </a:extLst>
                </p14:cNvPr>
                <p14:cNvContentPartPr/>
                <p14:nvPr/>
              </p14:nvContentPartPr>
              <p14:xfrm>
                <a:off x="3732403" y="3447608"/>
                <a:ext cx="372960" cy="15840"/>
              </p14:xfrm>
            </p:contentPart>
          </mc:Choice>
          <mc:Fallback xmlns="">
            <p:pic>
              <p:nvPicPr>
                <p:cNvPr id="11" name="Entrada de lápiz 10">
                  <a:extLst>
                    <a:ext uri="{FF2B5EF4-FFF2-40B4-BE49-F238E27FC236}">
                      <a16:creationId xmlns:a16="http://schemas.microsoft.com/office/drawing/2014/main" id="{0A2677DC-ABF7-E325-44A7-5CC3BBAA7D84}"/>
                    </a:ext>
                  </a:extLst>
                </p:cNvPr>
                <p:cNvPicPr/>
                <p:nvPr/>
              </p:nvPicPr>
              <p:blipFill>
                <a:blip r:embed="rId5"/>
                <a:stretch>
                  <a:fillRect/>
                </a:stretch>
              </p:blipFill>
              <p:spPr>
                <a:xfrm>
                  <a:off x="3723403" y="3438608"/>
                  <a:ext cx="39060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3" name="Entrada de lápiz 12">
                  <a:extLst>
                    <a:ext uri="{FF2B5EF4-FFF2-40B4-BE49-F238E27FC236}">
                      <a16:creationId xmlns:a16="http://schemas.microsoft.com/office/drawing/2014/main" id="{BCEFD3FA-FB21-18BE-04C6-A89D79DAC3ED}"/>
                    </a:ext>
                  </a:extLst>
                </p14:cNvPr>
                <p14:cNvContentPartPr/>
                <p14:nvPr/>
              </p14:nvContentPartPr>
              <p14:xfrm>
                <a:off x="3702163" y="3836408"/>
                <a:ext cx="388800" cy="16200"/>
              </p14:xfrm>
            </p:contentPart>
          </mc:Choice>
          <mc:Fallback xmlns="">
            <p:pic>
              <p:nvPicPr>
                <p:cNvPr id="13" name="Entrada de lápiz 12">
                  <a:extLst>
                    <a:ext uri="{FF2B5EF4-FFF2-40B4-BE49-F238E27FC236}">
                      <a16:creationId xmlns:a16="http://schemas.microsoft.com/office/drawing/2014/main" id="{BCEFD3FA-FB21-18BE-04C6-A89D79DAC3ED}"/>
                    </a:ext>
                  </a:extLst>
                </p:cNvPr>
                <p:cNvPicPr/>
                <p:nvPr/>
              </p:nvPicPr>
              <p:blipFill>
                <a:blip r:embed="rId7"/>
                <a:stretch>
                  <a:fillRect/>
                </a:stretch>
              </p:blipFill>
              <p:spPr>
                <a:xfrm>
                  <a:off x="3693523" y="3827408"/>
                  <a:ext cx="40644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Entrada de lápiz 13">
                  <a:extLst>
                    <a:ext uri="{FF2B5EF4-FFF2-40B4-BE49-F238E27FC236}">
                      <a16:creationId xmlns:a16="http://schemas.microsoft.com/office/drawing/2014/main" id="{C7365D6C-1C5B-1C7F-082A-92C53A35213D}"/>
                    </a:ext>
                  </a:extLst>
                </p14:cNvPr>
                <p14:cNvContentPartPr/>
                <p14:nvPr/>
              </p14:nvContentPartPr>
              <p14:xfrm>
                <a:off x="4437283" y="3492248"/>
                <a:ext cx="27000" cy="271800"/>
              </p14:xfrm>
            </p:contentPart>
          </mc:Choice>
          <mc:Fallback xmlns="">
            <p:pic>
              <p:nvPicPr>
                <p:cNvPr id="14" name="Entrada de lápiz 13">
                  <a:extLst>
                    <a:ext uri="{FF2B5EF4-FFF2-40B4-BE49-F238E27FC236}">
                      <a16:creationId xmlns:a16="http://schemas.microsoft.com/office/drawing/2014/main" id="{C7365D6C-1C5B-1C7F-082A-92C53A35213D}"/>
                    </a:ext>
                  </a:extLst>
                </p:cNvPr>
                <p:cNvPicPr/>
                <p:nvPr/>
              </p:nvPicPr>
              <p:blipFill>
                <a:blip r:embed="rId9"/>
                <a:stretch>
                  <a:fillRect/>
                </a:stretch>
              </p:blipFill>
              <p:spPr>
                <a:xfrm>
                  <a:off x="4428283" y="3483608"/>
                  <a:ext cx="44640" cy="289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Entrada de lápiz 14">
                  <a:extLst>
                    <a:ext uri="{FF2B5EF4-FFF2-40B4-BE49-F238E27FC236}">
                      <a16:creationId xmlns:a16="http://schemas.microsoft.com/office/drawing/2014/main" id="{0F1A8E2C-3398-EAE2-C78B-F5B4C22F960D}"/>
                    </a:ext>
                  </a:extLst>
                </p14:cNvPr>
                <p14:cNvContentPartPr/>
                <p14:nvPr/>
              </p14:nvContentPartPr>
              <p14:xfrm>
                <a:off x="4331803" y="3627248"/>
                <a:ext cx="298800" cy="360"/>
              </p14:xfrm>
            </p:contentPart>
          </mc:Choice>
          <mc:Fallback xmlns="">
            <p:pic>
              <p:nvPicPr>
                <p:cNvPr id="15" name="Entrada de lápiz 14">
                  <a:extLst>
                    <a:ext uri="{FF2B5EF4-FFF2-40B4-BE49-F238E27FC236}">
                      <a16:creationId xmlns:a16="http://schemas.microsoft.com/office/drawing/2014/main" id="{0F1A8E2C-3398-EAE2-C78B-F5B4C22F960D}"/>
                    </a:ext>
                  </a:extLst>
                </p:cNvPr>
                <p:cNvPicPr/>
                <p:nvPr/>
              </p:nvPicPr>
              <p:blipFill>
                <a:blip r:embed="rId11"/>
                <a:stretch>
                  <a:fillRect/>
                </a:stretch>
              </p:blipFill>
              <p:spPr>
                <a:xfrm>
                  <a:off x="4322803" y="3618248"/>
                  <a:ext cx="316440" cy="18000"/>
                </a:xfrm>
                <a:prstGeom prst="rect">
                  <a:avLst/>
                </a:prstGeom>
              </p:spPr>
            </p:pic>
          </mc:Fallback>
        </mc:AlternateContent>
      </p:grpSp>
    </p:spTree>
    <p:extLst>
      <p:ext uri="{BB962C8B-B14F-4D97-AF65-F5344CB8AC3E}">
        <p14:creationId xmlns:p14="http://schemas.microsoft.com/office/powerpoint/2010/main" val="3805274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CA38643-2AFD-FBFF-2D7E-2FB7280A4113}"/>
              </a:ext>
            </a:extLst>
          </p:cNvPr>
          <p:cNvSpPr>
            <a:spLocks noGrp="1"/>
          </p:cNvSpPr>
          <p:nvPr>
            <p:ph idx="1"/>
          </p:nvPr>
        </p:nvSpPr>
        <p:spPr>
          <a:xfrm>
            <a:off x="685800" y="899410"/>
            <a:ext cx="10820400" cy="5319275"/>
          </a:xfrm>
        </p:spPr>
        <p:txBody>
          <a:bodyPr>
            <a:normAutofit/>
          </a:bodyPr>
          <a:lstStyle/>
          <a:p>
            <a:pPr marL="0" indent="0">
              <a:buNone/>
            </a:pPr>
            <a:r>
              <a:rPr lang="es-ES" sz="3000" b="1" dirty="0"/>
              <a:t>I = interés anual en dólares</a:t>
            </a:r>
          </a:p>
          <a:p>
            <a:pPr marL="0" indent="0">
              <a:buNone/>
            </a:pPr>
            <a:r>
              <a:rPr lang="es-ES" sz="3000" b="1" dirty="0"/>
              <a:t>N</a:t>
            </a:r>
            <a:r>
              <a:rPr lang="es-ES" sz="3000" b="1" baseline="-25000" dirty="0"/>
              <a:t>d</a:t>
            </a:r>
            <a:r>
              <a:rPr lang="es-ES" sz="3000" b="1" dirty="0"/>
              <a:t> =  beneficios netos obtenidos de la venta de la deuda (bono)</a:t>
            </a:r>
          </a:p>
          <a:p>
            <a:pPr marL="0" indent="0">
              <a:buNone/>
            </a:pPr>
            <a:r>
              <a:rPr lang="es-ES" sz="3000" b="1" dirty="0"/>
              <a:t>N = número de años al vencimiento del bono</a:t>
            </a:r>
          </a:p>
          <a:p>
            <a:pPr marL="0" indent="0">
              <a:buNone/>
            </a:pPr>
            <a:endParaRPr lang="es-ES" sz="3000" b="1" dirty="0"/>
          </a:p>
          <a:p>
            <a:pPr marL="0" indent="0">
              <a:buNone/>
            </a:pPr>
            <a:r>
              <a:rPr lang="es-ES" sz="3000" b="1" dirty="0"/>
              <a:t>Si sustituimos los valores adecuados del ejemplo, obtenemos:</a:t>
            </a:r>
            <a:endParaRPr lang="es-GT" sz="3000" b="1" dirty="0"/>
          </a:p>
        </p:txBody>
      </p:sp>
    </p:spTree>
    <p:extLst>
      <p:ext uri="{BB962C8B-B14F-4D97-AF65-F5344CB8AC3E}">
        <p14:creationId xmlns:p14="http://schemas.microsoft.com/office/powerpoint/2010/main" val="3852907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D6CAD1-E474-6267-9E60-85D90A2C7B18}"/>
              </a:ext>
            </a:extLst>
          </p:cNvPr>
          <p:cNvSpPr>
            <a:spLocks noGrp="1"/>
          </p:cNvSpPr>
          <p:nvPr>
            <p:ph type="title"/>
          </p:nvPr>
        </p:nvSpPr>
        <p:spPr/>
        <p:txBody>
          <a:bodyPr/>
          <a:lstStyle/>
          <a:p>
            <a:r>
              <a:rPr lang="es-ES" b="1" dirty="0"/>
              <a:t>Costo de la Deuda Antes de Impuestos</a:t>
            </a:r>
            <a:endParaRPr lang="es-GT" b="1" dirty="0"/>
          </a:p>
        </p:txBody>
      </p:sp>
      <p:sp>
        <p:nvSpPr>
          <p:cNvPr id="3" name="Marcador de contenido 2">
            <a:extLst>
              <a:ext uri="{FF2B5EF4-FFF2-40B4-BE49-F238E27FC236}">
                <a16:creationId xmlns:a16="http://schemas.microsoft.com/office/drawing/2014/main" id="{9105D330-3B39-2863-619A-80D9DD80C8D6}"/>
              </a:ext>
            </a:extLst>
          </p:cNvPr>
          <p:cNvSpPr>
            <a:spLocks noGrp="1"/>
          </p:cNvSpPr>
          <p:nvPr>
            <p:ph idx="1"/>
          </p:nvPr>
        </p:nvSpPr>
        <p:spPr/>
        <p:txBody>
          <a:bodyPr/>
          <a:lstStyle/>
          <a:p>
            <a:pPr marL="0" indent="0">
              <a:buNone/>
            </a:pPr>
            <a:r>
              <a:rPr lang="es-ES" b="1" dirty="0"/>
              <a:t>En nuestro ejemplo, los beneficios netos de un bono de $1,000 a 20 años y una tasa de interés cupón del 9%, serán $960. El cálculo del costo anual se aproximaría de la siguiente forma:</a:t>
            </a:r>
          </a:p>
          <a:p>
            <a:pPr marL="0" indent="0">
              <a:buNone/>
            </a:pPr>
            <a:r>
              <a:rPr lang="es-ES" b="1" dirty="0"/>
              <a:t>					$1,000 - $960</a:t>
            </a:r>
            <a:endParaRPr lang="es-ES" b="1" baseline="-25000" dirty="0"/>
          </a:p>
          <a:p>
            <a:pPr marL="0" indent="0">
              <a:buNone/>
            </a:pPr>
            <a:r>
              <a:rPr lang="es-ES" b="1" dirty="0"/>
              <a:t>					        20</a:t>
            </a:r>
          </a:p>
          <a:p>
            <a:pPr marL="0" indent="0">
              <a:buNone/>
            </a:pPr>
            <a:r>
              <a:rPr lang="es-ES" sz="3600" b="1" dirty="0" err="1"/>
              <a:t>k</a:t>
            </a:r>
            <a:r>
              <a:rPr lang="es-ES" sz="3600" b="1" baseline="-25000" dirty="0" err="1"/>
              <a:t>d</a:t>
            </a:r>
            <a:r>
              <a:rPr lang="es-ES" sz="3600" b="1" dirty="0"/>
              <a:t> =</a:t>
            </a:r>
            <a:r>
              <a:rPr lang="es-ES" b="1" dirty="0"/>
              <a:t>					$960 + $1,000</a:t>
            </a:r>
          </a:p>
          <a:p>
            <a:pPr marL="0" indent="0">
              <a:buNone/>
            </a:pPr>
            <a:r>
              <a:rPr lang="es-ES" b="1" dirty="0"/>
              <a:t>					        2</a:t>
            </a:r>
          </a:p>
          <a:p>
            <a:pPr marL="0" indent="0">
              <a:buNone/>
            </a:pPr>
            <a:endParaRPr lang="es-ES" b="1" dirty="0"/>
          </a:p>
          <a:p>
            <a:pPr marL="0" indent="0">
              <a:buNone/>
            </a:pPr>
            <a:r>
              <a:rPr lang="es-ES" b="1" dirty="0"/>
              <a:t>= 0.093877551 * 100 = 9.40%</a:t>
            </a:r>
            <a:endParaRPr lang="es-GT" b="1" dirty="0"/>
          </a:p>
        </p:txBody>
      </p:sp>
      <p:cxnSp>
        <p:nvCxnSpPr>
          <p:cNvPr id="5" name="Conector recto 4">
            <a:extLst>
              <a:ext uri="{FF2B5EF4-FFF2-40B4-BE49-F238E27FC236}">
                <a16:creationId xmlns:a16="http://schemas.microsoft.com/office/drawing/2014/main" id="{3D88E605-AFA4-2087-AEAC-F5C55CDD9D92}"/>
              </a:ext>
            </a:extLst>
          </p:cNvPr>
          <p:cNvCxnSpPr/>
          <p:nvPr/>
        </p:nvCxnSpPr>
        <p:spPr>
          <a:xfrm>
            <a:off x="4841823" y="3702570"/>
            <a:ext cx="2338466" cy="0"/>
          </a:xfrm>
          <a:prstGeom prst="line">
            <a:avLst/>
          </a:prstGeom>
        </p:spPr>
        <p:style>
          <a:lnRef idx="3">
            <a:schemeClr val="dk1"/>
          </a:lnRef>
          <a:fillRef idx="0">
            <a:schemeClr val="dk1"/>
          </a:fillRef>
          <a:effectRef idx="2">
            <a:schemeClr val="dk1"/>
          </a:effectRef>
          <a:fontRef idx="minor">
            <a:schemeClr val="tx1"/>
          </a:fontRef>
        </p:style>
      </p:cxnSp>
      <p:cxnSp>
        <p:nvCxnSpPr>
          <p:cNvPr id="6" name="Conector recto 5">
            <a:extLst>
              <a:ext uri="{FF2B5EF4-FFF2-40B4-BE49-F238E27FC236}">
                <a16:creationId xmlns:a16="http://schemas.microsoft.com/office/drawing/2014/main" id="{4E68295A-0A1D-0091-530B-8A648F9EDFE2}"/>
              </a:ext>
            </a:extLst>
          </p:cNvPr>
          <p:cNvCxnSpPr>
            <a:cxnSpLocks/>
          </p:cNvCxnSpPr>
          <p:nvPr/>
        </p:nvCxnSpPr>
        <p:spPr>
          <a:xfrm>
            <a:off x="3297836" y="4214734"/>
            <a:ext cx="4751882" cy="0"/>
          </a:xfrm>
          <a:prstGeom prst="line">
            <a:avLst/>
          </a:prstGeom>
        </p:spPr>
        <p:style>
          <a:lnRef idx="3">
            <a:schemeClr val="dk1"/>
          </a:lnRef>
          <a:fillRef idx="0">
            <a:schemeClr val="dk1"/>
          </a:fillRef>
          <a:effectRef idx="2">
            <a:schemeClr val="dk1"/>
          </a:effectRef>
          <a:fontRef idx="minor">
            <a:schemeClr val="tx1"/>
          </a:fontRef>
        </p:style>
      </p:cxnSp>
      <p:cxnSp>
        <p:nvCxnSpPr>
          <p:cNvPr id="7" name="Conector recto 6">
            <a:extLst>
              <a:ext uri="{FF2B5EF4-FFF2-40B4-BE49-F238E27FC236}">
                <a16:creationId xmlns:a16="http://schemas.microsoft.com/office/drawing/2014/main" id="{9EFCFB99-D498-EDAD-ACDB-D004AB2BE541}"/>
              </a:ext>
            </a:extLst>
          </p:cNvPr>
          <p:cNvCxnSpPr/>
          <p:nvPr/>
        </p:nvCxnSpPr>
        <p:spPr>
          <a:xfrm>
            <a:off x="4841823" y="4651947"/>
            <a:ext cx="2338466" cy="0"/>
          </a:xfrm>
          <a:prstGeom prst="line">
            <a:avLst/>
          </a:prstGeom>
        </p:spPr>
        <p:style>
          <a:lnRef idx="3">
            <a:schemeClr val="dk1"/>
          </a:lnRef>
          <a:fillRef idx="0">
            <a:schemeClr val="dk1"/>
          </a:fillRef>
          <a:effectRef idx="2">
            <a:schemeClr val="dk1"/>
          </a:effectRef>
          <a:fontRef idx="minor">
            <a:schemeClr val="tx1"/>
          </a:fontRef>
        </p:style>
      </p:cxnSp>
      <p:grpSp>
        <p:nvGrpSpPr>
          <p:cNvPr id="9" name="Grupo 8">
            <a:extLst>
              <a:ext uri="{FF2B5EF4-FFF2-40B4-BE49-F238E27FC236}">
                <a16:creationId xmlns:a16="http://schemas.microsoft.com/office/drawing/2014/main" id="{569B2662-37F5-00FB-05FD-365C7FBDC30D}"/>
              </a:ext>
            </a:extLst>
          </p:cNvPr>
          <p:cNvGrpSpPr/>
          <p:nvPr/>
        </p:nvGrpSpPr>
        <p:grpSpPr>
          <a:xfrm>
            <a:off x="3608203" y="3357608"/>
            <a:ext cx="276840" cy="403560"/>
            <a:chOff x="3608203" y="3357608"/>
            <a:chExt cx="276840" cy="403560"/>
          </a:xfrm>
        </p:grpSpPr>
        <mc:AlternateContent xmlns:mc="http://schemas.openxmlformats.org/markup-compatibility/2006" xmlns:p14="http://schemas.microsoft.com/office/powerpoint/2010/main">
          <mc:Choice Requires="p14">
            <p:contentPart p14:bwMode="auto" r:id="rId2">
              <p14:nvContentPartPr>
                <p14:cNvPr id="4" name="Entrada de lápiz 3">
                  <a:extLst>
                    <a:ext uri="{FF2B5EF4-FFF2-40B4-BE49-F238E27FC236}">
                      <a16:creationId xmlns:a16="http://schemas.microsoft.com/office/drawing/2014/main" id="{9C3682A0-83BD-317B-9BF9-3D42AFBDF047}"/>
                    </a:ext>
                  </a:extLst>
                </p14:cNvPr>
                <p14:cNvContentPartPr/>
                <p14:nvPr/>
              </p14:nvContentPartPr>
              <p14:xfrm>
                <a:off x="3608203" y="3446168"/>
                <a:ext cx="276840" cy="280800"/>
              </p14:xfrm>
            </p:contentPart>
          </mc:Choice>
          <mc:Fallback xmlns="">
            <p:pic>
              <p:nvPicPr>
                <p:cNvPr id="4" name="Entrada de lápiz 3">
                  <a:extLst>
                    <a:ext uri="{FF2B5EF4-FFF2-40B4-BE49-F238E27FC236}">
                      <a16:creationId xmlns:a16="http://schemas.microsoft.com/office/drawing/2014/main" id="{9C3682A0-83BD-317B-9BF9-3D42AFBDF047}"/>
                    </a:ext>
                  </a:extLst>
                </p:cNvPr>
                <p:cNvPicPr/>
                <p:nvPr/>
              </p:nvPicPr>
              <p:blipFill>
                <a:blip r:embed="rId3"/>
                <a:stretch>
                  <a:fillRect/>
                </a:stretch>
              </p:blipFill>
              <p:spPr>
                <a:xfrm>
                  <a:off x="3599563" y="3437168"/>
                  <a:ext cx="29448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Entrada de lápiz 7">
                  <a:extLst>
                    <a:ext uri="{FF2B5EF4-FFF2-40B4-BE49-F238E27FC236}">
                      <a16:creationId xmlns:a16="http://schemas.microsoft.com/office/drawing/2014/main" id="{B0C5D02C-26F7-6273-606D-C7065D9E9C32}"/>
                    </a:ext>
                  </a:extLst>
                </p14:cNvPr>
                <p14:cNvContentPartPr/>
                <p14:nvPr/>
              </p14:nvContentPartPr>
              <p14:xfrm>
                <a:off x="3747523" y="3357608"/>
                <a:ext cx="360" cy="403560"/>
              </p14:xfrm>
            </p:contentPart>
          </mc:Choice>
          <mc:Fallback xmlns="">
            <p:pic>
              <p:nvPicPr>
                <p:cNvPr id="8" name="Entrada de lápiz 7">
                  <a:extLst>
                    <a:ext uri="{FF2B5EF4-FFF2-40B4-BE49-F238E27FC236}">
                      <a16:creationId xmlns:a16="http://schemas.microsoft.com/office/drawing/2014/main" id="{B0C5D02C-26F7-6273-606D-C7065D9E9C32}"/>
                    </a:ext>
                  </a:extLst>
                </p:cNvPr>
                <p:cNvPicPr/>
                <p:nvPr/>
              </p:nvPicPr>
              <p:blipFill>
                <a:blip r:embed="rId5"/>
                <a:stretch>
                  <a:fillRect/>
                </a:stretch>
              </p:blipFill>
              <p:spPr>
                <a:xfrm>
                  <a:off x="3738883" y="3348608"/>
                  <a:ext cx="18000" cy="421200"/>
                </a:xfrm>
                <a:prstGeom prst="rect">
                  <a:avLst/>
                </a:prstGeom>
              </p:spPr>
            </p:pic>
          </mc:Fallback>
        </mc:AlternateContent>
      </p:grpSp>
      <p:grpSp>
        <p:nvGrpSpPr>
          <p:cNvPr id="20" name="Grupo 19">
            <a:extLst>
              <a:ext uri="{FF2B5EF4-FFF2-40B4-BE49-F238E27FC236}">
                <a16:creationId xmlns:a16="http://schemas.microsoft.com/office/drawing/2014/main" id="{CE3BDC03-7436-6F47-965C-469D936DCBB9}"/>
              </a:ext>
            </a:extLst>
          </p:cNvPr>
          <p:cNvGrpSpPr/>
          <p:nvPr/>
        </p:nvGrpSpPr>
        <p:grpSpPr>
          <a:xfrm>
            <a:off x="4002403" y="3416288"/>
            <a:ext cx="541440" cy="363240"/>
            <a:chOff x="4002403" y="3416288"/>
            <a:chExt cx="541440" cy="363240"/>
          </a:xfrm>
        </p:grpSpPr>
        <mc:AlternateContent xmlns:mc="http://schemas.openxmlformats.org/markup-compatibility/2006" xmlns:p14="http://schemas.microsoft.com/office/powerpoint/2010/main">
          <mc:Choice Requires="p14">
            <p:contentPart p14:bwMode="auto" r:id="rId6">
              <p14:nvContentPartPr>
                <p14:cNvPr id="12" name="Entrada de lápiz 11">
                  <a:extLst>
                    <a:ext uri="{FF2B5EF4-FFF2-40B4-BE49-F238E27FC236}">
                      <a16:creationId xmlns:a16="http://schemas.microsoft.com/office/drawing/2014/main" id="{D53D90BE-5E8D-A289-9F0D-936EAE82D55D}"/>
                    </a:ext>
                  </a:extLst>
                </p14:cNvPr>
                <p14:cNvContentPartPr/>
                <p14:nvPr/>
              </p14:nvContentPartPr>
              <p14:xfrm>
                <a:off x="4002403" y="3416288"/>
                <a:ext cx="183960" cy="154080"/>
              </p14:xfrm>
            </p:contentPart>
          </mc:Choice>
          <mc:Fallback xmlns="">
            <p:pic>
              <p:nvPicPr>
                <p:cNvPr id="12" name="Entrada de lápiz 11">
                  <a:extLst>
                    <a:ext uri="{FF2B5EF4-FFF2-40B4-BE49-F238E27FC236}">
                      <a16:creationId xmlns:a16="http://schemas.microsoft.com/office/drawing/2014/main" id="{D53D90BE-5E8D-A289-9F0D-936EAE82D55D}"/>
                    </a:ext>
                  </a:extLst>
                </p:cNvPr>
                <p:cNvPicPr/>
                <p:nvPr/>
              </p:nvPicPr>
              <p:blipFill>
                <a:blip r:embed="rId7"/>
                <a:stretch>
                  <a:fillRect/>
                </a:stretch>
              </p:blipFill>
              <p:spPr>
                <a:xfrm>
                  <a:off x="3993403" y="3407648"/>
                  <a:ext cx="20160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7" name="Entrada de lápiz 16">
                  <a:extLst>
                    <a:ext uri="{FF2B5EF4-FFF2-40B4-BE49-F238E27FC236}">
                      <a16:creationId xmlns:a16="http://schemas.microsoft.com/office/drawing/2014/main" id="{260E0BDD-EB18-F23C-B6C0-3B448A6E454C}"/>
                    </a:ext>
                  </a:extLst>
                </p14:cNvPr>
                <p14:cNvContentPartPr/>
                <p14:nvPr/>
              </p14:nvContentPartPr>
              <p14:xfrm>
                <a:off x="4196803" y="3477488"/>
                <a:ext cx="360" cy="283320"/>
              </p14:xfrm>
            </p:contentPart>
          </mc:Choice>
          <mc:Fallback xmlns="">
            <p:pic>
              <p:nvPicPr>
                <p:cNvPr id="17" name="Entrada de lápiz 16">
                  <a:extLst>
                    <a:ext uri="{FF2B5EF4-FFF2-40B4-BE49-F238E27FC236}">
                      <a16:creationId xmlns:a16="http://schemas.microsoft.com/office/drawing/2014/main" id="{260E0BDD-EB18-F23C-B6C0-3B448A6E454C}"/>
                    </a:ext>
                  </a:extLst>
                </p:cNvPr>
                <p:cNvPicPr/>
                <p:nvPr/>
              </p:nvPicPr>
              <p:blipFill>
                <a:blip r:embed="rId9"/>
                <a:stretch>
                  <a:fillRect/>
                </a:stretch>
              </p:blipFill>
              <p:spPr>
                <a:xfrm>
                  <a:off x="4188163" y="3468848"/>
                  <a:ext cx="18000"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9" name="Entrada de lápiz 18">
                  <a:extLst>
                    <a:ext uri="{FF2B5EF4-FFF2-40B4-BE49-F238E27FC236}">
                      <a16:creationId xmlns:a16="http://schemas.microsoft.com/office/drawing/2014/main" id="{0F43BD5E-D33D-ADE1-B4A1-5EDD3C9F6617}"/>
                    </a:ext>
                  </a:extLst>
                </p14:cNvPr>
                <p14:cNvContentPartPr/>
                <p14:nvPr/>
              </p14:nvContentPartPr>
              <p14:xfrm>
                <a:off x="4301203" y="3418088"/>
                <a:ext cx="242640" cy="361440"/>
              </p14:xfrm>
            </p:contentPart>
          </mc:Choice>
          <mc:Fallback xmlns="">
            <p:pic>
              <p:nvPicPr>
                <p:cNvPr id="19" name="Entrada de lápiz 18">
                  <a:extLst>
                    <a:ext uri="{FF2B5EF4-FFF2-40B4-BE49-F238E27FC236}">
                      <a16:creationId xmlns:a16="http://schemas.microsoft.com/office/drawing/2014/main" id="{0F43BD5E-D33D-ADE1-B4A1-5EDD3C9F6617}"/>
                    </a:ext>
                  </a:extLst>
                </p:cNvPr>
                <p:cNvPicPr/>
                <p:nvPr/>
              </p:nvPicPr>
              <p:blipFill>
                <a:blip r:embed="rId11"/>
                <a:stretch>
                  <a:fillRect/>
                </a:stretch>
              </p:blipFill>
              <p:spPr>
                <a:xfrm>
                  <a:off x="4292563" y="3409088"/>
                  <a:ext cx="260280" cy="379080"/>
                </a:xfrm>
                <a:prstGeom prst="rect">
                  <a:avLst/>
                </a:prstGeom>
              </p:spPr>
            </p:pic>
          </mc:Fallback>
        </mc:AlternateContent>
      </p:grpSp>
      <p:grpSp>
        <p:nvGrpSpPr>
          <p:cNvPr id="23" name="Grupo 22">
            <a:extLst>
              <a:ext uri="{FF2B5EF4-FFF2-40B4-BE49-F238E27FC236}">
                <a16:creationId xmlns:a16="http://schemas.microsoft.com/office/drawing/2014/main" id="{7808CCC9-5352-67F4-14CB-BA36CEBE9808}"/>
              </a:ext>
            </a:extLst>
          </p:cNvPr>
          <p:cNvGrpSpPr/>
          <p:nvPr/>
        </p:nvGrpSpPr>
        <p:grpSpPr>
          <a:xfrm>
            <a:off x="4661563" y="3537608"/>
            <a:ext cx="208800" cy="208440"/>
            <a:chOff x="4661563" y="3537608"/>
            <a:chExt cx="208800" cy="208440"/>
          </a:xfrm>
        </p:grpSpPr>
        <mc:AlternateContent xmlns:mc="http://schemas.openxmlformats.org/markup-compatibility/2006" xmlns:p14="http://schemas.microsoft.com/office/powerpoint/2010/main">
          <mc:Choice Requires="p14">
            <p:contentPart p14:bwMode="auto" r:id="rId12">
              <p14:nvContentPartPr>
                <p14:cNvPr id="21" name="Entrada de lápiz 20">
                  <a:extLst>
                    <a:ext uri="{FF2B5EF4-FFF2-40B4-BE49-F238E27FC236}">
                      <a16:creationId xmlns:a16="http://schemas.microsoft.com/office/drawing/2014/main" id="{8B8615A9-41A8-41EB-E133-5813A9157D64}"/>
                    </a:ext>
                  </a:extLst>
                </p14:cNvPr>
                <p14:cNvContentPartPr/>
                <p14:nvPr/>
              </p14:nvContentPartPr>
              <p14:xfrm>
                <a:off x="4736803" y="3537608"/>
                <a:ext cx="360" cy="208440"/>
              </p14:xfrm>
            </p:contentPart>
          </mc:Choice>
          <mc:Fallback xmlns="">
            <p:pic>
              <p:nvPicPr>
                <p:cNvPr id="21" name="Entrada de lápiz 20">
                  <a:extLst>
                    <a:ext uri="{FF2B5EF4-FFF2-40B4-BE49-F238E27FC236}">
                      <a16:creationId xmlns:a16="http://schemas.microsoft.com/office/drawing/2014/main" id="{8B8615A9-41A8-41EB-E133-5813A9157D64}"/>
                    </a:ext>
                  </a:extLst>
                </p:cNvPr>
                <p:cNvPicPr/>
                <p:nvPr/>
              </p:nvPicPr>
              <p:blipFill>
                <a:blip r:embed="rId13"/>
                <a:stretch>
                  <a:fillRect/>
                </a:stretch>
              </p:blipFill>
              <p:spPr>
                <a:xfrm>
                  <a:off x="4728163" y="3528968"/>
                  <a:ext cx="1800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2" name="Entrada de lápiz 21">
                  <a:extLst>
                    <a:ext uri="{FF2B5EF4-FFF2-40B4-BE49-F238E27FC236}">
                      <a16:creationId xmlns:a16="http://schemas.microsoft.com/office/drawing/2014/main" id="{7D339088-8C93-2DCC-B07E-70FBCE338A5E}"/>
                    </a:ext>
                  </a:extLst>
                </p14:cNvPr>
                <p14:cNvContentPartPr/>
                <p14:nvPr/>
              </p14:nvContentPartPr>
              <p14:xfrm>
                <a:off x="4661563" y="3612488"/>
                <a:ext cx="208800" cy="14760"/>
              </p14:xfrm>
            </p:contentPart>
          </mc:Choice>
          <mc:Fallback xmlns="">
            <p:pic>
              <p:nvPicPr>
                <p:cNvPr id="22" name="Entrada de lápiz 21">
                  <a:extLst>
                    <a:ext uri="{FF2B5EF4-FFF2-40B4-BE49-F238E27FC236}">
                      <a16:creationId xmlns:a16="http://schemas.microsoft.com/office/drawing/2014/main" id="{7D339088-8C93-2DCC-B07E-70FBCE338A5E}"/>
                    </a:ext>
                  </a:extLst>
                </p:cNvPr>
                <p:cNvPicPr/>
                <p:nvPr/>
              </p:nvPicPr>
              <p:blipFill>
                <a:blip r:embed="rId15"/>
                <a:stretch>
                  <a:fillRect/>
                </a:stretch>
              </p:blipFill>
              <p:spPr>
                <a:xfrm>
                  <a:off x="4652563" y="3603848"/>
                  <a:ext cx="226440" cy="32400"/>
                </a:xfrm>
                <a:prstGeom prst="rect">
                  <a:avLst/>
                </a:prstGeom>
              </p:spPr>
            </p:pic>
          </mc:Fallback>
        </mc:AlternateContent>
      </p:grpSp>
    </p:spTree>
    <p:extLst>
      <p:ext uri="{BB962C8B-B14F-4D97-AF65-F5344CB8AC3E}">
        <p14:creationId xmlns:p14="http://schemas.microsoft.com/office/powerpoint/2010/main" val="611091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963FE2-01B3-CC11-95C1-DCEECB4F646F}"/>
              </a:ext>
            </a:extLst>
          </p:cNvPr>
          <p:cNvSpPr>
            <a:spLocks noGrp="1"/>
          </p:cNvSpPr>
          <p:nvPr>
            <p:ph type="title"/>
          </p:nvPr>
        </p:nvSpPr>
        <p:spPr/>
        <p:txBody>
          <a:bodyPr/>
          <a:lstStyle/>
          <a:p>
            <a:r>
              <a:rPr lang="es-ES" dirty="0"/>
              <a:t>Costo de la Deuda Después de Impuestos</a:t>
            </a:r>
            <a:endParaRPr lang="es-GT" dirty="0"/>
          </a:p>
        </p:txBody>
      </p:sp>
      <p:sp>
        <p:nvSpPr>
          <p:cNvPr id="3" name="Marcador de contenido 2">
            <a:extLst>
              <a:ext uri="{FF2B5EF4-FFF2-40B4-BE49-F238E27FC236}">
                <a16:creationId xmlns:a16="http://schemas.microsoft.com/office/drawing/2014/main" id="{581BDA07-9509-2059-762A-EFAD27DDD14E}"/>
              </a:ext>
            </a:extLst>
          </p:cNvPr>
          <p:cNvSpPr>
            <a:spLocks noGrp="1"/>
          </p:cNvSpPr>
          <p:nvPr>
            <p:ph idx="1"/>
          </p:nvPr>
        </p:nvSpPr>
        <p:spPr>
          <a:xfrm>
            <a:off x="224852" y="2194560"/>
            <a:ext cx="11692328" cy="4131289"/>
          </a:xfrm>
        </p:spPr>
        <p:txBody>
          <a:bodyPr>
            <a:normAutofit fontScale="85000" lnSpcReduction="10000"/>
          </a:bodyPr>
          <a:lstStyle/>
          <a:p>
            <a:pPr marL="0" indent="0" algn="ctr">
              <a:buNone/>
            </a:pPr>
            <a:r>
              <a:rPr lang="es-ES" sz="3000" b="1" dirty="0" err="1"/>
              <a:t>k</a:t>
            </a:r>
            <a:r>
              <a:rPr lang="es-ES" sz="3000" b="1" baseline="-25000" dirty="0" err="1"/>
              <a:t>i</a:t>
            </a:r>
            <a:r>
              <a:rPr lang="es-ES" sz="3000" b="1" dirty="0"/>
              <a:t> = </a:t>
            </a:r>
            <a:r>
              <a:rPr lang="es-ES" sz="3000" b="1" dirty="0" err="1"/>
              <a:t>k</a:t>
            </a:r>
            <a:r>
              <a:rPr lang="es-ES" sz="3000" b="1" baseline="-25000" dirty="0" err="1"/>
              <a:t>d</a:t>
            </a:r>
            <a:r>
              <a:rPr lang="es-ES" sz="3000" b="1" dirty="0"/>
              <a:t> x (1-T)</a:t>
            </a:r>
          </a:p>
          <a:p>
            <a:pPr marL="0" indent="0" algn="ctr">
              <a:buNone/>
            </a:pPr>
            <a:endParaRPr lang="es-ES" sz="3000" b="1" dirty="0"/>
          </a:p>
          <a:p>
            <a:pPr marL="0" indent="0" algn="ctr">
              <a:buNone/>
            </a:pPr>
            <a:r>
              <a:rPr lang="es-ES" sz="3000" b="1" dirty="0"/>
              <a:t>Si la empresa tiene una tasa fiscal del 40%. Usando el costo de deuda antes de impuestos de 9.4%, obtenemos el costo de deuda:</a:t>
            </a:r>
          </a:p>
          <a:p>
            <a:pPr marL="0" indent="0" algn="ctr">
              <a:buNone/>
            </a:pPr>
            <a:r>
              <a:rPr lang="es-ES" sz="3000" b="1" dirty="0"/>
              <a:t>9.4% X (1-0.40) </a:t>
            </a:r>
          </a:p>
          <a:p>
            <a:pPr marL="0" indent="0" algn="ctr">
              <a:buNone/>
            </a:pPr>
            <a:endParaRPr lang="es-ES" sz="3000" b="1" dirty="0"/>
          </a:p>
          <a:p>
            <a:pPr marL="0" indent="0" algn="ctr">
              <a:buNone/>
            </a:pPr>
            <a:r>
              <a:rPr lang="es-ES" sz="3000" b="1" dirty="0"/>
              <a:t>= 0.0705 * 100 = 0.0564 * 100 = 5.6%</a:t>
            </a:r>
          </a:p>
          <a:p>
            <a:pPr marL="0" indent="0" algn="ctr">
              <a:buNone/>
            </a:pPr>
            <a:r>
              <a:rPr lang="es-GT" sz="3000" b="1" dirty="0"/>
              <a:t>Por lo general, el costo de deuda a largo plazo es menor que el costo de cualquier forma alternativa de financiamiento a largo plazo, debido sobre todo a la deducción fiscal del interés.</a:t>
            </a:r>
          </a:p>
        </p:txBody>
      </p:sp>
      <p:sp>
        <p:nvSpPr>
          <p:cNvPr id="4" name="Abrir llave 3">
            <a:extLst>
              <a:ext uri="{FF2B5EF4-FFF2-40B4-BE49-F238E27FC236}">
                <a16:creationId xmlns:a16="http://schemas.microsoft.com/office/drawing/2014/main" id="{9698EF66-D36E-5813-28B5-5CD76B08D95B}"/>
              </a:ext>
            </a:extLst>
          </p:cNvPr>
          <p:cNvSpPr/>
          <p:nvPr/>
        </p:nvSpPr>
        <p:spPr>
          <a:xfrm>
            <a:off x="4377878" y="3927423"/>
            <a:ext cx="284812" cy="449705"/>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GT"/>
          </a:p>
        </p:txBody>
      </p:sp>
      <p:sp>
        <p:nvSpPr>
          <p:cNvPr id="5" name="Cerrar llave 4">
            <a:extLst>
              <a:ext uri="{FF2B5EF4-FFF2-40B4-BE49-F238E27FC236}">
                <a16:creationId xmlns:a16="http://schemas.microsoft.com/office/drawing/2014/main" id="{382E19FC-6BDC-1CD4-DE49-2A8101DFF80C}"/>
              </a:ext>
            </a:extLst>
          </p:cNvPr>
          <p:cNvSpPr/>
          <p:nvPr/>
        </p:nvSpPr>
        <p:spPr>
          <a:xfrm>
            <a:off x="7386905" y="3942413"/>
            <a:ext cx="284813" cy="449705"/>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GT"/>
          </a:p>
        </p:txBody>
      </p:sp>
    </p:spTree>
    <p:extLst>
      <p:ext uri="{BB962C8B-B14F-4D97-AF65-F5344CB8AC3E}">
        <p14:creationId xmlns:p14="http://schemas.microsoft.com/office/powerpoint/2010/main" val="2660265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8A6218-4224-6DFB-AB4A-624C96959DFD}"/>
              </a:ext>
            </a:extLst>
          </p:cNvPr>
          <p:cNvSpPr>
            <a:spLocks noGrp="1"/>
          </p:cNvSpPr>
          <p:nvPr>
            <p:ph type="title"/>
          </p:nvPr>
        </p:nvSpPr>
        <p:spPr>
          <a:xfrm>
            <a:off x="809469" y="434715"/>
            <a:ext cx="10696731" cy="899410"/>
          </a:xfrm>
        </p:spPr>
        <p:txBody>
          <a:bodyPr/>
          <a:lstStyle/>
          <a:p>
            <a:r>
              <a:rPr lang="es-ES" b="1" dirty="0"/>
              <a:t>El Costo de las Acciones Preferentes</a:t>
            </a:r>
            <a:endParaRPr lang="es-GT" b="1" dirty="0"/>
          </a:p>
        </p:txBody>
      </p:sp>
      <p:sp>
        <p:nvSpPr>
          <p:cNvPr id="3" name="Marcador de contenido 2">
            <a:extLst>
              <a:ext uri="{FF2B5EF4-FFF2-40B4-BE49-F238E27FC236}">
                <a16:creationId xmlns:a16="http://schemas.microsoft.com/office/drawing/2014/main" id="{AB5353E9-794E-5E12-7C56-FCB727208213}"/>
              </a:ext>
            </a:extLst>
          </p:cNvPr>
          <p:cNvSpPr>
            <a:spLocks noGrp="1"/>
          </p:cNvSpPr>
          <p:nvPr>
            <p:ph idx="1"/>
          </p:nvPr>
        </p:nvSpPr>
        <p:spPr>
          <a:xfrm>
            <a:off x="685800" y="1633928"/>
            <a:ext cx="10820400" cy="4584757"/>
          </a:xfrm>
        </p:spPr>
        <p:txBody>
          <a:bodyPr>
            <a:normAutofit fontScale="92500" lnSpcReduction="10000"/>
          </a:bodyPr>
          <a:lstStyle/>
          <a:p>
            <a:pPr marL="0" indent="0" algn="just">
              <a:buNone/>
            </a:pPr>
            <a:r>
              <a:rPr lang="es-ES" sz="3000" b="1" dirty="0"/>
              <a:t>El costo de las acciones preferentes, </a:t>
            </a:r>
            <a:r>
              <a:rPr lang="es-ES" sz="3000" b="1" dirty="0" err="1"/>
              <a:t>kp</a:t>
            </a:r>
            <a:r>
              <a:rPr lang="es-ES" sz="3000" b="1" dirty="0"/>
              <a:t>, es la razón entre el dividendo de las acciones preferentes  y los beneficios netos de la empresa obtenidos de la venta de acciones preferentes. Los beneficios netos representan la cantidad de dinero que se recibirá menos cualquier costo flotante.</a:t>
            </a:r>
          </a:p>
          <a:p>
            <a:pPr marL="0" indent="0" algn="ctr">
              <a:buNone/>
            </a:pPr>
            <a:r>
              <a:rPr lang="es-ES" sz="3000" b="1" dirty="0"/>
              <a:t>		</a:t>
            </a:r>
            <a:r>
              <a:rPr lang="es-ES" sz="3000" b="1" dirty="0" err="1"/>
              <a:t>D</a:t>
            </a:r>
            <a:r>
              <a:rPr lang="es-ES" sz="3000" b="1" baseline="-25000" dirty="0" err="1"/>
              <a:t>p</a:t>
            </a:r>
            <a:endParaRPr lang="es-ES" sz="3000" b="1" baseline="-25000" dirty="0"/>
          </a:p>
          <a:p>
            <a:pPr marL="0" indent="0" algn="ctr">
              <a:buNone/>
            </a:pPr>
            <a:r>
              <a:rPr lang="es-ES" sz="3000" b="1" dirty="0" err="1"/>
              <a:t>k</a:t>
            </a:r>
            <a:r>
              <a:rPr lang="es-ES" sz="3000" b="1" baseline="-25000" dirty="0" err="1"/>
              <a:t>p</a:t>
            </a:r>
            <a:r>
              <a:rPr lang="es-ES" sz="3000" b="1" dirty="0"/>
              <a:t> = </a:t>
            </a:r>
          </a:p>
          <a:p>
            <a:pPr marL="0" indent="0" algn="ctr">
              <a:buNone/>
            </a:pPr>
            <a:r>
              <a:rPr lang="es-GT" sz="3000" b="1" dirty="0"/>
              <a:t>	           N</a:t>
            </a:r>
            <a:r>
              <a:rPr lang="es-GT" sz="3000" b="1" baseline="-25000" dirty="0"/>
              <a:t>p</a:t>
            </a:r>
            <a:r>
              <a:rPr lang="es-GT" sz="3000" b="1" dirty="0"/>
              <a:t>	</a:t>
            </a:r>
          </a:p>
          <a:p>
            <a:pPr marL="0" indent="0" algn="just">
              <a:buNone/>
            </a:pPr>
            <a:r>
              <a:rPr lang="es-GT" sz="3000" b="1" dirty="0"/>
              <a:t>Como los dividendos de las acciones preferentes se pagan de los flujos de efectivo después de impuestos de la empresa, no es necesario un ajuste fiscal.</a:t>
            </a:r>
          </a:p>
        </p:txBody>
      </p:sp>
      <p:cxnSp>
        <p:nvCxnSpPr>
          <p:cNvPr id="5" name="Conector recto 4">
            <a:extLst>
              <a:ext uri="{FF2B5EF4-FFF2-40B4-BE49-F238E27FC236}">
                <a16:creationId xmlns:a16="http://schemas.microsoft.com/office/drawing/2014/main" id="{E4213479-2437-AEA1-2F67-8F6FD3E42694}"/>
              </a:ext>
            </a:extLst>
          </p:cNvPr>
          <p:cNvCxnSpPr/>
          <p:nvPr/>
        </p:nvCxnSpPr>
        <p:spPr>
          <a:xfrm>
            <a:off x="6610662" y="4631961"/>
            <a:ext cx="809469"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678280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DC388D0-7080-0D30-1830-4585D7D521CA}"/>
              </a:ext>
            </a:extLst>
          </p:cNvPr>
          <p:cNvSpPr>
            <a:spLocks noGrp="1"/>
          </p:cNvSpPr>
          <p:nvPr>
            <p:ph idx="1"/>
          </p:nvPr>
        </p:nvSpPr>
        <p:spPr>
          <a:xfrm>
            <a:off x="434715" y="404734"/>
            <a:ext cx="11347554" cy="5813952"/>
          </a:xfrm>
        </p:spPr>
        <p:txBody>
          <a:bodyPr>
            <a:noAutofit/>
          </a:bodyPr>
          <a:lstStyle/>
          <a:p>
            <a:pPr marL="0" indent="0" algn="just">
              <a:buNone/>
            </a:pPr>
            <a:r>
              <a:rPr lang="es-ES" sz="2800" b="1" dirty="0"/>
              <a:t>La empresa contempla la emisión de acciones preferentes con un dividendo anual del 10% que planea vender en su valor a la par de $87. Se espera costo de emisión y venta de las acciones de $5 por acción. </a:t>
            </a:r>
          </a:p>
          <a:p>
            <a:pPr marL="457200" indent="-457200" algn="just">
              <a:buAutoNum type="arabicPeriod"/>
            </a:pPr>
            <a:r>
              <a:rPr lang="es-ES" sz="2800" b="1" dirty="0"/>
              <a:t>Determinar el costo de las acciones calculando el monto en dólares del dividendo preferente anual (0.10  * $87) = $8.70.</a:t>
            </a:r>
          </a:p>
          <a:p>
            <a:pPr marL="457200" indent="-457200" algn="just">
              <a:buAutoNum type="arabicPeriod"/>
            </a:pPr>
            <a:r>
              <a:rPr lang="es-ES" sz="2800" b="1" dirty="0"/>
              <a:t>Beneficios netos por  acción obtenidos de la venta  propuesta de las acciones equivalen al precio de venta menos los costos flotantes ($87 -$5 = $82).</a:t>
            </a:r>
          </a:p>
          <a:p>
            <a:pPr marL="457200" indent="-457200" algn="just">
              <a:buAutoNum type="arabicPeriod"/>
            </a:pPr>
            <a:r>
              <a:rPr lang="es-ES" sz="2800" b="1" dirty="0"/>
              <a:t>Si sustituimos el dividendo anual de, </a:t>
            </a:r>
            <a:r>
              <a:rPr lang="es-ES" sz="2800" b="1" dirty="0" err="1"/>
              <a:t>D</a:t>
            </a:r>
            <a:r>
              <a:rPr lang="es-ES" sz="2800" b="1" baseline="-25000" dirty="0" err="1"/>
              <a:t>p</a:t>
            </a:r>
            <a:r>
              <a:rPr lang="es-ES" sz="2800" b="1" dirty="0"/>
              <a:t>, de $8.70 y los beneficios netos, N</a:t>
            </a:r>
            <a:r>
              <a:rPr lang="es-ES" sz="2800" b="1" baseline="-25000" dirty="0"/>
              <a:t>p</a:t>
            </a:r>
            <a:r>
              <a:rPr lang="es-ES" sz="2800" b="1" dirty="0"/>
              <a:t>, de $82, se obtiene el costo de las acciones preferentes:</a:t>
            </a:r>
          </a:p>
          <a:p>
            <a:pPr marL="0" indent="0" algn="just">
              <a:buNone/>
            </a:pPr>
            <a:r>
              <a:rPr lang="es-ES" sz="2800" b="1" dirty="0"/>
              <a:t>($8.70 / $82) = 0.1060 * 100 = 10.60%</a:t>
            </a:r>
            <a:endParaRPr lang="es-GT" sz="2800" b="1" dirty="0"/>
          </a:p>
        </p:txBody>
      </p:sp>
    </p:spTree>
    <p:extLst>
      <p:ext uri="{BB962C8B-B14F-4D97-AF65-F5344CB8AC3E}">
        <p14:creationId xmlns:p14="http://schemas.microsoft.com/office/powerpoint/2010/main" val="2223506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956768-22B3-FDBE-E7B7-8BE0BB31F7C4}"/>
              </a:ext>
            </a:extLst>
          </p:cNvPr>
          <p:cNvSpPr>
            <a:spLocks noGrp="1"/>
          </p:cNvSpPr>
          <p:nvPr>
            <p:ph type="title"/>
          </p:nvPr>
        </p:nvSpPr>
        <p:spPr/>
        <p:txBody>
          <a:bodyPr/>
          <a:lstStyle/>
          <a:p>
            <a:r>
              <a:rPr lang="es-MX" dirty="0"/>
              <a:t>El costo de las acciones comunes</a:t>
            </a:r>
            <a:endParaRPr lang="es-GT" dirty="0"/>
          </a:p>
        </p:txBody>
      </p:sp>
      <p:sp>
        <p:nvSpPr>
          <p:cNvPr id="3" name="Marcador de contenido 2">
            <a:extLst>
              <a:ext uri="{FF2B5EF4-FFF2-40B4-BE49-F238E27FC236}">
                <a16:creationId xmlns:a16="http://schemas.microsoft.com/office/drawing/2014/main" id="{BE946F9D-1B2E-B448-EAC2-264FE03FD410}"/>
              </a:ext>
            </a:extLst>
          </p:cNvPr>
          <p:cNvSpPr>
            <a:spLocks noGrp="1"/>
          </p:cNvSpPr>
          <p:nvPr>
            <p:ph idx="1"/>
          </p:nvPr>
        </p:nvSpPr>
        <p:spPr/>
        <p:txBody>
          <a:bodyPr>
            <a:normAutofit/>
          </a:bodyPr>
          <a:lstStyle/>
          <a:p>
            <a:pPr marL="0" indent="0">
              <a:buNone/>
            </a:pPr>
            <a:r>
              <a:rPr lang="es-MX" sz="3600" b="1" dirty="0"/>
              <a:t>Es el retorno que los inversionistas del mercado requieren de las acciones.  Existen 2 formas de financiamiento con acciones comunes:</a:t>
            </a:r>
            <a:endParaRPr lang="es-ES" sz="3600" b="1" dirty="0"/>
          </a:p>
          <a:p>
            <a:pPr marL="457200" indent="-457200">
              <a:buAutoNum type="arabicPeriod"/>
            </a:pPr>
            <a:r>
              <a:rPr lang="es-MX" sz="3600" b="1" dirty="0"/>
              <a:t>Las ganancias retenidas</a:t>
            </a:r>
          </a:p>
          <a:p>
            <a:pPr marL="457200" indent="-457200">
              <a:buAutoNum type="arabicPeriod"/>
            </a:pPr>
            <a:r>
              <a:rPr lang="es-MX" sz="3600" b="1" dirty="0"/>
              <a:t>Las nuevas emisiones de acciones comunes</a:t>
            </a:r>
            <a:endParaRPr lang="es-GT" sz="3600" b="1" dirty="0"/>
          </a:p>
        </p:txBody>
      </p:sp>
    </p:spTree>
    <p:extLst>
      <p:ext uri="{BB962C8B-B14F-4D97-AF65-F5344CB8AC3E}">
        <p14:creationId xmlns:p14="http://schemas.microsoft.com/office/powerpoint/2010/main" val="1194493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A5892-359A-D040-E083-BAC78D32DD8A}"/>
              </a:ext>
            </a:extLst>
          </p:cNvPr>
          <p:cNvSpPr>
            <a:spLocks noGrp="1"/>
          </p:cNvSpPr>
          <p:nvPr>
            <p:ph type="title"/>
          </p:nvPr>
        </p:nvSpPr>
        <p:spPr>
          <a:xfrm>
            <a:off x="494675" y="764373"/>
            <a:ext cx="11317574" cy="1293028"/>
          </a:xfrm>
        </p:spPr>
        <p:txBody>
          <a:bodyPr/>
          <a:lstStyle/>
          <a:p>
            <a:r>
              <a:rPr lang="es-ES" b="1" dirty="0"/>
              <a:t>Cálculo del Costo de Capital en Acciones Comunes</a:t>
            </a:r>
            <a:endParaRPr lang="es-GT" b="1" dirty="0"/>
          </a:p>
        </p:txBody>
      </p:sp>
      <p:sp>
        <p:nvSpPr>
          <p:cNvPr id="3" name="Marcador de contenido 2">
            <a:extLst>
              <a:ext uri="{FF2B5EF4-FFF2-40B4-BE49-F238E27FC236}">
                <a16:creationId xmlns:a16="http://schemas.microsoft.com/office/drawing/2014/main" id="{CE2D15FC-71BB-396E-5937-095D5362506C}"/>
              </a:ext>
            </a:extLst>
          </p:cNvPr>
          <p:cNvSpPr>
            <a:spLocks noGrp="1"/>
          </p:cNvSpPr>
          <p:nvPr>
            <p:ph idx="1"/>
          </p:nvPr>
        </p:nvSpPr>
        <p:spPr/>
        <p:txBody>
          <a:bodyPr>
            <a:normAutofit/>
          </a:bodyPr>
          <a:lstStyle/>
          <a:p>
            <a:pPr marL="0" indent="0" algn="just">
              <a:buNone/>
            </a:pPr>
            <a:r>
              <a:rPr lang="es-ES" sz="3400" b="1" dirty="0"/>
              <a:t>El costo de capital en acciones comunes, k</a:t>
            </a:r>
            <a:r>
              <a:rPr lang="es-ES" sz="3400" b="1" baseline="-25000" dirty="0"/>
              <a:t>s</a:t>
            </a:r>
            <a:r>
              <a:rPr lang="es-ES" sz="3400" b="1" dirty="0"/>
              <a:t>, es la tasa a la que los inversionistas descuentan los dividendos esperados de la empresa para determinar su valor accionario. Una se basa en el modelo de valoración de crecimiento constante y la otra en el modelo de precios de activos de capital (CAPM).</a:t>
            </a:r>
            <a:endParaRPr lang="es-GT" sz="3400" b="1" dirty="0"/>
          </a:p>
        </p:txBody>
      </p:sp>
    </p:spTree>
    <p:extLst>
      <p:ext uri="{BB962C8B-B14F-4D97-AF65-F5344CB8AC3E}">
        <p14:creationId xmlns:p14="http://schemas.microsoft.com/office/powerpoint/2010/main" val="1434238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C89390-B03A-FB96-16A4-647EF809DFED}"/>
              </a:ext>
            </a:extLst>
          </p:cNvPr>
          <p:cNvSpPr>
            <a:spLocks noGrp="1"/>
          </p:cNvSpPr>
          <p:nvPr>
            <p:ph type="title"/>
          </p:nvPr>
        </p:nvSpPr>
        <p:spPr>
          <a:xfrm>
            <a:off x="685800" y="764373"/>
            <a:ext cx="10820400" cy="1293028"/>
          </a:xfrm>
        </p:spPr>
        <p:txBody>
          <a:bodyPr>
            <a:normAutofit/>
          </a:bodyPr>
          <a:lstStyle/>
          <a:p>
            <a:r>
              <a:rPr lang="es-ES" b="1" dirty="0"/>
              <a:t>Uso del Modelo de valoración de crecimiento constante (Gordon)</a:t>
            </a:r>
            <a:endParaRPr lang="es-GT" b="1" dirty="0"/>
          </a:p>
        </p:txBody>
      </p:sp>
      <p:sp>
        <p:nvSpPr>
          <p:cNvPr id="3" name="Marcador de contenido 2">
            <a:extLst>
              <a:ext uri="{FF2B5EF4-FFF2-40B4-BE49-F238E27FC236}">
                <a16:creationId xmlns:a16="http://schemas.microsoft.com/office/drawing/2014/main" id="{04F3885F-7A54-A8E5-675B-16E38963AA50}"/>
              </a:ext>
            </a:extLst>
          </p:cNvPr>
          <p:cNvSpPr>
            <a:spLocks noGrp="1"/>
          </p:cNvSpPr>
          <p:nvPr>
            <p:ph idx="1"/>
          </p:nvPr>
        </p:nvSpPr>
        <p:spPr/>
        <p:txBody>
          <a:bodyPr/>
          <a:lstStyle/>
          <a:p>
            <a:pPr marL="0" indent="0">
              <a:buNone/>
            </a:pPr>
            <a:r>
              <a:rPr lang="es-ES" dirty="0"/>
              <a:t>		</a:t>
            </a:r>
            <a:r>
              <a:rPr lang="es-ES" b="1" dirty="0"/>
              <a:t>D</a:t>
            </a:r>
            <a:r>
              <a:rPr lang="es-ES" b="1" baseline="-25000" dirty="0"/>
              <a:t>1</a:t>
            </a:r>
          </a:p>
          <a:p>
            <a:pPr marL="0" indent="0">
              <a:buNone/>
            </a:pPr>
            <a:r>
              <a:rPr lang="es-ES" b="1" dirty="0"/>
              <a:t>k</a:t>
            </a:r>
            <a:r>
              <a:rPr lang="es-ES" b="1" baseline="-25000" dirty="0"/>
              <a:t>s</a:t>
            </a:r>
            <a:r>
              <a:rPr lang="es-ES" b="1" dirty="0"/>
              <a:t> = 				+ g</a:t>
            </a:r>
          </a:p>
          <a:p>
            <a:pPr marL="0" indent="0">
              <a:buNone/>
            </a:pPr>
            <a:r>
              <a:rPr lang="es-ES" b="1" dirty="0"/>
              <a:t>	          P</a:t>
            </a:r>
            <a:r>
              <a:rPr lang="es-ES" b="1" baseline="-25000" dirty="0"/>
              <a:t>0</a:t>
            </a:r>
          </a:p>
          <a:p>
            <a:pPr marL="0" indent="0">
              <a:buNone/>
            </a:pPr>
            <a:r>
              <a:rPr lang="es-ES" b="1" dirty="0"/>
              <a:t>donde:</a:t>
            </a:r>
          </a:p>
          <a:p>
            <a:pPr marL="0" indent="0">
              <a:buNone/>
            </a:pPr>
            <a:r>
              <a:rPr lang="es-GT" b="1" dirty="0"/>
              <a:t>P</a:t>
            </a:r>
            <a:r>
              <a:rPr lang="es-GT" b="1" baseline="-25000" dirty="0"/>
              <a:t>0</a:t>
            </a:r>
            <a:r>
              <a:rPr lang="es-GT" b="1" dirty="0"/>
              <a:t> = valor de las acciones comunes</a:t>
            </a:r>
          </a:p>
          <a:p>
            <a:pPr marL="0" indent="0">
              <a:buNone/>
            </a:pPr>
            <a:r>
              <a:rPr lang="es-GT" b="1" dirty="0"/>
              <a:t>D</a:t>
            </a:r>
            <a:r>
              <a:rPr lang="es-GT" b="1" baseline="-25000" dirty="0"/>
              <a:t>1</a:t>
            </a:r>
            <a:r>
              <a:rPr lang="es-GT" b="1" dirty="0"/>
              <a:t> = dividendo por acción esperado al final del año 1 </a:t>
            </a:r>
          </a:p>
          <a:p>
            <a:pPr marL="0" indent="0">
              <a:buNone/>
            </a:pPr>
            <a:r>
              <a:rPr lang="es-GT" b="1" dirty="0"/>
              <a:t>k</a:t>
            </a:r>
            <a:r>
              <a:rPr lang="es-GT" b="1" baseline="-25000" dirty="0"/>
              <a:t>s</a:t>
            </a:r>
            <a:r>
              <a:rPr lang="es-GT" b="1" dirty="0"/>
              <a:t> = retorno requerido de acciones comunes</a:t>
            </a:r>
          </a:p>
          <a:p>
            <a:pPr marL="0" indent="0">
              <a:buNone/>
            </a:pPr>
            <a:r>
              <a:rPr lang="es-GT" b="1" dirty="0"/>
              <a:t>g = tasa de crecimiento constante de dividendos</a:t>
            </a:r>
          </a:p>
        </p:txBody>
      </p:sp>
      <p:cxnSp>
        <p:nvCxnSpPr>
          <p:cNvPr id="5" name="Conector recto 4">
            <a:extLst>
              <a:ext uri="{FF2B5EF4-FFF2-40B4-BE49-F238E27FC236}">
                <a16:creationId xmlns:a16="http://schemas.microsoft.com/office/drawing/2014/main" id="{91856EA4-D778-6382-4D3C-7B701AC0A983}"/>
              </a:ext>
            </a:extLst>
          </p:cNvPr>
          <p:cNvCxnSpPr/>
          <p:nvPr/>
        </p:nvCxnSpPr>
        <p:spPr>
          <a:xfrm>
            <a:off x="1798820" y="2803161"/>
            <a:ext cx="2008682"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935420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a:extLst>
              <a:ext uri="{FF2B5EF4-FFF2-40B4-BE49-F238E27FC236}">
                <a16:creationId xmlns:a16="http://schemas.microsoft.com/office/drawing/2014/main" id="{C46C4E26-6B35-30EF-2866-C44E298FE9DB}"/>
              </a:ext>
            </a:extLst>
          </p:cNvPr>
          <p:cNvGraphicFramePr>
            <a:graphicFrameLocks noGrp="1"/>
          </p:cNvGraphicFramePr>
          <p:nvPr>
            <p:ph idx="1"/>
            <p:extLst>
              <p:ext uri="{D42A27DB-BD31-4B8C-83A1-F6EECF244321}">
                <p14:modId xmlns:p14="http://schemas.microsoft.com/office/powerpoint/2010/main" val="3837096324"/>
              </p:ext>
            </p:extLst>
          </p:nvPr>
        </p:nvGraphicFramePr>
        <p:xfrm>
          <a:off x="685800" y="2193925"/>
          <a:ext cx="10820400" cy="2857757"/>
        </p:xfrm>
        <a:graphic>
          <a:graphicData uri="http://schemas.openxmlformats.org/drawingml/2006/table">
            <a:tbl>
              <a:tblPr firstRow="1" bandRow="1">
                <a:tableStyleId>{5C22544A-7EE6-4342-B048-85BDC9FD1C3A}</a:tableStyleId>
              </a:tblPr>
              <a:tblGrid>
                <a:gridCol w="5410200">
                  <a:extLst>
                    <a:ext uri="{9D8B030D-6E8A-4147-A177-3AD203B41FA5}">
                      <a16:colId xmlns:a16="http://schemas.microsoft.com/office/drawing/2014/main" val="3713472135"/>
                    </a:ext>
                  </a:extLst>
                </a:gridCol>
                <a:gridCol w="5410200">
                  <a:extLst>
                    <a:ext uri="{9D8B030D-6E8A-4147-A177-3AD203B41FA5}">
                      <a16:colId xmlns:a16="http://schemas.microsoft.com/office/drawing/2014/main" val="1145316884"/>
                    </a:ext>
                  </a:extLst>
                </a:gridCol>
              </a:tblGrid>
              <a:tr h="408251">
                <a:tc>
                  <a:txBody>
                    <a:bodyPr/>
                    <a:lstStyle/>
                    <a:p>
                      <a:pPr algn="ctr"/>
                      <a:r>
                        <a:rPr lang="es-ES" b="1" dirty="0"/>
                        <a:t>Año</a:t>
                      </a:r>
                      <a:endParaRPr lang="es-GT" b="1" dirty="0"/>
                    </a:p>
                  </a:txBody>
                  <a:tcPr/>
                </a:tc>
                <a:tc>
                  <a:txBody>
                    <a:bodyPr/>
                    <a:lstStyle/>
                    <a:p>
                      <a:pPr algn="ctr"/>
                      <a:r>
                        <a:rPr lang="es-ES" b="1" dirty="0"/>
                        <a:t>Dividendo</a:t>
                      </a:r>
                      <a:endParaRPr lang="es-GT" b="1" dirty="0"/>
                    </a:p>
                  </a:txBody>
                  <a:tcPr/>
                </a:tc>
                <a:extLst>
                  <a:ext uri="{0D108BD9-81ED-4DB2-BD59-A6C34878D82A}">
                    <a16:rowId xmlns:a16="http://schemas.microsoft.com/office/drawing/2014/main" val="4197120497"/>
                  </a:ext>
                </a:extLst>
              </a:tr>
              <a:tr h="408251">
                <a:tc>
                  <a:txBody>
                    <a:bodyPr/>
                    <a:lstStyle/>
                    <a:p>
                      <a:pPr algn="ctr"/>
                      <a:r>
                        <a:rPr lang="es-ES" b="1" dirty="0"/>
                        <a:t>2006</a:t>
                      </a:r>
                    </a:p>
                  </a:txBody>
                  <a:tcPr/>
                </a:tc>
                <a:tc>
                  <a:txBody>
                    <a:bodyPr/>
                    <a:lstStyle/>
                    <a:p>
                      <a:pPr algn="ctr"/>
                      <a:r>
                        <a:rPr lang="es-ES" b="1" dirty="0"/>
                        <a:t>$3.80</a:t>
                      </a:r>
                      <a:endParaRPr lang="es-GT" b="1" dirty="0"/>
                    </a:p>
                  </a:txBody>
                  <a:tcPr/>
                </a:tc>
                <a:extLst>
                  <a:ext uri="{0D108BD9-81ED-4DB2-BD59-A6C34878D82A}">
                    <a16:rowId xmlns:a16="http://schemas.microsoft.com/office/drawing/2014/main" val="293600478"/>
                  </a:ext>
                </a:extLst>
              </a:tr>
              <a:tr h="408251">
                <a:tc>
                  <a:txBody>
                    <a:bodyPr/>
                    <a:lstStyle/>
                    <a:p>
                      <a:pPr algn="ctr"/>
                      <a:r>
                        <a:rPr lang="es-ES" b="1" dirty="0"/>
                        <a:t>2005</a:t>
                      </a:r>
                      <a:endParaRPr lang="es-GT" b="1" dirty="0"/>
                    </a:p>
                  </a:txBody>
                  <a:tcPr/>
                </a:tc>
                <a:tc>
                  <a:txBody>
                    <a:bodyPr/>
                    <a:lstStyle/>
                    <a:p>
                      <a:pPr algn="ctr"/>
                      <a:r>
                        <a:rPr lang="es-ES" b="1" dirty="0"/>
                        <a:t>$3.62</a:t>
                      </a:r>
                      <a:endParaRPr lang="es-GT" b="1" dirty="0"/>
                    </a:p>
                  </a:txBody>
                  <a:tcPr/>
                </a:tc>
                <a:extLst>
                  <a:ext uri="{0D108BD9-81ED-4DB2-BD59-A6C34878D82A}">
                    <a16:rowId xmlns:a16="http://schemas.microsoft.com/office/drawing/2014/main" val="3629304054"/>
                  </a:ext>
                </a:extLst>
              </a:tr>
              <a:tr h="408251">
                <a:tc>
                  <a:txBody>
                    <a:bodyPr/>
                    <a:lstStyle/>
                    <a:p>
                      <a:pPr algn="ctr"/>
                      <a:r>
                        <a:rPr lang="es-ES" b="1" dirty="0"/>
                        <a:t>2004</a:t>
                      </a:r>
                      <a:endParaRPr lang="es-GT" b="1" dirty="0"/>
                    </a:p>
                  </a:txBody>
                  <a:tcPr/>
                </a:tc>
                <a:tc>
                  <a:txBody>
                    <a:bodyPr/>
                    <a:lstStyle/>
                    <a:p>
                      <a:pPr algn="ctr"/>
                      <a:r>
                        <a:rPr lang="es-ES" b="1" dirty="0"/>
                        <a:t>$3.47</a:t>
                      </a:r>
                      <a:endParaRPr lang="es-GT" b="1" dirty="0"/>
                    </a:p>
                  </a:txBody>
                  <a:tcPr/>
                </a:tc>
                <a:extLst>
                  <a:ext uri="{0D108BD9-81ED-4DB2-BD59-A6C34878D82A}">
                    <a16:rowId xmlns:a16="http://schemas.microsoft.com/office/drawing/2014/main" val="4174279062"/>
                  </a:ext>
                </a:extLst>
              </a:tr>
              <a:tr h="408251">
                <a:tc>
                  <a:txBody>
                    <a:bodyPr/>
                    <a:lstStyle/>
                    <a:p>
                      <a:pPr algn="ctr"/>
                      <a:r>
                        <a:rPr lang="es-ES" b="1" dirty="0"/>
                        <a:t>2003</a:t>
                      </a:r>
                      <a:endParaRPr lang="es-GT" b="1" dirty="0"/>
                    </a:p>
                  </a:txBody>
                  <a:tcPr/>
                </a:tc>
                <a:tc>
                  <a:txBody>
                    <a:bodyPr/>
                    <a:lstStyle/>
                    <a:p>
                      <a:pPr algn="ctr"/>
                      <a:r>
                        <a:rPr lang="es-ES" b="1" dirty="0"/>
                        <a:t>$3.33</a:t>
                      </a:r>
                      <a:endParaRPr lang="es-GT" b="1" dirty="0"/>
                    </a:p>
                  </a:txBody>
                  <a:tcPr/>
                </a:tc>
                <a:extLst>
                  <a:ext uri="{0D108BD9-81ED-4DB2-BD59-A6C34878D82A}">
                    <a16:rowId xmlns:a16="http://schemas.microsoft.com/office/drawing/2014/main" val="527381364"/>
                  </a:ext>
                </a:extLst>
              </a:tr>
              <a:tr h="408251">
                <a:tc>
                  <a:txBody>
                    <a:bodyPr/>
                    <a:lstStyle/>
                    <a:p>
                      <a:pPr algn="ctr"/>
                      <a:r>
                        <a:rPr lang="es-ES" b="1" dirty="0"/>
                        <a:t>2002</a:t>
                      </a:r>
                      <a:endParaRPr lang="es-GT" b="1" dirty="0"/>
                    </a:p>
                  </a:txBody>
                  <a:tcPr/>
                </a:tc>
                <a:tc>
                  <a:txBody>
                    <a:bodyPr/>
                    <a:lstStyle/>
                    <a:p>
                      <a:pPr algn="ctr"/>
                      <a:r>
                        <a:rPr lang="es-ES" b="1" dirty="0"/>
                        <a:t>$3.12</a:t>
                      </a:r>
                      <a:endParaRPr lang="es-GT" b="1" dirty="0"/>
                    </a:p>
                  </a:txBody>
                  <a:tcPr/>
                </a:tc>
                <a:extLst>
                  <a:ext uri="{0D108BD9-81ED-4DB2-BD59-A6C34878D82A}">
                    <a16:rowId xmlns:a16="http://schemas.microsoft.com/office/drawing/2014/main" val="1131920709"/>
                  </a:ext>
                </a:extLst>
              </a:tr>
              <a:tr h="408251">
                <a:tc>
                  <a:txBody>
                    <a:bodyPr/>
                    <a:lstStyle/>
                    <a:p>
                      <a:pPr algn="ctr"/>
                      <a:r>
                        <a:rPr lang="es-ES" b="1" dirty="0"/>
                        <a:t>2001</a:t>
                      </a:r>
                      <a:endParaRPr lang="es-GT" b="1" dirty="0"/>
                    </a:p>
                  </a:txBody>
                  <a:tcPr/>
                </a:tc>
                <a:tc>
                  <a:txBody>
                    <a:bodyPr/>
                    <a:lstStyle/>
                    <a:p>
                      <a:pPr algn="ctr"/>
                      <a:r>
                        <a:rPr lang="es-ES" b="1" dirty="0"/>
                        <a:t>$2.97</a:t>
                      </a:r>
                      <a:endParaRPr lang="es-GT" b="1" dirty="0"/>
                    </a:p>
                  </a:txBody>
                  <a:tcPr/>
                </a:tc>
                <a:extLst>
                  <a:ext uri="{0D108BD9-81ED-4DB2-BD59-A6C34878D82A}">
                    <a16:rowId xmlns:a16="http://schemas.microsoft.com/office/drawing/2014/main" val="4196984578"/>
                  </a:ext>
                </a:extLst>
              </a:tr>
            </a:tbl>
          </a:graphicData>
        </a:graphic>
      </p:graphicFrame>
    </p:spTree>
    <p:extLst>
      <p:ext uri="{BB962C8B-B14F-4D97-AF65-F5344CB8AC3E}">
        <p14:creationId xmlns:p14="http://schemas.microsoft.com/office/powerpoint/2010/main" val="37800273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BAF3F03-E188-4AE4-80BD-7B1095900C4A}"/>
              </a:ext>
            </a:extLst>
          </p:cNvPr>
          <p:cNvSpPr>
            <a:spLocks noGrp="1"/>
          </p:cNvSpPr>
          <p:nvPr>
            <p:ph idx="1"/>
          </p:nvPr>
        </p:nvSpPr>
        <p:spPr>
          <a:xfrm>
            <a:off x="685800" y="119922"/>
            <a:ext cx="10820400" cy="6098764"/>
          </a:xfrm>
        </p:spPr>
        <p:txBody>
          <a:bodyPr/>
          <a:lstStyle/>
          <a:p>
            <a:pPr marL="0" indent="0">
              <a:buNone/>
            </a:pPr>
            <a:r>
              <a:rPr lang="es-ES" b="1" dirty="0"/>
              <a:t>Tasa de crecimiento = 5% (proceso ya visto en valoración de acciones)</a:t>
            </a:r>
          </a:p>
          <a:p>
            <a:pPr marL="0" indent="0">
              <a:buNone/>
            </a:pPr>
            <a:r>
              <a:rPr lang="es-ES" b="1" dirty="0"/>
              <a:t>La empresa espera pagar un dividendo de D</a:t>
            </a:r>
            <a:r>
              <a:rPr lang="es-ES" b="1" baseline="-25000" dirty="0"/>
              <a:t>1</a:t>
            </a:r>
            <a:r>
              <a:rPr lang="es-ES" b="1" dirty="0"/>
              <a:t> = $4</a:t>
            </a:r>
          </a:p>
          <a:p>
            <a:pPr marL="0" indent="0">
              <a:buNone/>
            </a:pPr>
            <a:r>
              <a:rPr lang="es-ES" b="1" dirty="0"/>
              <a:t>El precio de mercado, P</a:t>
            </a:r>
            <a:r>
              <a:rPr lang="es-ES" b="1" baseline="-25000" dirty="0"/>
              <a:t>0</a:t>
            </a:r>
            <a:r>
              <a:rPr lang="es-ES" b="1" dirty="0"/>
              <a:t>, de sus acciones comunes es de $50</a:t>
            </a:r>
          </a:p>
          <a:p>
            <a:pPr marL="0" indent="0">
              <a:buNone/>
            </a:pPr>
            <a:endParaRPr lang="es-ES" dirty="0"/>
          </a:p>
          <a:p>
            <a:pPr marL="0" indent="0">
              <a:buNone/>
            </a:pPr>
            <a:r>
              <a:rPr lang="es-ES" dirty="0"/>
              <a:t>		</a:t>
            </a:r>
            <a:r>
              <a:rPr lang="es-ES" b="1" dirty="0"/>
              <a:t>D</a:t>
            </a:r>
            <a:r>
              <a:rPr lang="es-ES" b="1" baseline="-25000" dirty="0"/>
              <a:t>1</a:t>
            </a:r>
          </a:p>
          <a:p>
            <a:pPr marL="0" indent="0">
              <a:buNone/>
            </a:pPr>
            <a:r>
              <a:rPr lang="es-ES" b="1" dirty="0"/>
              <a:t>k</a:t>
            </a:r>
            <a:r>
              <a:rPr lang="es-ES" b="1" baseline="-25000" dirty="0"/>
              <a:t>s</a:t>
            </a:r>
            <a:r>
              <a:rPr lang="es-ES" b="1" dirty="0"/>
              <a:t> = 				+ g</a:t>
            </a:r>
          </a:p>
          <a:p>
            <a:pPr marL="0" indent="0">
              <a:buNone/>
            </a:pPr>
            <a:r>
              <a:rPr lang="es-ES" b="1" dirty="0"/>
              <a:t>	          P</a:t>
            </a:r>
            <a:r>
              <a:rPr lang="es-ES" b="1" baseline="-25000" dirty="0"/>
              <a:t>0</a:t>
            </a:r>
          </a:p>
          <a:p>
            <a:pPr marL="0" indent="0">
              <a:buNone/>
            </a:pPr>
            <a:endParaRPr lang="es-ES" dirty="0"/>
          </a:p>
          <a:p>
            <a:pPr marL="0" indent="0">
              <a:buNone/>
            </a:pPr>
            <a:r>
              <a:rPr lang="es-ES" dirty="0"/>
              <a:t>		</a:t>
            </a:r>
            <a:endParaRPr lang="es-ES" b="1" baseline="-25000" dirty="0"/>
          </a:p>
          <a:p>
            <a:pPr marL="0" indent="0">
              <a:buNone/>
            </a:pPr>
            <a:r>
              <a:rPr lang="es-ES" b="1" dirty="0"/>
              <a:t>k</a:t>
            </a:r>
            <a:r>
              <a:rPr lang="es-ES" b="1" baseline="-25000" dirty="0"/>
              <a:t>s</a:t>
            </a:r>
            <a:r>
              <a:rPr lang="es-ES" b="1" dirty="0"/>
              <a:t> = 		$4		+ 0.05 = 0.13 *100 = 13%</a:t>
            </a:r>
          </a:p>
          <a:p>
            <a:pPr marL="0" indent="0">
              <a:buNone/>
            </a:pPr>
            <a:r>
              <a:rPr lang="es-ES" b="1" dirty="0"/>
              <a:t>	          $50</a:t>
            </a:r>
          </a:p>
          <a:p>
            <a:pPr marL="0" indent="0" algn="just">
              <a:buNone/>
            </a:pPr>
            <a:r>
              <a:rPr lang="es-ES" b="1" dirty="0"/>
              <a:t>El costo de capital en acciones comunes de 13% representa el retorno que requieren  los accionistas existentes de su inversión. Si el retorno real es menor que ese, es probable que los accionistas comiencen a vender sus acciones.</a:t>
            </a:r>
          </a:p>
          <a:p>
            <a:pPr marL="0" indent="0">
              <a:buNone/>
            </a:pPr>
            <a:endParaRPr lang="es-ES" b="1" baseline="-25000" dirty="0"/>
          </a:p>
          <a:p>
            <a:pPr marL="0" indent="0">
              <a:buNone/>
            </a:pPr>
            <a:endParaRPr lang="es-ES" b="1" baseline="-25000" dirty="0"/>
          </a:p>
          <a:p>
            <a:pPr marL="0" indent="0">
              <a:buNone/>
            </a:pPr>
            <a:endParaRPr lang="es-ES" dirty="0"/>
          </a:p>
          <a:p>
            <a:pPr marL="0" indent="0">
              <a:buNone/>
            </a:pPr>
            <a:endParaRPr lang="es-ES" dirty="0"/>
          </a:p>
          <a:p>
            <a:pPr marL="0" indent="0">
              <a:buNone/>
            </a:pPr>
            <a:endParaRPr lang="es-GT" dirty="0"/>
          </a:p>
        </p:txBody>
      </p:sp>
      <p:cxnSp>
        <p:nvCxnSpPr>
          <p:cNvPr id="5" name="Conector recto 4">
            <a:extLst>
              <a:ext uri="{FF2B5EF4-FFF2-40B4-BE49-F238E27FC236}">
                <a16:creationId xmlns:a16="http://schemas.microsoft.com/office/drawing/2014/main" id="{6582E613-C93C-F7FF-F495-DF31444495A1}"/>
              </a:ext>
            </a:extLst>
          </p:cNvPr>
          <p:cNvCxnSpPr/>
          <p:nvPr/>
        </p:nvCxnSpPr>
        <p:spPr>
          <a:xfrm>
            <a:off x="1888761" y="2398426"/>
            <a:ext cx="1693888" cy="0"/>
          </a:xfrm>
          <a:prstGeom prst="line">
            <a:avLst/>
          </a:prstGeom>
        </p:spPr>
        <p:style>
          <a:lnRef idx="3">
            <a:schemeClr val="dk1"/>
          </a:lnRef>
          <a:fillRef idx="0">
            <a:schemeClr val="dk1"/>
          </a:fillRef>
          <a:effectRef idx="2">
            <a:schemeClr val="dk1"/>
          </a:effectRef>
          <a:fontRef idx="minor">
            <a:schemeClr val="tx1"/>
          </a:fontRef>
        </p:style>
      </p:cxnSp>
      <p:cxnSp>
        <p:nvCxnSpPr>
          <p:cNvPr id="7" name="Conector recto 6">
            <a:extLst>
              <a:ext uri="{FF2B5EF4-FFF2-40B4-BE49-F238E27FC236}">
                <a16:creationId xmlns:a16="http://schemas.microsoft.com/office/drawing/2014/main" id="{34DD725B-B730-6D9F-0DA8-3325A3D0EFD3}"/>
              </a:ext>
            </a:extLst>
          </p:cNvPr>
          <p:cNvCxnSpPr/>
          <p:nvPr/>
        </p:nvCxnSpPr>
        <p:spPr>
          <a:xfrm>
            <a:off x="1738859" y="4302178"/>
            <a:ext cx="1948721"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742399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41D61C-C366-7F02-B52E-C931B4DC4E9C}"/>
              </a:ext>
            </a:extLst>
          </p:cNvPr>
          <p:cNvSpPr>
            <a:spLocks noGrp="1"/>
          </p:cNvSpPr>
          <p:nvPr>
            <p:ph type="title"/>
          </p:nvPr>
        </p:nvSpPr>
        <p:spPr/>
        <p:txBody>
          <a:bodyPr/>
          <a:lstStyle/>
          <a:p>
            <a:r>
              <a:rPr lang="es-ES" b="1" dirty="0"/>
              <a:t>Modelo de Precios de Activos de Capital (CAPM)</a:t>
            </a:r>
            <a:endParaRPr lang="es-GT" b="1" dirty="0"/>
          </a:p>
        </p:txBody>
      </p:sp>
      <p:sp>
        <p:nvSpPr>
          <p:cNvPr id="3" name="Marcador de contenido 2">
            <a:extLst>
              <a:ext uri="{FF2B5EF4-FFF2-40B4-BE49-F238E27FC236}">
                <a16:creationId xmlns:a16="http://schemas.microsoft.com/office/drawing/2014/main" id="{974F13DB-19D6-C045-AF16-E14413D68AEE}"/>
              </a:ext>
            </a:extLst>
          </p:cNvPr>
          <p:cNvSpPr>
            <a:spLocks noGrp="1"/>
          </p:cNvSpPr>
          <p:nvPr>
            <p:ph idx="1"/>
          </p:nvPr>
        </p:nvSpPr>
        <p:spPr/>
        <p:txBody>
          <a:bodyPr/>
          <a:lstStyle/>
          <a:p>
            <a:pPr marL="0" indent="0">
              <a:buNone/>
            </a:pPr>
            <a:r>
              <a:rPr lang="es-ES" b="1" dirty="0"/>
              <a:t>Describe la relación entre el retorno requerido, k</a:t>
            </a:r>
            <a:r>
              <a:rPr lang="es-ES" b="1" baseline="-25000" dirty="0"/>
              <a:t>s</a:t>
            </a:r>
            <a:r>
              <a:rPr lang="es-ES" b="1" dirty="0"/>
              <a:t>, y el riesgo no diversificable de la empresa medido por el coeficiente beta, b. El CAPM básico es:</a:t>
            </a:r>
          </a:p>
          <a:p>
            <a:pPr marL="0" indent="0">
              <a:buNone/>
            </a:pPr>
            <a:endParaRPr lang="es-GT" b="1" dirty="0"/>
          </a:p>
          <a:p>
            <a:pPr marL="0" indent="0">
              <a:buNone/>
            </a:pPr>
            <a:r>
              <a:rPr lang="es-GT" b="1" dirty="0"/>
              <a:t>ks =  R</a:t>
            </a:r>
            <a:r>
              <a:rPr lang="es-GT" b="1" baseline="-25000" dirty="0"/>
              <a:t>F</a:t>
            </a:r>
            <a:r>
              <a:rPr lang="es-GT" b="1" dirty="0"/>
              <a:t> +  b X (k</a:t>
            </a:r>
            <a:r>
              <a:rPr lang="es-GT" b="1" baseline="-25000" dirty="0"/>
              <a:t>m</a:t>
            </a:r>
            <a:r>
              <a:rPr lang="es-GT" b="1" dirty="0"/>
              <a:t> – R</a:t>
            </a:r>
            <a:r>
              <a:rPr lang="es-GT" b="1" baseline="-25000" dirty="0"/>
              <a:t>F</a:t>
            </a:r>
            <a:r>
              <a:rPr lang="es-GT" b="1" dirty="0"/>
              <a:t>)</a:t>
            </a:r>
          </a:p>
          <a:p>
            <a:pPr marL="0" indent="0">
              <a:buNone/>
            </a:pPr>
            <a:endParaRPr lang="es-GT" b="1" dirty="0"/>
          </a:p>
          <a:p>
            <a:pPr marL="0" indent="0">
              <a:buNone/>
            </a:pPr>
            <a:r>
              <a:rPr lang="es-GT" b="1" dirty="0"/>
              <a:t>donde:</a:t>
            </a:r>
          </a:p>
          <a:p>
            <a:pPr marL="0" indent="0">
              <a:buNone/>
            </a:pPr>
            <a:r>
              <a:rPr lang="es-GT" b="1" dirty="0"/>
              <a:t>R</a:t>
            </a:r>
            <a:r>
              <a:rPr lang="es-GT" b="1" baseline="-25000" dirty="0"/>
              <a:t>F</a:t>
            </a:r>
            <a:r>
              <a:rPr lang="es-GT" b="1" dirty="0"/>
              <a:t> = tasa de retorno libre de riesgo</a:t>
            </a:r>
          </a:p>
          <a:p>
            <a:pPr marL="0" indent="0">
              <a:buNone/>
            </a:pPr>
            <a:r>
              <a:rPr lang="es-GT" b="1" dirty="0"/>
              <a:t>k</a:t>
            </a:r>
            <a:r>
              <a:rPr lang="es-GT" b="1" baseline="-25000" dirty="0"/>
              <a:t>m</a:t>
            </a:r>
            <a:r>
              <a:rPr lang="es-GT" b="1" dirty="0"/>
              <a:t> = retorno de mercado; retorno de la cartera de mercado de activos</a:t>
            </a:r>
          </a:p>
        </p:txBody>
      </p:sp>
      <p:sp>
        <p:nvSpPr>
          <p:cNvPr id="4" name="Abrir llave 3">
            <a:extLst>
              <a:ext uri="{FF2B5EF4-FFF2-40B4-BE49-F238E27FC236}">
                <a16:creationId xmlns:a16="http://schemas.microsoft.com/office/drawing/2014/main" id="{C8EAF1CA-22A5-F87E-2D33-006619E0BF1D}"/>
              </a:ext>
            </a:extLst>
          </p:cNvPr>
          <p:cNvSpPr/>
          <p:nvPr/>
        </p:nvSpPr>
        <p:spPr>
          <a:xfrm>
            <a:off x="1992943" y="3252866"/>
            <a:ext cx="45719" cy="464695"/>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GT"/>
          </a:p>
        </p:txBody>
      </p:sp>
      <p:sp>
        <p:nvSpPr>
          <p:cNvPr id="5" name="Cerrar llave 4">
            <a:extLst>
              <a:ext uri="{FF2B5EF4-FFF2-40B4-BE49-F238E27FC236}">
                <a16:creationId xmlns:a16="http://schemas.microsoft.com/office/drawing/2014/main" id="{DE8FE106-68F0-7603-E93B-E138274339E0}"/>
              </a:ext>
            </a:extLst>
          </p:cNvPr>
          <p:cNvSpPr/>
          <p:nvPr/>
        </p:nvSpPr>
        <p:spPr>
          <a:xfrm>
            <a:off x="3777521" y="3252866"/>
            <a:ext cx="134163" cy="464695"/>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GT"/>
          </a:p>
        </p:txBody>
      </p:sp>
    </p:spTree>
    <p:extLst>
      <p:ext uri="{BB962C8B-B14F-4D97-AF65-F5344CB8AC3E}">
        <p14:creationId xmlns:p14="http://schemas.microsoft.com/office/powerpoint/2010/main" val="4656016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8C06EE7-8CEA-4E38-F28D-FA3882FFE4DB}"/>
              </a:ext>
            </a:extLst>
          </p:cNvPr>
          <p:cNvSpPr>
            <a:spLocks noGrp="1"/>
          </p:cNvSpPr>
          <p:nvPr>
            <p:ph idx="1"/>
          </p:nvPr>
        </p:nvSpPr>
        <p:spPr>
          <a:xfrm>
            <a:off x="685800" y="779490"/>
            <a:ext cx="10820400" cy="5439196"/>
          </a:xfrm>
        </p:spPr>
        <p:txBody>
          <a:bodyPr>
            <a:normAutofit/>
          </a:bodyPr>
          <a:lstStyle/>
          <a:p>
            <a:pPr marL="0" indent="0" algn="just">
              <a:buNone/>
            </a:pPr>
            <a:r>
              <a:rPr lang="es-ES" sz="2500" b="1" dirty="0"/>
              <a:t>Si la misma empresa del ejemplo anterior, en donde R</a:t>
            </a:r>
            <a:r>
              <a:rPr lang="es-ES" sz="2500" b="1" baseline="-25000" dirty="0"/>
              <a:t>F</a:t>
            </a:r>
            <a:r>
              <a:rPr lang="es-ES" sz="2500" b="1" dirty="0"/>
              <a:t> es del 7%, coeficiente beta de la empresa, b, es de 1.5 y el retorno de mercado, k</a:t>
            </a:r>
            <a:r>
              <a:rPr lang="es-ES" sz="2500" b="1" baseline="-25000" dirty="0"/>
              <a:t>m</a:t>
            </a:r>
            <a:r>
              <a:rPr lang="es-ES" sz="2500" b="1" dirty="0"/>
              <a:t>, es igual al 11%:</a:t>
            </a:r>
          </a:p>
          <a:p>
            <a:pPr marL="0" indent="0" algn="just">
              <a:buNone/>
            </a:pPr>
            <a:endParaRPr lang="es-ES" sz="2500" b="1" dirty="0"/>
          </a:p>
          <a:p>
            <a:pPr marL="0" indent="0" algn="just">
              <a:buNone/>
            </a:pPr>
            <a:r>
              <a:rPr lang="es-ES" sz="2500" b="1" dirty="0"/>
              <a:t>k</a:t>
            </a:r>
            <a:r>
              <a:rPr lang="es-ES" sz="2500" b="1" baseline="-25000" dirty="0"/>
              <a:t>s</a:t>
            </a:r>
            <a:r>
              <a:rPr lang="es-ES" sz="2500" b="1" dirty="0"/>
              <a:t> =  7% +    1.5 X (11%-7%)         = 0.13 * 100 = 13%</a:t>
            </a:r>
          </a:p>
          <a:p>
            <a:pPr marL="0" indent="0" algn="just">
              <a:buNone/>
            </a:pPr>
            <a:endParaRPr lang="es-ES" sz="2500" b="1" dirty="0"/>
          </a:p>
          <a:p>
            <a:pPr marL="0" indent="0" algn="just">
              <a:buNone/>
            </a:pPr>
            <a:r>
              <a:rPr lang="es-MX" sz="2500" b="1" dirty="0"/>
              <a:t>El costo de capital en acciones comunes del 13% representa el retorno que los inversionistas requieren de las acciones comunes</a:t>
            </a:r>
            <a:r>
              <a:rPr lang="es-ES" sz="2500" b="1" dirty="0"/>
              <a:t>.</a:t>
            </a:r>
            <a:r>
              <a:rPr lang="es-MX" sz="2500" b="1" dirty="0"/>
              <a:t> </a:t>
            </a:r>
            <a:r>
              <a:rPr lang="es-ES" sz="2500" b="1" dirty="0"/>
              <a:t>E</a:t>
            </a:r>
            <a:r>
              <a:rPr lang="es-MX" sz="2500" b="1" dirty="0" err="1"/>
              <a:t>ste</a:t>
            </a:r>
            <a:r>
              <a:rPr lang="es-MX" sz="2500" b="1" dirty="0"/>
              <a:t> costo es igual a que se calculó con el modelo de valoración de crecimiento constante</a:t>
            </a:r>
            <a:r>
              <a:rPr lang="es-ES" sz="2500" b="1" dirty="0"/>
              <a:t>.</a:t>
            </a:r>
            <a:endParaRPr lang="es-GT" sz="2500" b="1" dirty="0"/>
          </a:p>
        </p:txBody>
      </p:sp>
      <p:sp>
        <p:nvSpPr>
          <p:cNvPr id="4" name="Abrir llave 3">
            <a:extLst>
              <a:ext uri="{FF2B5EF4-FFF2-40B4-BE49-F238E27FC236}">
                <a16:creationId xmlns:a16="http://schemas.microsoft.com/office/drawing/2014/main" id="{933C628F-70FD-9509-8A4A-9A50317A145F}"/>
              </a:ext>
            </a:extLst>
          </p:cNvPr>
          <p:cNvSpPr/>
          <p:nvPr/>
        </p:nvSpPr>
        <p:spPr>
          <a:xfrm>
            <a:off x="2353455" y="2278505"/>
            <a:ext cx="195621" cy="614596"/>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GT"/>
          </a:p>
        </p:txBody>
      </p:sp>
      <p:sp>
        <p:nvSpPr>
          <p:cNvPr id="5" name="Cerrar llave 4">
            <a:extLst>
              <a:ext uri="{FF2B5EF4-FFF2-40B4-BE49-F238E27FC236}">
                <a16:creationId xmlns:a16="http://schemas.microsoft.com/office/drawing/2014/main" id="{E179BF1F-D1AB-DD46-CE8F-717B60A1C521}"/>
              </a:ext>
            </a:extLst>
          </p:cNvPr>
          <p:cNvSpPr/>
          <p:nvPr/>
        </p:nvSpPr>
        <p:spPr>
          <a:xfrm>
            <a:off x="4826833" y="2278505"/>
            <a:ext cx="374754" cy="614596"/>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GT"/>
          </a:p>
        </p:txBody>
      </p:sp>
    </p:spTree>
    <p:extLst>
      <p:ext uri="{BB962C8B-B14F-4D97-AF65-F5344CB8AC3E}">
        <p14:creationId xmlns:p14="http://schemas.microsoft.com/office/powerpoint/2010/main" val="8363628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79BD1F-694B-4D01-3F7E-9188931E9903}"/>
              </a:ext>
            </a:extLst>
          </p:cNvPr>
          <p:cNvSpPr>
            <a:spLocks noGrp="1"/>
          </p:cNvSpPr>
          <p:nvPr>
            <p:ph type="title"/>
          </p:nvPr>
        </p:nvSpPr>
        <p:spPr/>
        <p:txBody>
          <a:bodyPr/>
          <a:lstStyle/>
          <a:p>
            <a:r>
              <a:rPr lang="es-ES" b="1" dirty="0"/>
              <a:t>El Costo de las Ganancias Retenidas</a:t>
            </a:r>
            <a:endParaRPr lang="es-GT" b="1" dirty="0"/>
          </a:p>
        </p:txBody>
      </p:sp>
      <p:sp>
        <p:nvSpPr>
          <p:cNvPr id="3" name="Marcador de contenido 2">
            <a:extLst>
              <a:ext uri="{FF2B5EF4-FFF2-40B4-BE49-F238E27FC236}">
                <a16:creationId xmlns:a16="http://schemas.microsoft.com/office/drawing/2014/main" id="{D74AFC8B-86AE-17A8-5640-FBF783194CEF}"/>
              </a:ext>
            </a:extLst>
          </p:cNvPr>
          <p:cNvSpPr>
            <a:spLocks noGrp="1"/>
          </p:cNvSpPr>
          <p:nvPr>
            <p:ph idx="1"/>
          </p:nvPr>
        </p:nvSpPr>
        <p:spPr/>
        <p:txBody>
          <a:bodyPr>
            <a:normAutofit/>
          </a:bodyPr>
          <a:lstStyle/>
          <a:p>
            <a:pPr marL="0" indent="0" algn="just">
              <a:buNone/>
            </a:pPr>
            <a:r>
              <a:rPr lang="es-ES" sz="2500" b="1" dirty="0"/>
              <a:t>El costo de las ganancias retenidas, k</a:t>
            </a:r>
            <a:r>
              <a:rPr lang="es-ES" sz="2500" b="1" baseline="-25000" dirty="0"/>
              <a:t>r</a:t>
            </a:r>
            <a:r>
              <a:rPr lang="es-ES" sz="2500" b="1" dirty="0"/>
              <a:t>, para la empresa es igual que el costo de una emisión equivalente completamente suscrita de acciones comunes adicionales.</a:t>
            </a:r>
          </a:p>
          <a:p>
            <a:pPr marL="0" indent="0" algn="just">
              <a:buNone/>
            </a:pPr>
            <a:r>
              <a:rPr lang="es-MX" sz="2500" b="1" dirty="0"/>
              <a:t>Si consideramos a las ganancias retenidas como una emisión completamente suscrita de acciones comunes adicionales, podemos establecer que el costo de las ganancias de la empresa es igual al costo de capital en acciones comunes determinado anteriormente:</a:t>
            </a:r>
            <a:endParaRPr lang="es-ES" sz="2500" b="1" dirty="0"/>
          </a:p>
          <a:p>
            <a:pPr marL="0" indent="0" algn="ctr">
              <a:buNone/>
            </a:pPr>
            <a:r>
              <a:rPr lang="es-ES" sz="2500" b="1" dirty="0"/>
              <a:t>k</a:t>
            </a:r>
            <a:r>
              <a:rPr lang="es-ES" sz="2500" b="1" baseline="-25000" dirty="0"/>
              <a:t>r</a:t>
            </a:r>
            <a:r>
              <a:rPr lang="es-ES" sz="2500" b="1" dirty="0"/>
              <a:t> = k</a:t>
            </a:r>
            <a:r>
              <a:rPr lang="es-ES" sz="2500" b="1" baseline="-25000" dirty="0"/>
              <a:t>s</a:t>
            </a:r>
            <a:endParaRPr lang="es-GT" sz="2500" b="1" baseline="-25000" dirty="0"/>
          </a:p>
        </p:txBody>
      </p:sp>
    </p:spTree>
    <p:extLst>
      <p:ext uri="{BB962C8B-B14F-4D97-AF65-F5344CB8AC3E}">
        <p14:creationId xmlns:p14="http://schemas.microsoft.com/office/powerpoint/2010/main" val="9125067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A17309-3831-AD83-3038-77CAE6CE9664}"/>
              </a:ext>
            </a:extLst>
          </p:cNvPr>
          <p:cNvSpPr>
            <a:spLocks noGrp="1"/>
          </p:cNvSpPr>
          <p:nvPr>
            <p:ph type="title"/>
          </p:nvPr>
        </p:nvSpPr>
        <p:spPr/>
        <p:txBody>
          <a:bodyPr/>
          <a:lstStyle/>
          <a:p>
            <a:r>
              <a:rPr lang="es-ES" b="1" dirty="0"/>
              <a:t>El Costo de Nuevas  Emisiones de Acciones comunes:</a:t>
            </a:r>
            <a:endParaRPr lang="es-GT" b="1" dirty="0"/>
          </a:p>
        </p:txBody>
      </p:sp>
      <p:sp>
        <p:nvSpPr>
          <p:cNvPr id="3" name="Marcador de contenido 2">
            <a:extLst>
              <a:ext uri="{FF2B5EF4-FFF2-40B4-BE49-F238E27FC236}">
                <a16:creationId xmlns:a16="http://schemas.microsoft.com/office/drawing/2014/main" id="{DA4ED144-93D1-CDF2-F07F-2158E4E61085}"/>
              </a:ext>
            </a:extLst>
          </p:cNvPr>
          <p:cNvSpPr>
            <a:spLocks noGrp="1"/>
          </p:cNvSpPr>
          <p:nvPr>
            <p:ph idx="1"/>
          </p:nvPr>
        </p:nvSpPr>
        <p:spPr/>
        <p:txBody>
          <a:bodyPr>
            <a:normAutofit/>
          </a:bodyPr>
          <a:lstStyle/>
          <a:p>
            <a:pPr marL="0" indent="0" algn="just">
              <a:buNone/>
            </a:pPr>
            <a:r>
              <a:rPr lang="es-MX" sz="3200" b="1" dirty="0"/>
              <a:t>El costo de una nueva emisión de acciones comunes, </a:t>
            </a:r>
            <a:r>
              <a:rPr lang="es-MX" sz="3200" b="1" dirty="0" err="1"/>
              <a:t>k</a:t>
            </a:r>
            <a:r>
              <a:rPr lang="es-MX" sz="3200" b="1" baseline="-25000" dirty="0" err="1"/>
              <a:t>n</a:t>
            </a:r>
            <a:r>
              <a:rPr lang="es-MX" sz="3200" b="1" baseline="-25000" dirty="0"/>
              <a:t>,</a:t>
            </a:r>
            <a:r>
              <a:rPr lang="es-MX" sz="3200" b="1" dirty="0"/>
              <a:t> se determina calculando el costo de las acciones comunes, el neto de costos de infravaloración y los costos flotantes relacionados. Normalmente, para que una nueva emisión se venda debe estar subvalorada, es decir, venderse a un precio menor que su precio de mercado corriente, P</a:t>
            </a:r>
            <a:r>
              <a:rPr lang="es-MX" sz="3200" b="1" baseline="-25000" dirty="0"/>
              <a:t>0</a:t>
            </a:r>
            <a:r>
              <a:rPr lang="es-ES" sz="3200" b="1" dirty="0"/>
              <a:t>.</a:t>
            </a:r>
            <a:endParaRPr lang="es-GT" sz="3200" b="1" dirty="0"/>
          </a:p>
        </p:txBody>
      </p:sp>
    </p:spTree>
    <p:extLst>
      <p:ext uri="{BB962C8B-B14F-4D97-AF65-F5344CB8AC3E}">
        <p14:creationId xmlns:p14="http://schemas.microsoft.com/office/powerpoint/2010/main" val="31040230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4F3885F-7A54-A8E5-675B-16E38963AA50}"/>
              </a:ext>
            </a:extLst>
          </p:cNvPr>
          <p:cNvSpPr>
            <a:spLocks noGrp="1"/>
          </p:cNvSpPr>
          <p:nvPr>
            <p:ph idx="1"/>
          </p:nvPr>
        </p:nvSpPr>
        <p:spPr/>
        <p:txBody>
          <a:bodyPr/>
          <a:lstStyle/>
          <a:p>
            <a:pPr marL="0" indent="0">
              <a:buNone/>
            </a:pPr>
            <a:r>
              <a:rPr lang="es-ES" dirty="0"/>
              <a:t>		</a:t>
            </a:r>
            <a:r>
              <a:rPr lang="es-ES" b="1" dirty="0"/>
              <a:t>D</a:t>
            </a:r>
            <a:r>
              <a:rPr lang="es-ES" b="1" baseline="-25000" dirty="0"/>
              <a:t>1</a:t>
            </a:r>
          </a:p>
          <a:p>
            <a:pPr marL="0" indent="0">
              <a:buNone/>
            </a:pPr>
            <a:r>
              <a:rPr lang="es-ES" b="1" dirty="0" err="1"/>
              <a:t>k</a:t>
            </a:r>
            <a:r>
              <a:rPr lang="es-ES" b="1" baseline="-25000" dirty="0" err="1"/>
              <a:t>n</a:t>
            </a:r>
            <a:r>
              <a:rPr lang="es-ES" b="1" dirty="0"/>
              <a:t> = 				+ g</a:t>
            </a:r>
          </a:p>
          <a:p>
            <a:pPr marL="0" indent="0">
              <a:buNone/>
            </a:pPr>
            <a:r>
              <a:rPr lang="es-ES" b="1" dirty="0"/>
              <a:t>	          </a:t>
            </a:r>
            <a:r>
              <a:rPr lang="es-ES" b="1" dirty="0" err="1"/>
              <a:t>N</a:t>
            </a:r>
            <a:r>
              <a:rPr lang="es-ES" b="1" baseline="-25000" dirty="0" err="1"/>
              <a:t>n</a:t>
            </a:r>
            <a:endParaRPr lang="es-ES" b="1" baseline="-25000" dirty="0"/>
          </a:p>
          <a:p>
            <a:pPr marL="0" indent="0">
              <a:buNone/>
            </a:pPr>
            <a:endParaRPr lang="es-ES" b="1" baseline="-25000" dirty="0"/>
          </a:p>
          <a:p>
            <a:pPr marL="0" indent="0">
              <a:buNone/>
            </a:pPr>
            <a:endParaRPr lang="es-ES" b="1" baseline="-25000" dirty="0"/>
          </a:p>
          <a:p>
            <a:pPr marL="0" indent="0">
              <a:buNone/>
            </a:pPr>
            <a:r>
              <a:rPr lang="es-ES" b="1" dirty="0" err="1"/>
              <a:t>N</a:t>
            </a:r>
            <a:r>
              <a:rPr lang="es-ES" b="1" baseline="-25000" dirty="0" err="1"/>
              <a:t>n</a:t>
            </a:r>
            <a:r>
              <a:rPr lang="es-ES" b="1" dirty="0"/>
              <a:t> = Beneficios netos obtenidos de la venta de las nuevas acciones comunes después de restar los costos de infravaloración y flotantes.</a:t>
            </a:r>
          </a:p>
        </p:txBody>
      </p:sp>
      <p:cxnSp>
        <p:nvCxnSpPr>
          <p:cNvPr id="5" name="Conector recto 4">
            <a:extLst>
              <a:ext uri="{FF2B5EF4-FFF2-40B4-BE49-F238E27FC236}">
                <a16:creationId xmlns:a16="http://schemas.microsoft.com/office/drawing/2014/main" id="{91856EA4-D778-6382-4D3C-7B701AC0A983}"/>
              </a:ext>
            </a:extLst>
          </p:cNvPr>
          <p:cNvCxnSpPr/>
          <p:nvPr/>
        </p:nvCxnSpPr>
        <p:spPr>
          <a:xfrm>
            <a:off x="1798820" y="2803161"/>
            <a:ext cx="2008682"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7444221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E3A3F52-8666-C246-30C0-7E86E74DB734}"/>
              </a:ext>
            </a:extLst>
          </p:cNvPr>
          <p:cNvSpPr>
            <a:spLocks noGrp="1"/>
          </p:cNvSpPr>
          <p:nvPr>
            <p:ph idx="1"/>
          </p:nvPr>
        </p:nvSpPr>
        <p:spPr>
          <a:xfrm>
            <a:off x="685800" y="944380"/>
            <a:ext cx="10820400" cy="5274305"/>
          </a:xfrm>
        </p:spPr>
        <p:txBody>
          <a:bodyPr>
            <a:normAutofit/>
          </a:bodyPr>
          <a:lstStyle/>
          <a:p>
            <a:pPr marL="0" indent="0" algn="just">
              <a:buNone/>
            </a:pPr>
            <a:r>
              <a:rPr lang="es-ES" sz="3000" b="1" dirty="0"/>
              <a:t>Con lo datos de ejemplos anteriores tenemos que el costo de capital en acciones comunes fue del 13%, dividendo esperado $4, precio de mercado $50 y tasa esperada de crecimiento de dividendos del 5%. </a:t>
            </a:r>
          </a:p>
          <a:p>
            <a:pPr marL="0" indent="0" algn="just">
              <a:buNone/>
            </a:pPr>
            <a:r>
              <a:rPr lang="es-ES" sz="3000" b="1" dirty="0"/>
              <a:t>Determinando el costo de las nuevas acciones comunes, pueden venderse en $47. La subvaloración de $3 se debe a la naturaleza competitiva del mercado. Un segundo costo relacionado con una nueva emisión son los costos flotantes de $2.50 por acción que se pagan por emitir y vender las nuevas acciones. Por lo tanto, se espera que los costos totales de subvaloración y flotantes sean de $5.50 por acción. </a:t>
            </a:r>
            <a:endParaRPr lang="es-GT" sz="3000" b="1" dirty="0"/>
          </a:p>
        </p:txBody>
      </p:sp>
    </p:spTree>
    <p:extLst>
      <p:ext uri="{BB962C8B-B14F-4D97-AF65-F5344CB8AC3E}">
        <p14:creationId xmlns:p14="http://schemas.microsoft.com/office/powerpoint/2010/main" val="13942531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4F3885F-7A54-A8E5-675B-16E38963AA50}"/>
              </a:ext>
            </a:extLst>
          </p:cNvPr>
          <p:cNvSpPr>
            <a:spLocks noGrp="1"/>
          </p:cNvSpPr>
          <p:nvPr>
            <p:ph idx="1"/>
          </p:nvPr>
        </p:nvSpPr>
        <p:spPr/>
        <p:txBody>
          <a:bodyPr/>
          <a:lstStyle/>
          <a:p>
            <a:pPr marL="0" indent="0">
              <a:buNone/>
            </a:pPr>
            <a:r>
              <a:rPr lang="es-ES" dirty="0"/>
              <a:t>		</a:t>
            </a:r>
            <a:r>
              <a:rPr lang="es-ES" b="1" dirty="0"/>
              <a:t>$4</a:t>
            </a:r>
            <a:endParaRPr lang="es-ES" b="1" baseline="-25000" dirty="0"/>
          </a:p>
          <a:p>
            <a:pPr marL="0" indent="0">
              <a:buNone/>
            </a:pPr>
            <a:r>
              <a:rPr lang="es-ES" b="1" dirty="0" err="1"/>
              <a:t>k</a:t>
            </a:r>
            <a:r>
              <a:rPr lang="es-ES" b="1" baseline="-25000" dirty="0" err="1"/>
              <a:t>n</a:t>
            </a:r>
            <a:r>
              <a:rPr lang="es-ES" b="1" dirty="0"/>
              <a:t> = 				+ 0.05 = 14%</a:t>
            </a:r>
          </a:p>
          <a:p>
            <a:pPr marL="0" indent="0">
              <a:buNone/>
            </a:pPr>
            <a:r>
              <a:rPr lang="es-ES" b="1" dirty="0"/>
              <a:t>	         $44.50</a:t>
            </a:r>
            <a:endParaRPr lang="es-ES" b="1" baseline="-25000" dirty="0"/>
          </a:p>
          <a:p>
            <a:pPr marL="0" indent="0">
              <a:buNone/>
            </a:pPr>
            <a:endParaRPr lang="es-ES" b="1" baseline="-25000" dirty="0"/>
          </a:p>
          <a:p>
            <a:pPr marL="0" indent="0">
              <a:buNone/>
            </a:pPr>
            <a:endParaRPr lang="es-ES" b="1" baseline="-25000" dirty="0"/>
          </a:p>
          <a:p>
            <a:pPr marL="0" indent="0">
              <a:buNone/>
            </a:pPr>
            <a:r>
              <a:rPr lang="es-ES" b="1" dirty="0" err="1"/>
              <a:t>N</a:t>
            </a:r>
            <a:r>
              <a:rPr lang="es-ES" b="1" baseline="-25000" dirty="0" err="1"/>
              <a:t>n</a:t>
            </a:r>
            <a:r>
              <a:rPr lang="es-ES" b="1" dirty="0"/>
              <a:t> = Beneficios netos obtenidos de la venta de las nuevas acciones comunes después de restar los costos de infravaloración y flotantes.</a:t>
            </a:r>
          </a:p>
        </p:txBody>
      </p:sp>
      <p:cxnSp>
        <p:nvCxnSpPr>
          <p:cNvPr id="5" name="Conector recto 4">
            <a:extLst>
              <a:ext uri="{FF2B5EF4-FFF2-40B4-BE49-F238E27FC236}">
                <a16:creationId xmlns:a16="http://schemas.microsoft.com/office/drawing/2014/main" id="{91856EA4-D778-6382-4D3C-7B701AC0A983}"/>
              </a:ext>
            </a:extLst>
          </p:cNvPr>
          <p:cNvCxnSpPr/>
          <p:nvPr/>
        </p:nvCxnSpPr>
        <p:spPr>
          <a:xfrm>
            <a:off x="1798820" y="2803161"/>
            <a:ext cx="2008682"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5325827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a:extLst>
              <a:ext uri="{FF2B5EF4-FFF2-40B4-BE49-F238E27FC236}">
                <a16:creationId xmlns:a16="http://schemas.microsoft.com/office/drawing/2014/main" id="{0E18D091-F35D-F96F-CE68-EB7A1A7B7147}"/>
              </a:ext>
            </a:extLst>
          </p:cNvPr>
          <p:cNvGraphicFramePr>
            <a:graphicFrameLocks noGrp="1"/>
          </p:cNvGraphicFramePr>
          <p:nvPr>
            <p:ph idx="1"/>
            <p:extLst>
              <p:ext uri="{D42A27DB-BD31-4B8C-83A1-F6EECF244321}">
                <p14:modId xmlns:p14="http://schemas.microsoft.com/office/powerpoint/2010/main" val="3308860259"/>
              </p:ext>
            </p:extLst>
          </p:nvPr>
        </p:nvGraphicFramePr>
        <p:xfrm>
          <a:off x="685800" y="2193925"/>
          <a:ext cx="10820400" cy="2667000"/>
        </p:xfrm>
        <a:graphic>
          <a:graphicData uri="http://schemas.openxmlformats.org/drawingml/2006/table">
            <a:tbl>
              <a:tblPr firstRow="1" bandRow="1">
                <a:tableStyleId>{7DF18680-E054-41AD-8BC1-D1AEF772440D}</a:tableStyleId>
              </a:tblPr>
              <a:tblGrid>
                <a:gridCol w="2705100">
                  <a:extLst>
                    <a:ext uri="{9D8B030D-6E8A-4147-A177-3AD203B41FA5}">
                      <a16:colId xmlns:a16="http://schemas.microsoft.com/office/drawing/2014/main" val="2448654533"/>
                    </a:ext>
                  </a:extLst>
                </a:gridCol>
                <a:gridCol w="2705100">
                  <a:extLst>
                    <a:ext uri="{9D8B030D-6E8A-4147-A177-3AD203B41FA5}">
                      <a16:colId xmlns:a16="http://schemas.microsoft.com/office/drawing/2014/main" val="2538541384"/>
                    </a:ext>
                  </a:extLst>
                </a:gridCol>
                <a:gridCol w="2705100">
                  <a:extLst>
                    <a:ext uri="{9D8B030D-6E8A-4147-A177-3AD203B41FA5}">
                      <a16:colId xmlns:a16="http://schemas.microsoft.com/office/drawing/2014/main" val="1927693921"/>
                    </a:ext>
                  </a:extLst>
                </a:gridCol>
                <a:gridCol w="2705100">
                  <a:extLst>
                    <a:ext uri="{9D8B030D-6E8A-4147-A177-3AD203B41FA5}">
                      <a16:colId xmlns:a16="http://schemas.microsoft.com/office/drawing/2014/main" val="340269191"/>
                    </a:ext>
                  </a:extLst>
                </a:gridCol>
              </a:tblGrid>
              <a:tr h="370840">
                <a:tc>
                  <a:txBody>
                    <a:bodyPr/>
                    <a:lstStyle/>
                    <a:p>
                      <a:pPr algn="ctr"/>
                      <a:r>
                        <a:rPr lang="es-ES" dirty="0"/>
                        <a:t>Fuente de capital</a:t>
                      </a:r>
                      <a:endParaRPr lang="es-GT" dirty="0"/>
                    </a:p>
                  </a:txBody>
                  <a:tcPr/>
                </a:tc>
                <a:tc>
                  <a:txBody>
                    <a:bodyPr/>
                    <a:lstStyle/>
                    <a:p>
                      <a:pPr algn="ctr"/>
                      <a:r>
                        <a:rPr lang="es-ES" dirty="0"/>
                        <a:t>Ponderación </a:t>
                      </a:r>
                    </a:p>
                    <a:p>
                      <a:pPr algn="ctr"/>
                      <a:r>
                        <a:rPr lang="es-ES" dirty="0"/>
                        <a:t>(1)</a:t>
                      </a:r>
                      <a:endParaRPr lang="es-GT" dirty="0"/>
                    </a:p>
                  </a:txBody>
                  <a:tcPr/>
                </a:tc>
                <a:tc>
                  <a:txBody>
                    <a:bodyPr/>
                    <a:lstStyle/>
                    <a:p>
                      <a:pPr algn="ctr"/>
                      <a:r>
                        <a:rPr lang="es-ES" dirty="0"/>
                        <a:t>Costo </a:t>
                      </a:r>
                    </a:p>
                    <a:p>
                      <a:pPr algn="ctr"/>
                      <a:r>
                        <a:rPr lang="es-ES" dirty="0"/>
                        <a:t>(2)</a:t>
                      </a:r>
                      <a:endParaRPr lang="es-GT" dirty="0"/>
                    </a:p>
                  </a:txBody>
                  <a:tcPr/>
                </a:tc>
                <a:tc>
                  <a:txBody>
                    <a:bodyPr/>
                    <a:lstStyle/>
                    <a:p>
                      <a:pPr algn="ctr"/>
                      <a:r>
                        <a:rPr lang="es-ES" dirty="0"/>
                        <a:t>Costo ponderado </a:t>
                      </a:r>
                    </a:p>
                    <a:p>
                      <a:pPr algn="ctr"/>
                      <a:r>
                        <a:rPr lang="es-ES" dirty="0"/>
                        <a:t>(1 * 2)</a:t>
                      </a:r>
                    </a:p>
                    <a:p>
                      <a:pPr algn="ctr"/>
                      <a:r>
                        <a:rPr lang="es-ES" dirty="0"/>
                        <a:t>(3)</a:t>
                      </a:r>
                      <a:endParaRPr lang="es-GT" dirty="0"/>
                    </a:p>
                  </a:txBody>
                  <a:tcPr/>
                </a:tc>
                <a:extLst>
                  <a:ext uri="{0D108BD9-81ED-4DB2-BD59-A6C34878D82A}">
                    <a16:rowId xmlns:a16="http://schemas.microsoft.com/office/drawing/2014/main" val="1994324598"/>
                  </a:ext>
                </a:extLst>
              </a:tr>
              <a:tr h="370840">
                <a:tc>
                  <a:txBody>
                    <a:bodyPr/>
                    <a:lstStyle/>
                    <a:p>
                      <a:pPr algn="ctr"/>
                      <a:r>
                        <a:rPr lang="es-ES" dirty="0"/>
                        <a:t>Deuda a largo plazo</a:t>
                      </a:r>
                      <a:endParaRPr lang="es-GT" dirty="0"/>
                    </a:p>
                  </a:txBody>
                  <a:tcPr/>
                </a:tc>
                <a:tc>
                  <a:txBody>
                    <a:bodyPr/>
                    <a:lstStyle/>
                    <a:p>
                      <a:pPr algn="ctr"/>
                      <a:r>
                        <a:rPr lang="es-ES" dirty="0"/>
                        <a:t>0.40</a:t>
                      </a:r>
                      <a:endParaRPr lang="es-GT" dirty="0"/>
                    </a:p>
                  </a:txBody>
                  <a:tcPr/>
                </a:tc>
                <a:tc>
                  <a:txBody>
                    <a:bodyPr/>
                    <a:lstStyle/>
                    <a:p>
                      <a:pPr algn="ctr"/>
                      <a:r>
                        <a:rPr lang="es-ES" dirty="0"/>
                        <a:t>5.6%</a:t>
                      </a:r>
                      <a:endParaRPr lang="es-GT" dirty="0"/>
                    </a:p>
                  </a:txBody>
                  <a:tcPr/>
                </a:tc>
                <a:tc>
                  <a:txBody>
                    <a:bodyPr/>
                    <a:lstStyle/>
                    <a:p>
                      <a:pPr algn="ctr"/>
                      <a:r>
                        <a:rPr lang="es-ES" dirty="0"/>
                        <a:t>2.24%</a:t>
                      </a:r>
                      <a:endParaRPr lang="es-GT" dirty="0"/>
                    </a:p>
                  </a:txBody>
                  <a:tcPr/>
                </a:tc>
                <a:extLst>
                  <a:ext uri="{0D108BD9-81ED-4DB2-BD59-A6C34878D82A}">
                    <a16:rowId xmlns:a16="http://schemas.microsoft.com/office/drawing/2014/main" val="138906536"/>
                  </a:ext>
                </a:extLst>
              </a:tr>
              <a:tr h="370840">
                <a:tc>
                  <a:txBody>
                    <a:bodyPr/>
                    <a:lstStyle/>
                    <a:p>
                      <a:pPr algn="ctr"/>
                      <a:r>
                        <a:rPr lang="es-ES" dirty="0"/>
                        <a:t>Acciones preferentes</a:t>
                      </a:r>
                      <a:endParaRPr lang="es-GT" dirty="0"/>
                    </a:p>
                  </a:txBody>
                  <a:tcPr/>
                </a:tc>
                <a:tc>
                  <a:txBody>
                    <a:bodyPr/>
                    <a:lstStyle/>
                    <a:p>
                      <a:pPr algn="ctr"/>
                      <a:r>
                        <a:rPr lang="es-ES" dirty="0"/>
                        <a:t>0.10</a:t>
                      </a:r>
                      <a:endParaRPr lang="es-GT" dirty="0"/>
                    </a:p>
                  </a:txBody>
                  <a:tcPr/>
                </a:tc>
                <a:tc>
                  <a:txBody>
                    <a:bodyPr/>
                    <a:lstStyle/>
                    <a:p>
                      <a:pPr algn="ctr"/>
                      <a:r>
                        <a:rPr lang="es-ES" dirty="0"/>
                        <a:t>10.6%</a:t>
                      </a:r>
                      <a:endParaRPr lang="es-GT" dirty="0"/>
                    </a:p>
                  </a:txBody>
                  <a:tcPr/>
                </a:tc>
                <a:tc>
                  <a:txBody>
                    <a:bodyPr/>
                    <a:lstStyle/>
                    <a:p>
                      <a:pPr algn="ctr"/>
                      <a:r>
                        <a:rPr lang="es-ES" dirty="0"/>
                        <a:t>1.06%</a:t>
                      </a:r>
                      <a:endParaRPr lang="es-GT" dirty="0"/>
                    </a:p>
                  </a:txBody>
                  <a:tcPr/>
                </a:tc>
                <a:extLst>
                  <a:ext uri="{0D108BD9-81ED-4DB2-BD59-A6C34878D82A}">
                    <a16:rowId xmlns:a16="http://schemas.microsoft.com/office/drawing/2014/main" val="3152044666"/>
                  </a:ext>
                </a:extLst>
              </a:tr>
              <a:tr h="370840">
                <a:tc>
                  <a:txBody>
                    <a:bodyPr/>
                    <a:lstStyle/>
                    <a:p>
                      <a:pPr algn="ctr"/>
                      <a:r>
                        <a:rPr lang="es-ES" dirty="0"/>
                        <a:t>Capital en acciones comunes</a:t>
                      </a:r>
                      <a:endParaRPr lang="es-GT" dirty="0"/>
                    </a:p>
                  </a:txBody>
                  <a:tcPr/>
                </a:tc>
                <a:tc>
                  <a:txBody>
                    <a:bodyPr/>
                    <a:lstStyle/>
                    <a:p>
                      <a:pPr algn="ctr"/>
                      <a:r>
                        <a:rPr lang="es-ES" u="sng" dirty="0"/>
                        <a:t>0.50</a:t>
                      </a:r>
                      <a:endParaRPr lang="es-GT" u="sng" dirty="0"/>
                    </a:p>
                  </a:txBody>
                  <a:tcPr/>
                </a:tc>
                <a:tc>
                  <a:txBody>
                    <a:bodyPr/>
                    <a:lstStyle/>
                    <a:p>
                      <a:pPr algn="ctr"/>
                      <a:r>
                        <a:rPr lang="es-ES" dirty="0"/>
                        <a:t>13%</a:t>
                      </a:r>
                      <a:endParaRPr lang="es-GT" dirty="0"/>
                    </a:p>
                  </a:txBody>
                  <a:tcPr/>
                </a:tc>
                <a:tc>
                  <a:txBody>
                    <a:bodyPr/>
                    <a:lstStyle/>
                    <a:p>
                      <a:pPr algn="ctr"/>
                      <a:r>
                        <a:rPr lang="es-ES" u="sng" dirty="0"/>
                        <a:t>6.5%</a:t>
                      </a:r>
                      <a:endParaRPr lang="es-GT" u="sng" dirty="0"/>
                    </a:p>
                  </a:txBody>
                  <a:tcPr/>
                </a:tc>
                <a:extLst>
                  <a:ext uri="{0D108BD9-81ED-4DB2-BD59-A6C34878D82A}">
                    <a16:rowId xmlns:a16="http://schemas.microsoft.com/office/drawing/2014/main" val="1319728174"/>
                  </a:ext>
                </a:extLst>
              </a:tr>
              <a:tr h="370840">
                <a:tc>
                  <a:txBody>
                    <a:bodyPr/>
                    <a:lstStyle/>
                    <a:p>
                      <a:pPr algn="ctr"/>
                      <a:r>
                        <a:rPr lang="es-ES" dirty="0"/>
                        <a:t>Totales</a:t>
                      </a:r>
                      <a:endParaRPr lang="es-GT" dirty="0"/>
                    </a:p>
                  </a:txBody>
                  <a:tcPr/>
                </a:tc>
                <a:tc>
                  <a:txBody>
                    <a:bodyPr/>
                    <a:lstStyle/>
                    <a:p>
                      <a:pPr algn="ctr"/>
                      <a:r>
                        <a:rPr lang="es-ES" dirty="0"/>
                        <a:t>1.00</a:t>
                      </a:r>
                      <a:endParaRPr lang="es-GT" dirty="0"/>
                    </a:p>
                  </a:txBody>
                  <a:tcPr/>
                </a:tc>
                <a:tc>
                  <a:txBody>
                    <a:bodyPr/>
                    <a:lstStyle/>
                    <a:p>
                      <a:pPr algn="ctr"/>
                      <a:endParaRPr lang="es-GT" dirty="0"/>
                    </a:p>
                  </a:txBody>
                  <a:tcPr/>
                </a:tc>
                <a:tc>
                  <a:txBody>
                    <a:bodyPr/>
                    <a:lstStyle/>
                    <a:p>
                      <a:pPr algn="ctr"/>
                      <a:r>
                        <a:rPr lang="es-ES" dirty="0"/>
                        <a:t>9.80%</a:t>
                      </a:r>
                      <a:endParaRPr lang="es-GT" dirty="0"/>
                    </a:p>
                  </a:txBody>
                  <a:tcPr/>
                </a:tc>
                <a:extLst>
                  <a:ext uri="{0D108BD9-81ED-4DB2-BD59-A6C34878D82A}">
                    <a16:rowId xmlns:a16="http://schemas.microsoft.com/office/drawing/2014/main" val="638057448"/>
                  </a:ext>
                </a:extLst>
              </a:tr>
            </a:tbl>
          </a:graphicData>
        </a:graphic>
      </p:graphicFrame>
    </p:spTree>
    <p:extLst>
      <p:ext uri="{BB962C8B-B14F-4D97-AF65-F5344CB8AC3E}">
        <p14:creationId xmlns:p14="http://schemas.microsoft.com/office/powerpoint/2010/main" val="38663706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7ABD65-F0B7-F370-35C0-EAEEAD49D059}"/>
              </a:ext>
            </a:extLst>
          </p:cNvPr>
          <p:cNvSpPr>
            <a:spLocks noGrp="1"/>
          </p:cNvSpPr>
          <p:nvPr>
            <p:ph type="title"/>
          </p:nvPr>
        </p:nvSpPr>
        <p:spPr>
          <a:xfrm>
            <a:off x="685800" y="764373"/>
            <a:ext cx="10820400" cy="1293028"/>
          </a:xfrm>
        </p:spPr>
        <p:txBody>
          <a:bodyPr/>
          <a:lstStyle/>
          <a:p>
            <a:r>
              <a:rPr lang="es-ES" b="1" dirty="0"/>
              <a:t>El Programa de Oportunidades de Inversión</a:t>
            </a:r>
            <a:endParaRPr lang="es-GT" b="1" dirty="0"/>
          </a:p>
        </p:txBody>
      </p:sp>
      <p:sp>
        <p:nvSpPr>
          <p:cNvPr id="3" name="Marcador de contenido 2">
            <a:extLst>
              <a:ext uri="{FF2B5EF4-FFF2-40B4-BE49-F238E27FC236}">
                <a16:creationId xmlns:a16="http://schemas.microsoft.com/office/drawing/2014/main" id="{A339276C-CEAE-7014-5039-87D4E30AC7F5}"/>
              </a:ext>
            </a:extLst>
          </p:cNvPr>
          <p:cNvSpPr>
            <a:spLocks noGrp="1"/>
          </p:cNvSpPr>
          <p:nvPr>
            <p:ph idx="1"/>
          </p:nvPr>
        </p:nvSpPr>
        <p:spPr/>
        <p:txBody>
          <a:bodyPr>
            <a:normAutofit/>
          </a:bodyPr>
          <a:lstStyle/>
          <a:p>
            <a:pPr marL="0" indent="0" algn="just">
              <a:buNone/>
            </a:pPr>
            <a:r>
              <a:rPr lang="es-ES" sz="2800" b="1" dirty="0"/>
              <a:t>El Programa de Oportunidades de Inversión (POI) de la empresa es una clasificación de las oportunidades de inversión de mejor (mayor rendimiento) a peor (menor rendimiento). Por lo general, el primer proyecto seleccionado tendrá el mayor rendimiento, el siguiente proyecto tendrá el segundo. rendimiento más alto, y así sucesivamente. El rendimiento de las inversiones disminuye a medida que la empresa acepta proyectos adicionales.</a:t>
            </a:r>
            <a:endParaRPr lang="es-GT" sz="2800" b="1" dirty="0"/>
          </a:p>
        </p:txBody>
      </p:sp>
    </p:spTree>
    <p:extLst>
      <p:ext uri="{BB962C8B-B14F-4D97-AF65-F5344CB8AC3E}">
        <p14:creationId xmlns:p14="http://schemas.microsoft.com/office/powerpoint/2010/main" val="576327370"/>
      </p:ext>
    </p:extLst>
  </p:cSld>
  <p:clrMapOvr>
    <a:masterClrMapping/>
  </p:clrMapOvr>
</p:sld>
</file>

<file path=ppt/theme/theme1.xml><?xml version="1.0" encoding="utf-8"?>
<a:theme xmlns:a="http://schemas.openxmlformats.org/drawingml/2006/main" name="Estela de condensación">
  <a:themeElements>
    <a:clrScheme name="Estela de condensación">
      <a:dk1>
        <a:sysClr val="windowText" lastClr="000000"/>
      </a:dk1>
      <a:lt1>
        <a:sysClr val="window" lastClr="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Estela de condensación">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tela de condensación">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docProps/app.xml><?xml version="1.0" encoding="utf-8"?>
<Properties xmlns="http://schemas.openxmlformats.org/officeDocument/2006/extended-properties" xmlns:vt="http://schemas.openxmlformats.org/officeDocument/2006/docPropsVTypes">
  <Template>Estela de condensación</Template>
  <TotalTime>181</TotalTime>
  <Words>1911</Words>
  <Application>Microsoft Office PowerPoint</Application>
  <PresentationFormat>Panorámica</PresentationFormat>
  <Paragraphs>162</Paragraphs>
  <Slides>27</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27</vt:i4>
      </vt:variant>
    </vt:vector>
  </HeadingPairs>
  <TitlesOfParts>
    <vt:vector size="30" baseType="lpstr">
      <vt:lpstr>Arial</vt:lpstr>
      <vt:lpstr>Century Gothic</vt:lpstr>
      <vt:lpstr>Estela de condensación</vt:lpstr>
      <vt:lpstr>El Costo de Capital</vt:lpstr>
      <vt:lpstr>Presentación de PowerPoint</vt:lpstr>
      <vt:lpstr>El costo Promedio Ponderado de Capital</vt:lpstr>
      <vt:lpstr>Cálculo del Costo de Capital Promedio ponderado (CCPP)</vt:lpstr>
      <vt:lpstr>Presentación de PowerPoint</vt:lpstr>
      <vt:lpstr>Destacan 3 puntos importantes:</vt:lpstr>
      <vt:lpstr>Costo de la Deuda a Largo Plazo</vt:lpstr>
      <vt:lpstr>Costo de la Deuda Antes de Impuestos</vt:lpstr>
      <vt:lpstr>Presentación de PowerPoint</vt:lpstr>
      <vt:lpstr>Costo de la Deuda Antes de Impuestos</vt:lpstr>
      <vt:lpstr>Costo de la Deuda Después de Impuestos</vt:lpstr>
      <vt:lpstr>El Costo de las Acciones Preferentes</vt:lpstr>
      <vt:lpstr>Presentación de PowerPoint</vt:lpstr>
      <vt:lpstr>El costo de las acciones comunes</vt:lpstr>
      <vt:lpstr>Cálculo del Costo de Capital en Acciones Comunes</vt:lpstr>
      <vt:lpstr>Uso del Modelo de valoración de crecimiento constante (Gordon)</vt:lpstr>
      <vt:lpstr>Presentación de PowerPoint</vt:lpstr>
      <vt:lpstr>Presentación de PowerPoint</vt:lpstr>
      <vt:lpstr>Modelo de Precios de Activos de Capital (CAPM)</vt:lpstr>
      <vt:lpstr>Presentación de PowerPoint</vt:lpstr>
      <vt:lpstr>El Costo de las Ganancias Retenidas</vt:lpstr>
      <vt:lpstr>El Costo de Nuevas  Emisiones de Acciones comunes:</vt:lpstr>
      <vt:lpstr>Presentación de PowerPoint</vt:lpstr>
      <vt:lpstr>Presentación de PowerPoint</vt:lpstr>
      <vt:lpstr>Presentación de PowerPoint</vt:lpstr>
      <vt:lpstr>Presentación de PowerPoint</vt:lpstr>
      <vt:lpstr>El Programa de Oportunidades de Inversión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Costo de Capital</dc:title>
  <dc:creator>MARTINEZ SOSA, PATRICIA ALEJANDRA</dc:creator>
  <cp:lastModifiedBy>Patricia Martínez</cp:lastModifiedBy>
  <cp:revision>21</cp:revision>
  <dcterms:created xsi:type="dcterms:W3CDTF">2024-05-19T22:03:21Z</dcterms:created>
  <dcterms:modified xsi:type="dcterms:W3CDTF">2025-05-14T15:28:31Z</dcterms:modified>
</cp:coreProperties>
</file>