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5" r:id="rId1"/>
  </p:sldMasterIdLst>
  <p:sldIdLst>
    <p:sldId id="260" r:id="rId2"/>
    <p:sldId id="261" r:id="rId3"/>
    <p:sldId id="262" r:id="rId4"/>
    <p:sldId id="263" r:id="rId5"/>
    <p:sldId id="264" r:id="rId6"/>
    <p:sldId id="265" r:id="rId7"/>
    <p:sldId id="266" r:id="rId8"/>
    <p:sldId id="267" r:id="rId9"/>
    <p:sldId id="268" r:id="rId10"/>
    <p:sldId id="269" r:id="rId11"/>
    <p:sldId id="270" r:id="rId12"/>
    <p:sldId id="274" r:id="rId13"/>
    <p:sldId id="271" r:id="rId14"/>
    <p:sldId id="272" r:id="rId15"/>
    <p:sldId id="256" r:id="rId16"/>
    <p:sldId id="259" r:id="rId17"/>
    <p:sldId id="275"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1" d="100"/>
          <a:sy n="61" d="100"/>
        </p:scale>
        <p:origin x="1098"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575887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948946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34E6425-0181-43F2-84FC-787E803FD2F8}"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98880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507047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3/31/2025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362922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3/31/2025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200439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3/31/2025</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228473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6E86A4C-8E40-4F87-A4F0-01A0687C5742}"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301602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5E72C73-2D91-4E12-BA25-F0AA0C03599B}"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574426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2536980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5988101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2C299-16B2-4475-990D-751901EACC14}"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993126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8087885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14401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046573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1976108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extLst>
      <p:ext uri="{BB962C8B-B14F-4D97-AF65-F5344CB8AC3E}">
        <p14:creationId xmlns:p14="http://schemas.microsoft.com/office/powerpoint/2010/main" val="1024054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BE451C3-0FF4-47C4-B829-773ADF60F88C}" type="datetimeFigureOut">
              <a:rPr lang="en-US" smtClean="0"/>
              <a:t>3/31/2025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960430810"/>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09563" y="2160589"/>
            <a:ext cx="4064439" cy="3880773"/>
          </a:xfrm>
        </p:spPr>
        <p:txBody>
          <a:bodyPr>
            <a:normAutofit/>
          </a:bodyPr>
          <a:lstStyle/>
          <a:p>
            <a:pPr marL="0" indent="0" algn="just">
              <a:buNone/>
            </a:pPr>
            <a:r>
              <a:rPr lang="es-GT" sz="4400" b="1" dirty="0"/>
              <a:t>TASA INTERNA DE RENDIMIENTO (TIR)</a:t>
            </a:r>
          </a:p>
        </p:txBody>
      </p:sp>
      <p:pic>
        <p:nvPicPr>
          <p:cNvPr id="5" name="Picture 4" descr="Números de la bolsa de valores">
            <a:extLst>
              <a:ext uri="{FF2B5EF4-FFF2-40B4-BE49-F238E27FC236}">
                <a16:creationId xmlns:a16="http://schemas.microsoft.com/office/drawing/2014/main" id="{478F9A9E-F6F0-F0B7-B984-008B6A03DA93}"/>
              </a:ext>
            </a:extLst>
          </p:cNvPr>
          <p:cNvPicPr>
            <a:picLocks noChangeAspect="1"/>
          </p:cNvPicPr>
          <p:nvPr/>
        </p:nvPicPr>
        <p:blipFill rotWithShape="1">
          <a:blip r:embed="rId2"/>
          <a:srcRect l="24486" r="23004" b="-2"/>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Tree>
    <p:extLst>
      <p:ext uri="{BB962C8B-B14F-4D97-AF65-F5344CB8AC3E}">
        <p14:creationId xmlns:p14="http://schemas.microsoft.com/office/powerpoint/2010/main" val="2917757560"/>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643467" y="816638"/>
            <a:ext cx="3367359" cy="5224724"/>
          </a:xfrm>
        </p:spPr>
        <p:txBody>
          <a:bodyPr anchor="ctr">
            <a:normAutofit/>
          </a:bodyPr>
          <a:lstStyle/>
          <a:p>
            <a:r>
              <a:rPr lang="es-GT" b="1"/>
              <a:t>Tasa Interna de Rendimiento (TIR)</a:t>
            </a:r>
          </a:p>
        </p:txBody>
      </p:sp>
      <p:sp>
        <p:nvSpPr>
          <p:cNvPr id="3" name="Marcador de contenido 2"/>
          <p:cNvSpPr>
            <a:spLocks noGrp="1"/>
          </p:cNvSpPr>
          <p:nvPr>
            <p:ph idx="1"/>
          </p:nvPr>
        </p:nvSpPr>
        <p:spPr>
          <a:xfrm>
            <a:off x="4654295" y="816638"/>
            <a:ext cx="4619706" cy="5224724"/>
          </a:xfrm>
        </p:spPr>
        <p:txBody>
          <a:bodyPr anchor="ctr">
            <a:normAutofit fontScale="92500" lnSpcReduction="10000"/>
          </a:bodyPr>
          <a:lstStyle/>
          <a:p>
            <a:pPr marL="0" indent="0" algn="just">
              <a:buNone/>
            </a:pPr>
            <a:r>
              <a:rPr lang="es-GT" sz="2800" b="1" dirty="0"/>
              <a:t>Tasa de descuento que hace que el valor presente de los flujos de efectivo esperados de un proyecto sea igual que el monto inicial invertido. En tanto que la TIR del proyecto, que es su rendimiento esperado, sea mayor que la tasa de rendimiento requerida por la empresa para dicha inversión, el proyecto es aceptable</a:t>
            </a:r>
          </a:p>
        </p:txBody>
      </p:sp>
    </p:spTree>
    <p:extLst>
      <p:ext uri="{BB962C8B-B14F-4D97-AF65-F5344CB8AC3E}">
        <p14:creationId xmlns:p14="http://schemas.microsoft.com/office/powerpoint/2010/main" val="3131606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Regla de Decisión de la TIR</a:t>
            </a:r>
          </a:p>
        </p:txBody>
      </p:sp>
      <p:sp>
        <p:nvSpPr>
          <p:cNvPr id="3" name="Marcador de contenido 2"/>
          <p:cNvSpPr>
            <a:spLocks noGrp="1"/>
          </p:cNvSpPr>
          <p:nvPr>
            <p:ph idx="1"/>
          </p:nvPr>
        </p:nvSpPr>
        <p:spPr>
          <a:xfrm>
            <a:off x="837128" y="2603500"/>
            <a:ext cx="10779616" cy="3416300"/>
          </a:xfrm>
        </p:spPr>
        <p:txBody>
          <a:bodyPr>
            <a:normAutofit/>
          </a:bodyPr>
          <a:lstStyle/>
          <a:p>
            <a:pPr marL="0" indent="0" algn="ctr">
              <a:buNone/>
            </a:pPr>
            <a:r>
              <a:rPr lang="es-GT" sz="6000" b="1" dirty="0"/>
              <a:t>Un proyecto es aceptable si TIR &gt; r</a:t>
            </a:r>
          </a:p>
        </p:txBody>
      </p:sp>
    </p:spTree>
    <p:extLst>
      <p:ext uri="{BB962C8B-B14F-4D97-AF65-F5344CB8AC3E}">
        <p14:creationId xmlns:p14="http://schemas.microsoft.com/office/powerpoint/2010/main" val="40575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35032"/>
            <a:ext cx="9302691" cy="1125588"/>
          </a:xfrm>
        </p:spPr>
        <p:txBody>
          <a:bodyPr/>
          <a:lstStyle/>
          <a:p>
            <a:r>
              <a:rPr lang="es-GT" sz="4400" b="1" dirty="0"/>
              <a:t>Para el proyecto C el cálculo es:</a:t>
            </a: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2885" y="2228045"/>
            <a:ext cx="9594760" cy="3606085"/>
          </a:xfrm>
        </p:spPr>
      </p:pic>
    </p:spTree>
    <p:extLst>
      <p:ext uri="{BB962C8B-B14F-4D97-AF65-F5344CB8AC3E}">
        <p14:creationId xmlns:p14="http://schemas.microsoft.com/office/powerpoint/2010/main" val="449987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GT"/>
          </a:p>
        </p:txBody>
      </p:sp>
      <p:pic>
        <p:nvPicPr>
          <p:cNvPr id="4" name="Marcador de contenido 3"/>
          <p:cNvPicPr>
            <a:picLocks noGrp="1" noChangeAspect="1"/>
          </p:cNvPicPr>
          <p:nvPr>
            <p:ph idx="1"/>
          </p:nvPr>
        </p:nvPicPr>
        <p:blipFill>
          <a:blip r:embed="rId2"/>
          <a:stretch>
            <a:fillRect/>
          </a:stretch>
        </p:blipFill>
        <p:spPr>
          <a:xfrm rot="16200000">
            <a:off x="4596079" y="-1014404"/>
            <a:ext cx="1551055" cy="8886806"/>
          </a:xfrm>
          <a:prstGeom prst="rect">
            <a:avLst/>
          </a:prstGeom>
        </p:spPr>
      </p:pic>
    </p:spTree>
    <p:extLst>
      <p:ext uri="{BB962C8B-B14F-4D97-AF65-F5344CB8AC3E}">
        <p14:creationId xmlns:p14="http://schemas.microsoft.com/office/powerpoint/2010/main" val="2110572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0023" y="1416677"/>
            <a:ext cx="4919729" cy="4603124"/>
          </a:xfrm>
        </p:spPr>
      </p:pic>
    </p:spTree>
    <p:extLst>
      <p:ext uri="{BB962C8B-B14F-4D97-AF65-F5344CB8AC3E}">
        <p14:creationId xmlns:p14="http://schemas.microsoft.com/office/powerpoint/2010/main" val="2569851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GT"/>
          </a:p>
        </p:txBody>
      </p:sp>
      <p:pic>
        <p:nvPicPr>
          <p:cNvPr id="4" name="Marcador de contenido 3"/>
          <p:cNvPicPr>
            <a:picLocks noGrp="1" noChangeAspect="1"/>
          </p:cNvPicPr>
          <p:nvPr>
            <p:ph idx="1"/>
          </p:nvPr>
        </p:nvPicPr>
        <p:blipFill>
          <a:blip r:embed="rId2"/>
          <a:stretch>
            <a:fillRect/>
          </a:stretch>
        </p:blipFill>
        <p:spPr>
          <a:xfrm>
            <a:off x="1918952" y="2176530"/>
            <a:ext cx="8113689" cy="3837904"/>
          </a:xfrm>
          <a:prstGeom prst="rect">
            <a:avLst/>
          </a:prstGeom>
        </p:spPr>
      </p:pic>
    </p:spTree>
    <p:extLst>
      <p:ext uri="{BB962C8B-B14F-4D97-AF65-F5344CB8AC3E}">
        <p14:creationId xmlns:p14="http://schemas.microsoft.com/office/powerpoint/2010/main" val="3965600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05307" y="2436075"/>
            <a:ext cx="11075831" cy="3416300"/>
          </a:xfrm>
        </p:spPr>
        <p:txBody>
          <a:bodyPr>
            <a:noAutofit/>
          </a:bodyPr>
          <a:lstStyle/>
          <a:p>
            <a:pPr marL="0" indent="0" algn="just">
              <a:buNone/>
            </a:pPr>
            <a:r>
              <a:rPr lang="es-GT" sz="4400" b="1" dirty="0"/>
              <a:t>Nuevamente se comprueba que si son mutuamente excluyentes se toma el proyecto C y si son independientes se opta por ambos proyectos</a:t>
            </a:r>
          </a:p>
        </p:txBody>
      </p:sp>
    </p:spTree>
    <p:extLst>
      <p:ext uri="{BB962C8B-B14F-4D97-AF65-F5344CB8AC3E}">
        <p14:creationId xmlns:p14="http://schemas.microsoft.com/office/powerpoint/2010/main" val="3687966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73667"/>
            <a:ext cx="9096629" cy="958163"/>
          </a:xfrm>
        </p:spPr>
        <p:txBody>
          <a:bodyPr>
            <a:normAutofit fontScale="90000"/>
          </a:bodyPr>
          <a:lstStyle/>
          <a:p>
            <a:r>
              <a:rPr lang="es-GT" b="1" dirty="0"/>
              <a:t>TASA INTERNA DE RENDIMIENTO MODIFICADA (TIRM)</a:t>
            </a:r>
          </a:p>
        </p:txBody>
      </p:sp>
      <p:sp>
        <p:nvSpPr>
          <p:cNvPr id="3" name="Marcador de contenido 2"/>
          <p:cNvSpPr>
            <a:spLocks noGrp="1"/>
          </p:cNvSpPr>
          <p:nvPr>
            <p:ph idx="1"/>
          </p:nvPr>
        </p:nvSpPr>
        <p:spPr>
          <a:xfrm>
            <a:off x="729951" y="2230013"/>
            <a:ext cx="10539063" cy="3416300"/>
          </a:xfrm>
        </p:spPr>
        <p:txBody>
          <a:bodyPr>
            <a:noAutofit/>
          </a:bodyPr>
          <a:lstStyle/>
          <a:p>
            <a:pPr marL="0" indent="0" algn="just">
              <a:buNone/>
            </a:pPr>
            <a:r>
              <a:rPr lang="es-GT" sz="4000" b="1" dirty="0"/>
              <a:t>La TIR supone que los flujos de efectivo del proyecto se reinvierten con una tasa de rendimiento igual que la TIR, lo cual en general se considera que no es realista</a:t>
            </a:r>
          </a:p>
        </p:txBody>
      </p:sp>
    </p:spTree>
    <p:extLst>
      <p:ext uri="{BB962C8B-B14F-4D97-AF65-F5344CB8AC3E}">
        <p14:creationId xmlns:p14="http://schemas.microsoft.com/office/powerpoint/2010/main" val="1138511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25004" y="386367"/>
            <a:ext cx="10419008" cy="1648495"/>
          </a:xfrm>
        </p:spPr>
        <p:txBody>
          <a:bodyPr/>
          <a:lstStyle/>
          <a:p>
            <a:r>
              <a:rPr lang="es-GT" b="1" dirty="0"/>
              <a:t>¿Se puede concebir un parámetro de la tasa de rendimiento que sea mejor que la TIR regular?</a:t>
            </a:r>
          </a:p>
        </p:txBody>
      </p:sp>
      <p:sp>
        <p:nvSpPr>
          <p:cNvPr id="3" name="Marcador de contenido 2"/>
          <p:cNvSpPr>
            <a:spLocks noGrp="1"/>
          </p:cNvSpPr>
          <p:nvPr>
            <p:ph idx="1"/>
          </p:nvPr>
        </p:nvSpPr>
        <p:spPr>
          <a:xfrm>
            <a:off x="425004" y="2395470"/>
            <a:ext cx="11050072" cy="3624330"/>
          </a:xfrm>
        </p:spPr>
        <p:txBody>
          <a:bodyPr>
            <a:noAutofit/>
          </a:bodyPr>
          <a:lstStyle/>
          <a:p>
            <a:pPr marL="0" indent="0">
              <a:buNone/>
            </a:pPr>
            <a:r>
              <a:rPr lang="es-GT" sz="4000" b="1" dirty="0"/>
              <a:t>Sí, podemos modificar la TIR,  hacer que sea un mejor indicador de la rentabilidad relativa, por tanto mejor para usarla en la presupuestación de capital. La nueva medida recibe el nombre de TIR modificada o TIRM</a:t>
            </a:r>
          </a:p>
        </p:txBody>
      </p:sp>
    </p:spTree>
    <p:extLst>
      <p:ext uri="{BB962C8B-B14F-4D97-AF65-F5344CB8AC3E}">
        <p14:creationId xmlns:p14="http://schemas.microsoft.com/office/powerpoint/2010/main" val="3335882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2885" y="2550017"/>
            <a:ext cx="10534918" cy="2230263"/>
          </a:xfrm>
        </p:spPr>
      </p:pic>
    </p:spTree>
    <p:extLst>
      <p:ext uri="{BB962C8B-B14F-4D97-AF65-F5344CB8AC3E}">
        <p14:creationId xmlns:p14="http://schemas.microsoft.com/office/powerpoint/2010/main" val="348189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2737" y="2292439"/>
            <a:ext cx="8190963" cy="3412901"/>
          </a:xfrm>
        </p:spPr>
      </p:pic>
    </p:spTree>
    <p:extLst>
      <p:ext uri="{BB962C8B-B14F-4D97-AF65-F5344CB8AC3E}">
        <p14:creationId xmlns:p14="http://schemas.microsoft.com/office/powerpoint/2010/main" val="1833345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8349" y="1184856"/>
            <a:ext cx="6838682" cy="5177307"/>
          </a:xfrm>
        </p:spPr>
      </p:pic>
    </p:spTree>
    <p:extLst>
      <p:ext uri="{BB962C8B-B14F-4D97-AF65-F5344CB8AC3E}">
        <p14:creationId xmlns:p14="http://schemas.microsoft.com/office/powerpoint/2010/main" val="773851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991673" y="2009104"/>
            <a:ext cx="9375819" cy="3528811"/>
          </a:xfrm>
          <a:prstGeom prst="rect">
            <a:avLst/>
          </a:prstGeom>
        </p:spPr>
      </p:pic>
    </p:spTree>
    <p:extLst>
      <p:ext uri="{BB962C8B-B14F-4D97-AF65-F5344CB8AC3E}">
        <p14:creationId xmlns:p14="http://schemas.microsoft.com/office/powerpoint/2010/main" val="1788250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GT" sz="8800" b="1" dirty="0"/>
              <a:t>TIR Y TIRM</a:t>
            </a:r>
            <a:endParaRPr lang="es-GT" b="1" dirty="0"/>
          </a:p>
        </p:txBody>
      </p:sp>
      <p:sp>
        <p:nvSpPr>
          <p:cNvPr id="3" name="Subtítulo 2"/>
          <p:cNvSpPr>
            <a:spLocks noGrp="1"/>
          </p:cNvSpPr>
          <p:nvPr>
            <p:ph type="subTitle" idx="1"/>
          </p:nvPr>
        </p:nvSpPr>
        <p:spPr/>
        <p:txBody>
          <a:bodyPr/>
          <a:lstStyle/>
          <a:p>
            <a:endParaRPr lang="es-GT"/>
          </a:p>
        </p:txBody>
      </p:sp>
    </p:spTree>
    <p:extLst>
      <p:ext uri="{BB962C8B-B14F-4D97-AF65-F5344CB8AC3E}">
        <p14:creationId xmlns:p14="http://schemas.microsoft.com/office/powerpoint/2010/main" val="1759211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3"/>
          </p:nvPr>
        </p:nvSpPr>
        <p:spPr>
          <a:xfrm>
            <a:off x="399245" y="1300766"/>
            <a:ext cx="11449318" cy="4490433"/>
          </a:xfrm>
        </p:spPr>
        <p:txBody>
          <a:bodyPr>
            <a:noAutofit/>
          </a:bodyPr>
          <a:lstStyle/>
          <a:p>
            <a:r>
              <a:rPr lang="es-GT" sz="3200" dirty="0"/>
              <a:t>La TIR es la tasa de descuento a la cual el valor presente del costo de un proyecto es igual al valor presente de su valor terminal; éste se determina como la suma de los valores futuros de los flujos de ingreso de efectivo, calculados a la tasa de rendimiento requerida por la empresa (costo de capital)</a:t>
            </a:r>
          </a:p>
        </p:txBody>
      </p:sp>
    </p:spTree>
    <p:extLst>
      <p:ext uri="{BB962C8B-B14F-4D97-AF65-F5344CB8AC3E}">
        <p14:creationId xmlns:p14="http://schemas.microsoft.com/office/powerpoint/2010/main" val="202900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DB6FB2-E199-4CCA-B363-4CAF95449325}"/>
              </a:ext>
            </a:extLst>
          </p:cNvPr>
          <p:cNvSpPr>
            <a:spLocks noGrp="1"/>
          </p:cNvSpPr>
          <p:nvPr>
            <p:ph type="title"/>
          </p:nvPr>
        </p:nvSpPr>
        <p:spPr/>
        <p:txBody>
          <a:bodyPr/>
          <a:lstStyle/>
          <a:p>
            <a:endParaRPr lang="es-GT"/>
          </a:p>
        </p:txBody>
      </p:sp>
      <p:pic>
        <p:nvPicPr>
          <p:cNvPr id="4" name="Marcador de contenido 3">
            <a:extLst>
              <a:ext uri="{FF2B5EF4-FFF2-40B4-BE49-F238E27FC236}">
                <a16:creationId xmlns:a16="http://schemas.microsoft.com/office/drawing/2014/main" id="{913F741A-3EB7-4896-B0A3-03F2C102CC82}"/>
              </a:ext>
            </a:extLst>
          </p:cNvPr>
          <p:cNvPicPr>
            <a:picLocks noGrp="1" noChangeAspect="1"/>
          </p:cNvPicPr>
          <p:nvPr>
            <p:ph sz="quarter" idx="13"/>
          </p:nvPr>
        </p:nvPicPr>
        <p:blipFill rotWithShape="1">
          <a:blip r:embed="rId2"/>
          <a:srcRect t="25594" r="74620" b="40698"/>
          <a:stretch/>
        </p:blipFill>
        <p:spPr>
          <a:xfrm>
            <a:off x="3655659" y="2053883"/>
            <a:ext cx="4433263" cy="3310320"/>
          </a:xfrm>
          <a:prstGeom prst="rect">
            <a:avLst/>
          </a:prstGeom>
        </p:spPr>
      </p:pic>
    </p:spTree>
    <p:extLst>
      <p:ext uri="{BB962C8B-B14F-4D97-AF65-F5344CB8AC3E}">
        <p14:creationId xmlns:p14="http://schemas.microsoft.com/office/powerpoint/2010/main" val="4028839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a:extLst>
              <a:ext uri="{FF2B5EF4-FFF2-40B4-BE49-F238E27FC236}">
                <a16:creationId xmlns:a16="http://schemas.microsoft.com/office/drawing/2014/main" id="{6345F0A2-B122-44A0-8473-56F32C69F17C}"/>
              </a:ext>
            </a:extLst>
          </p:cNvPr>
          <p:cNvGraphicFramePr>
            <a:graphicFrameLocks noGrp="1"/>
          </p:cNvGraphicFramePr>
          <p:nvPr>
            <p:ph sz="quarter" idx="13"/>
            <p:extLst>
              <p:ext uri="{D42A27DB-BD31-4B8C-83A1-F6EECF244321}">
                <p14:modId xmlns:p14="http://schemas.microsoft.com/office/powerpoint/2010/main" val="10543168"/>
              </p:ext>
            </p:extLst>
          </p:nvPr>
        </p:nvGraphicFramePr>
        <p:xfrm>
          <a:off x="2478156" y="2026615"/>
          <a:ext cx="6851375" cy="2804770"/>
        </p:xfrm>
        <a:graphic>
          <a:graphicData uri="http://schemas.openxmlformats.org/drawingml/2006/table">
            <a:tbl>
              <a:tblPr>
                <a:tableStyleId>{5C22544A-7EE6-4342-B048-85BDC9FD1C3A}</a:tableStyleId>
              </a:tblPr>
              <a:tblGrid>
                <a:gridCol w="1141896">
                  <a:extLst>
                    <a:ext uri="{9D8B030D-6E8A-4147-A177-3AD203B41FA5}">
                      <a16:colId xmlns:a16="http://schemas.microsoft.com/office/drawing/2014/main" val="3337892194"/>
                    </a:ext>
                  </a:extLst>
                </a:gridCol>
                <a:gridCol w="1141896">
                  <a:extLst>
                    <a:ext uri="{9D8B030D-6E8A-4147-A177-3AD203B41FA5}">
                      <a16:colId xmlns:a16="http://schemas.microsoft.com/office/drawing/2014/main" val="3713929627"/>
                    </a:ext>
                  </a:extLst>
                </a:gridCol>
                <a:gridCol w="1293288">
                  <a:extLst>
                    <a:ext uri="{9D8B030D-6E8A-4147-A177-3AD203B41FA5}">
                      <a16:colId xmlns:a16="http://schemas.microsoft.com/office/drawing/2014/main" val="3626737718"/>
                    </a:ext>
                  </a:extLst>
                </a:gridCol>
                <a:gridCol w="990503">
                  <a:extLst>
                    <a:ext uri="{9D8B030D-6E8A-4147-A177-3AD203B41FA5}">
                      <a16:colId xmlns:a16="http://schemas.microsoft.com/office/drawing/2014/main" val="2889271588"/>
                    </a:ext>
                  </a:extLst>
                </a:gridCol>
                <a:gridCol w="1141896">
                  <a:extLst>
                    <a:ext uri="{9D8B030D-6E8A-4147-A177-3AD203B41FA5}">
                      <a16:colId xmlns:a16="http://schemas.microsoft.com/office/drawing/2014/main" val="507362737"/>
                    </a:ext>
                  </a:extLst>
                </a:gridCol>
                <a:gridCol w="1141896">
                  <a:extLst>
                    <a:ext uri="{9D8B030D-6E8A-4147-A177-3AD203B41FA5}">
                      <a16:colId xmlns:a16="http://schemas.microsoft.com/office/drawing/2014/main" val="968494045"/>
                    </a:ext>
                  </a:extLst>
                </a:gridCol>
              </a:tblGrid>
              <a:tr h="560954">
                <a:tc>
                  <a:txBody>
                    <a:bodyPr/>
                    <a:lstStyle/>
                    <a:p>
                      <a:pPr algn="r" fontAlgn="b"/>
                      <a:r>
                        <a:rPr lang="es-GT" sz="1800" u="none" strike="noStrike" dirty="0">
                          <a:effectLst/>
                        </a:rPr>
                        <a:t>-3000</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GT" sz="1800" u="none" strike="noStrike">
                          <a:effectLst/>
                        </a:rPr>
                        <a:t>9%</a:t>
                      </a:r>
                      <a:endParaRPr lang="es-GT" sz="1800" b="1" i="0" u="none" strike="noStrike">
                        <a:solidFill>
                          <a:srgbClr val="000000"/>
                        </a:solidFill>
                        <a:effectLst/>
                        <a:latin typeface="Calibri" panose="020F0502020204030204" pitchFamily="34" charset="0"/>
                      </a:endParaRPr>
                    </a:p>
                  </a:txBody>
                  <a:tcPr marL="9525" marR="9525" marT="9525" marB="0" anchor="b"/>
                </a:tc>
                <a:tc rowSpan="5">
                  <a:txBody>
                    <a:bodyPr/>
                    <a:lstStyle/>
                    <a:p>
                      <a:pPr algn="ctr" fontAlgn="ctr"/>
                      <a:r>
                        <a:rPr lang="es-GT" sz="1800" u="none" strike="noStrike">
                          <a:effectLst/>
                        </a:rPr>
                        <a:t>PROYECTO C</a:t>
                      </a:r>
                      <a:endParaRPr lang="es-GT" sz="18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b"/>
                      <a:r>
                        <a:rPr lang="es-GT" sz="1800" u="none" strike="noStrike">
                          <a:effectLst/>
                        </a:rPr>
                        <a:t>-3000</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GT" sz="1800" u="none" strike="noStrike">
                          <a:effectLst/>
                        </a:rPr>
                        <a:t>10%</a:t>
                      </a:r>
                      <a:endParaRPr lang="es-GT" sz="1800" b="1" i="0" u="none" strike="noStrike">
                        <a:solidFill>
                          <a:srgbClr val="000000"/>
                        </a:solidFill>
                        <a:effectLst/>
                        <a:latin typeface="Calibri" panose="020F0502020204030204" pitchFamily="34" charset="0"/>
                      </a:endParaRPr>
                    </a:p>
                  </a:txBody>
                  <a:tcPr marL="9525" marR="9525" marT="9525" marB="0" anchor="b"/>
                </a:tc>
                <a:tc rowSpan="5">
                  <a:txBody>
                    <a:bodyPr/>
                    <a:lstStyle/>
                    <a:p>
                      <a:pPr algn="ctr" fontAlgn="ctr"/>
                      <a:r>
                        <a:rPr lang="es-GT" sz="1800" u="none" strike="noStrike">
                          <a:effectLst/>
                        </a:rPr>
                        <a:t>PROYECTO </a:t>
                      </a:r>
                      <a:br>
                        <a:rPr lang="es-GT" sz="1800" u="none" strike="noStrike">
                          <a:effectLst/>
                        </a:rPr>
                      </a:br>
                      <a:r>
                        <a:rPr lang="es-GT" sz="1800" u="none" strike="noStrike">
                          <a:effectLst/>
                        </a:rPr>
                        <a:t>L</a:t>
                      </a:r>
                      <a:endParaRPr lang="es-GT" sz="18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84695402"/>
                  </a:ext>
                </a:extLst>
              </a:tr>
              <a:tr h="560954">
                <a:tc>
                  <a:txBody>
                    <a:bodyPr/>
                    <a:lstStyle/>
                    <a:p>
                      <a:pPr algn="r" fontAlgn="b"/>
                      <a:r>
                        <a:rPr lang="es-GT" sz="1800" u="none" strike="noStrike" dirty="0">
                          <a:effectLst/>
                        </a:rPr>
                        <a:t>1500</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GT" sz="1800" u="none" strike="noStrike">
                          <a:effectLst/>
                        </a:rPr>
                        <a:t> </a:t>
                      </a:r>
                      <a:endParaRPr lang="es-GT" sz="1800" b="1" i="0" u="none" strike="noStrike">
                        <a:solidFill>
                          <a:srgbClr val="000000"/>
                        </a:solidFill>
                        <a:effectLst/>
                        <a:latin typeface="Calibri" panose="020F0502020204030204" pitchFamily="34" charset="0"/>
                      </a:endParaRPr>
                    </a:p>
                  </a:txBody>
                  <a:tcPr marL="9525" marR="9525" marT="9525" marB="0" anchor="b"/>
                </a:tc>
                <a:tc vMerge="1">
                  <a:txBody>
                    <a:bodyPr/>
                    <a:lstStyle/>
                    <a:p>
                      <a:endParaRPr lang="es-GT"/>
                    </a:p>
                  </a:txBody>
                  <a:tcPr/>
                </a:tc>
                <a:tc>
                  <a:txBody>
                    <a:bodyPr/>
                    <a:lstStyle/>
                    <a:p>
                      <a:pPr algn="r" fontAlgn="b"/>
                      <a:r>
                        <a:rPr lang="es-GT" sz="1800" u="none" strike="noStrike">
                          <a:effectLst/>
                        </a:rPr>
                        <a:t>400</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GT" sz="1800" u="none" strike="noStrike">
                          <a:effectLst/>
                        </a:rPr>
                        <a:t> </a:t>
                      </a:r>
                      <a:endParaRPr lang="es-GT" sz="1800" b="1" i="0" u="none" strike="noStrike">
                        <a:solidFill>
                          <a:srgbClr val="000000"/>
                        </a:solidFill>
                        <a:effectLst/>
                        <a:latin typeface="Calibri" panose="020F0502020204030204" pitchFamily="34" charset="0"/>
                      </a:endParaRPr>
                    </a:p>
                  </a:txBody>
                  <a:tcPr marL="9525" marR="9525" marT="9525" marB="0" anchor="b"/>
                </a:tc>
                <a:tc vMerge="1">
                  <a:txBody>
                    <a:bodyPr/>
                    <a:lstStyle/>
                    <a:p>
                      <a:endParaRPr lang="es-GT"/>
                    </a:p>
                  </a:txBody>
                  <a:tcPr/>
                </a:tc>
                <a:extLst>
                  <a:ext uri="{0D108BD9-81ED-4DB2-BD59-A6C34878D82A}">
                    <a16:rowId xmlns:a16="http://schemas.microsoft.com/office/drawing/2014/main" val="3035237826"/>
                  </a:ext>
                </a:extLst>
              </a:tr>
              <a:tr h="560954">
                <a:tc>
                  <a:txBody>
                    <a:bodyPr/>
                    <a:lstStyle/>
                    <a:p>
                      <a:pPr algn="r" fontAlgn="b"/>
                      <a:r>
                        <a:rPr lang="es-GT" sz="1800" u="none" strike="noStrike" dirty="0">
                          <a:effectLst/>
                        </a:rPr>
                        <a:t>1200</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GT" sz="1800" u="none" strike="noStrike">
                          <a:effectLst/>
                        </a:rPr>
                        <a:t> </a:t>
                      </a:r>
                      <a:endParaRPr lang="es-GT" sz="1800" b="1" i="0" u="none" strike="noStrike">
                        <a:solidFill>
                          <a:srgbClr val="000000"/>
                        </a:solidFill>
                        <a:effectLst/>
                        <a:latin typeface="Calibri" panose="020F0502020204030204" pitchFamily="34" charset="0"/>
                      </a:endParaRPr>
                    </a:p>
                  </a:txBody>
                  <a:tcPr marL="9525" marR="9525" marT="9525" marB="0" anchor="b"/>
                </a:tc>
                <a:tc vMerge="1">
                  <a:txBody>
                    <a:bodyPr/>
                    <a:lstStyle/>
                    <a:p>
                      <a:endParaRPr lang="es-GT"/>
                    </a:p>
                  </a:txBody>
                  <a:tcPr/>
                </a:tc>
                <a:tc>
                  <a:txBody>
                    <a:bodyPr/>
                    <a:lstStyle/>
                    <a:p>
                      <a:pPr algn="r" fontAlgn="b"/>
                      <a:r>
                        <a:rPr lang="es-GT" sz="1800" u="none" strike="noStrike">
                          <a:effectLst/>
                        </a:rPr>
                        <a:t>900</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GT" sz="1800" u="none" strike="noStrike">
                          <a:effectLst/>
                        </a:rPr>
                        <a:t> </a:t>
                      </a:r>
                      <a:endParaRPr lang="es-GT" sz="1800" b="1" i="0" u="none" strike="noStrike">
                        <a:solidFill>
                          <a:srgbClr val="000000"/>
                        </a:solidFill>
                        <a:effectLst/>
                        <a:latin typeface="Calibri" panose="020F0502020204030204" pitchFamily="34" charset="0"/>
                      </a:endParaRPr>
                    </a:p>
                  </a:txBody>
                  <a:tcPr marL="9525" marR="9525" marT="9525" marB="0" anchor="b"/>
                </a:tc>
                <a:tc vMerge="1">
                  <a:txBody>
                    <a:bodyPr/>
                    <a:lstStyle/>
                    <a:p>
                      <a:endParaRPr lang="es-GT"/>
                    </a:p>
                  </a:txBody>
                  <a:tcPr/>
                </a:tc>
                <a:extLst>
                  <a:ext uri="{0D108BD9-81ED-4DB2-BD59-A6C34878D82A}">
                    <a16:rowId xmlns:a16="http://schemas.microsoft.com/office/drawing/2014/main" val="2091410686"/>
                  </a:ext>
                </a:extLst>
              </a:tr>
              <a:tr h="560954">
                <a:tc>
                  <a:txBody>
                    <a:bodyPr/>
                    <a:lstStyle/>
                    <a:p>
                      <a:pPr algn="r" fontAlgn="b"/>
                      <a:r>
                        <a:rPr lang="es-GT" sz="1800" u="none" strike="noStrike" dirty="0">
                          <a:effectLst/>
                        </a:rPr>
                        <a:t>800</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GT" sz="1800" u="none" strike="noStrike">
                          <a:effectLst/>
                        </a:rPr>
                        <a:t> </a:t>
                      </a:r>
                      <a:endParaRPr lang="es-GT" sz="1800" b="1" i="0" u="none" strike="noStrike">
                        <a:solidFill>
                          <a:srgbClr val="000000"/>
                        </a:solidFill>
                        <a:effectLst/>
                        <a:latin typeface="Calibri" panose="020F0502020204030204" pitchFamily="34" charset="0"/>
                      </a:endParaRPr>
                    </a:p>
                  </a:txBody>
                  <a:tcPr marL="9525" marR="9525" marT="9525" marB="0" anchor="b"/>
                </a:tc>
                <a:tc vMerge="1">
                  <a:txBody>
                    <a:bodyPr/>
                    <a:lstStyle/>
                    <a:p>
                      <a:endParaRPr lang="es-GT"/>
                    </a:p>
                  </a:txBody>
                  <a:tcPr/>
                </a:tc>
                <a:tc>
                  <a:txBody>
                    <a:bodyPr/>
                    <a:lstStyle/>
                    <a:p>
                      <a:pPr algn="r" fontAlgn="b"/>
                      <a:r>
                        <a:rPr lang="es-GT" sz="1800" u="none" strike="noStrike">
                          <a:effectLst/>
                        </a:rPr>
                        <a:t>1300</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GT" sz="1800" u="none" strike="noStrike">
                          <a:effectLst/>
                        </a:rPr>
                        <a:t> </a:t>
                      </a:r>
                      <a:endParaRPr lang="es-GT" sz="1800" b="1" i="0" u="none" strike="noStrike">
                        <a:solidFill>
                          <a:srgbClr val="000000"/>
                        </a:solidFill>
                        <a:effectLst/>
                        <a:latin typeface="Calibri" panose="020F0502020204030204" pitchFamily="34" charset="0"/>
                      </a:endParaRPr>
                    </a:p>
                  </a:txBody>
                  <a:tcPr marL="9525" marR="9525" marT="9525" marB="0" anchor="b"/>
                </a:tc>
                <a:tc vMerge="1">
                  <a:txBody>
                    <a:bodyPr/>
                    <a:lstStyle/>
                    <a:p>
                      <a:endParaRPr lang="es-GT"/>
                    </a:p>
                  </a:txBody>
                  <a:tcPr/>
                </a:tc>
                <a:extLst>
                  <a:ext uri="{0D108BD9-81ED-4DB2-BD59-A6C34878D82A}">
                    <a16:rowId xmlns:a16="http://schemas.microsoft.com/office/drawing/2014/main" val="122460349"/>
                  </a:ext>
                </a:extLst>
              </a:tr>
              <a:tr h="560954">
                <a:tc>
                  <a:txBody>
                    <a:bodyPr/>
                    <a:lstStyle/>
                    <a:p>
                      <a:pPr algn="r" fontAlgn="b"/>
                      <a:r>
                        <a:rPr lang="es-GT" sz="1800" u="none" strike="noStrike" dirty="0">
                          <a:effectLst/>
                        </a:rPr>
                        <a:t>300</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GT" sz="1800" u="none" strike="noStrike" dirty="0">
                          <a:effectLst/>
                        </a:rPr>
                        <a:t> </a:t>
                      </a:r>
                      <a:endParaRPr lang="es-GT" sz="1800" b="1" i="0" u="none" strike="noStrike" dirty="0">
                        <a:solidFill>
                          <a:srgbClr val="000000"/>
                        </a:solidFill>
                        <a:effectLst/>
                        <a:latin typeface="Calibri" panose="020F0502020204030204" pitchFamily="34" charset="0"/>
                      </a:endParaRPr>
                    </a:p>
                  </a:txBody>
                  <a:tcPr marL="9525" marR="9525" marT="9525" marB="0" anchor="b"/>
                </a:tc>
                <a:tc vMerge="1">
                  <a:txBody>
                    <a:bodyPr/>
                    <a:lstStyle/>
                    <a:p>
                      <a:endParaRPr lang="es-GT"/>
                    </a:p>
                  </a:txBody>
                  <a:tcPr/>
                </a:tc>
                <a:tc>
                  <a:txBody>
                    <a:bodyPr/>
                    <a:lstStyle/>
                    <a:p>
                      <a:pPr algn="r" fontAlgn="b"/>
                      <a:r>
                        <a:rPr lang="es-GT" sz="1800" u="none" strike="noStrike" dirty="0">
                          <a:effectLst/>
                        </a:rPr>
                        <a:t>1500</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GT" sz="1800" u="none" strike="noStrike" dirty="0">
                          <a:effectLst/>
                        </a:rPr>
                        <a:t> </a:t>
                      </a:r>
                      <a:endParaRPr lang="es-GT" sz="1800" b="1" i="0" u="none" strike="noStrike" dirty="0">
                        <a:solidFill>
                          <a:srgbClr val="000000"/>
                        </a:solidFill>
                        <a:effectLst/>
                        <a:latin typeface="Calibri" panose="020F0502020204030204" pitchFamily="34" charset="0"/>
                      </a:endParaRPr>
                    </a:p>
                  </a:txBody>
                  <a:tcPr marL="9525" marR="9525" marT="9525" marB="0" anchor="b"/>
                </a:tc>
                <a:tc vMerge="1">
                  <a:txBody>
                    <a:bodyPr/>
                    <a:lstStyle/>
                    <a:p>
                      <a:endParaRPr lang="es-GT"/>
                    </a:p>
                  </a:txBody>
                  <a:tcPr/>
                </a:tc>
                <a:extLst>
                  <a:ext uri="{0D108BD9-81ED-4DB2-BD59-A6C34878D82A}">
                    <a16:rowId xmlns:a16="http://schemas.microsoft.com/office/drawing/2014/main" val="2373216917"/>
                  </a:ext>
                </a:extLst>
              </a:tr>
            </a:tbl>
          </a:graphicData>
        </a:graphic>
      </p:graphicFrame>
    </p:spTree>
    <p:extLst>
      <p:ext uri="{BB962C8B-B14F-4D97-AF65-F5344CB8AC3E}">
        <p14:creationId xmlns:p14="http://schemas.microsoft.com/office/powerpoint/2010/main" val="1435667444"/>
      </p:ext>
    </p:extLst>
  </p:cSld>
  <p:clrMapOvr>
    <a:masterClrMapping/>
  </p:clrMapOvr>
</p:sld>
</file>

<file path=ppt/theme/theme1.xml><?xml version="1.0" encoding="utf-8"?>
<a:theme xmlns:a="http://schemas.openxmlformats.org/drawingml/2006/main" name="Faceta">
  <a:themeElements>
    <a:clrScheme name="Verde azulado">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2464</TotalTime>
  <Words>309</Words>
  <Application>Microsoft Office PowerPoint</Application>
  <PresentationFormat>Panorámica</PresentationFormat>
  <Paragraphs>35</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Trebuchet MS</vt:lpstr>
      <vt:lpstr>Wingdings 3</vt:lpstr>
      <vt:lpstr>Faceta</vt:lpstr>
      <vt:lpstr>Presentación de PowerPoint</vt:lpstr>
      <vt:lpstr>Tasa Interna de Rendimiento (TIR)</vt:lpstr>
      <vt:lpstr>Regla de Decisión de la TIR</vt:lpstr>
      <vt:lpstr>Para el proyecto C el cálculo es:</vt:lpstr>
      <vt:lpstr>Presentación de PowerPoint</vt:lpstr>
      <vt:lpstr>Presentación de PowerPoint</vt:lpstr>
      <vt:lpstr>Presentación de PowerPoint</vt:lpstr>
      <vt:lpstr>Presentación de PowerPoint</vt:lpstr>
      <vt:lpstr>TASA INTERNA DE RENDIMIENTO MODIFICADA (TIRM)</vt:lpstr>
      <vt:lpstr>¿Se puede concebir un parámetro de la tasa de rendimiento que sea mejor que la TIR regular?</vt:lpstr>
      <vt:lpstr>Presentación de PowerPoint</vt:lpstr>
      <vt:lpstr>Presentación de PowerPoint</vt:lpstr>
      <vt:lpstr>Presentación de PowerPoint</vt:lpstr>
      <vt:lpstr>Presentación de PowerPoint</vt:lpstr>
      <vt:lpstr>TIR Y TIRM</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PRESUPUESTOS PARA LA TOMA DE DECISONES</dc:title>
  <dc:creator>Patita</dc:creator>
  <cp:lastModifiedBy>Patricia Martínez</cp:lastModifiedBy>
  <cp:revision>114</cp:revision>
  <dcterms:created xsi:type="dcterms:W3CDTF">2016-01-15T22:04:54Z</dcterms:created>
  <dcterms:modified xsi:type="dcterms:W3CDTF">2025-03-31T22:37:18Z</dcterms:modified>
</cp:coreProperties>
</file>