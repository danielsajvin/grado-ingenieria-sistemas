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8" r:id="rId1"/>
  </p:sldMasterIdLst>
  <p:sldIdLst>
    <p:sldId id="256" r:id="rId2"/>
    <p:sldId id="257" r:id="rId3"/>
    <p:sldId id="259" r:id="rId4"/>
    <p:sldId id="267" r:id="rId5"/>
    <p:sldId id="268" r:id="rId6"/>
    <p:sldId id="269" r:id="rId7"/>
    <p:sldId id="270" r:id="rId8"/>
    <p:sldId id="271" r:id="rId9"/>
    <p:sldId id="272" r:id="rId10"/>
    <p:sldId id="273" r:id="rId11"/>
    <p:sldId id="276" r:id="rId12"/>
    <p:sldId id="287" r:id="rId13"/>
    <p:sldId id="289" r:id="rId14"/>
    <p:sldId id="290" r:id="rId15"/>
    <p:sldId id="291" r:id="rId16"/>
    <p:sldId id="293" r:id="rId17"/>
    <p:sldId id="294" r:id="rId18"/>
    <p:sldId id="295" r:id="rId19"/>
    <p:sldId id="296" r:id="rId20"/>
    <p:sldId id="297" r:id="rId21"/>
    <p:sldId id="302" r:id="rId22"/>
    <p:sldId id="298" r:id="rId23"/>
    <p:sldId id="299" r:id="rId24"/>
    <p:sldId id="300" r:id="rId25"/>
    <p:sldId id="301"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Estilo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500" autoAdjust="0"/>
    <p:restoredTop sz="94660"/>
  </p:normalViewPr>
  <p:slideViewPr>
    <p:cSldViewPr snapToGrid="0">
      <p:cViewPr varScale="1">
        <p:scale>
          <a:sx n="66" d="100"/>
          <a:sy n="66" d="100"/>
        </p:scale>
        <p:origin x="84"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5923F103-BC34-4FE4-A40E-EDDEECFDA5D0}" type="datetimeFigureOut">
              <a:rPr lang="en-US" smtClean="0"/>
              <a:pPr/>
              <a:t>10/12/2023</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r>
              <a:rPr lang="en-US"/>
              <a:t>
              </a:t>
            </a:r>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323114407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smtClean="0"/>
              <a:t>10/12/2023</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6187037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F34E6425-0181-43F2-84FC-787E803FD2F8}" type="datetimeFigureOut">
              <a:rPr lang="en-US" smtClean="0"/>
              <a:t>10/12/2023</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3629993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smtClean="0"/>
              <a:t>10/12/2023</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35086415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smtClean="0"/>
              <a:t>10/12/2023</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39281764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smtClean="0"/>
              <a:t>10/12/2023</a:t>
            </a:fld>
            <a:endParaRPr lang="en-US" dirty="0"/>
          </a:p>
        </p:txBody>
      </p:sp>
      <p:sp>
        <p:nvSpPr>
          <p:cNvPr id="4" name="Footer Placeholder 3"/>
          <p:cNvSpPr>
            <a:spLocks noGrp="1"/>
          </p:cNvSpPr>
          <p:nvPr>
            <p:ph type="ftr" sz="quarter" idx="11"/>
          </p:nvPr>
        </p:nvSpPr>
        <p:spPr/>
        <p:txBody>
          <a:bodyPr/>
          <a:lstStyle/>
          <a:p>
            <a:r>
              <a:rPr lang="en-US"/>
              <a:t>
              </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4215481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7C8D7E02-BCB8-4D50-A234-369438C08659}" type="datetimeFigureOut">
              <a:rPr lang="en-US" smtClean="0"/>
              <a:t>10/12/2023</a:t>
            </a:fld>
            <a:endParaRPr lang="en-US" dirty="0"/>
          </a:p>
        </p:txBody>
      </p:sp>
      <p:sp>
        <p:nvSpPr>
          <p:cNvPr id="3" name="Footer Placeholder 2"/>
          <p:cNvSpPr>
            <a:spLocks noGrp="1"/>
          </p:cNvSpPr>
          <p:nvPr>
            <p:ph type="ftr" sz="quarter" idx="11"/>
          </p:nvPr>
        </p:nvSpPr>
        <p:spPr/>
        <p:txBody>
          <a:bodyPr/>
          <a:lstStyle/>
          <a:p>
            <a:r>
              <a:rPr lang="en-US"/>
              <a:t>
              </a:t>
            </a: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7340646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6E86A4C-8E40-4F87-A4F0-01A0687C5742}" type="datetimeFigureOut">
              <a:rPr lang="en-US" smtClean="0"/>
              <a:t>10/12/2023</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7248447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s-ES"/>
              <a:t>Haga clic para modificar el estilo de título del patrón</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5E72C73-2D91-4E12-BA25-F0AA0C03599B}" type="datetimeFigureOut">
              <a:rPr lang="en-US" smtClean="0"/>
              <a:t>10/12/2023</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8728876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923A1CC3-2375-41D4-9E03-427CAF2A4C1A}" type="datetimeFigureOut">
              <a:rPr lang="en-US" smtClean="0"/>
              <a:t>10/12/2023</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7417774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BE451C3-0FF4-47C4-B829-773ADF60F88C}" type="datetimeFigureOut">
              <a:rPr lang="en-US" smtClean="0"/>
              <a:t>10/12/2023</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376101038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BE451C3-0FF4-47C4-B829-773ADF60F88C}" type="datetimeFigureOut">
              <a:rPr lang="en-US" smtClean="0"/>
              <a:t>10/12/2023</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323963986"/>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C12C299-16B2-4475-990D-751901EACC14}" type="datetimeFigureOut">
              <a:rPr lang="en-US" smtClean="0"/>
              <a:t>10/12/2023</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3908620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s-ES"/>
              <a:t>Haga clic para modificar los estilos de texto del patrón</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BE451C3-0FF4-47C4-B829-773ADF60F88C}" type="datetimeFigureOut">
              <a:rPr lang="en-US" smtClean="0"/>
              <a:t>10/12/2023</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28217074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s-ES"/>
              <a:t>Haga clic para modificar el estilo de título del patrón</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s-ES"/>
              <a:t>Haga clic para modificar los estilos de texto del patrón</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BE451C3-0FF4-47C4-B829-773ADF60F88C}" type="datetimeFigureOut">
              <a:rPr lang="en-US" smtClean="0"/>
              <a:t>10/12/2023</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39264147"/>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3086D93-FCAC-47E0-A2EE-787E62CA814C}" type="datetimeFigureOut">
              <a:rPr lang="en-US" smtClean="0"/>
              <a:t>10/12/2023</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3645855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DA879A6-0FD0-4734-A311-86BFCA472E6E}" type="datetimeFigureOut">
              <a:rPr lang="en-US" smtClean="0"/>
              <a:t>10/12/2023</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3540393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BE451C3-0FF4-47C4-B829-773ADF60F88C}" type="datetimeFigureOut">
              <a:rPr lang="en-US" smtClean="0"/>
              <a:t>10/12/2023</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US"/>
              <a:t>
              </a:t>
            </a:r>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4008894104"/>
      </p:ext>
    </p:extLst>
  </p:cSld>
  <p:clrMap bg1="dk1" tx1="lt1" bg2="dk2" tx2="lt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 id="2147483745" r:id="rId17"/>
  </p:sldLayoutIdLst>
  <p:hf sldNum="0" hdr="0" ft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xml"/><Relationship Id="rId4" Type="http://schemas.openxmlformats.org/officeDocument/2006/relationships/image" Target="../media/image6.sv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1.svg"/></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ítulo 1"/>
          <p:cNvSpPr>
            <a:spLocks noGrp="1"/>
          </p:cNvSpPr>
          <p:nvPr>
            <p:ph type="ctrTitle"/>
          </p:nvPr>
        </p:nvSpPr>
        <p:spPr>
          <a:xfrm>
            <a:off x="5260257" y="648929"/>
            <a:ext cx="6272981" cy="3736802"/>
          </a:xfrm>
        </p:spPr>
        <p:txBody>
          <a:bodyPr>
            <a:normAutofit/>
          </a:bodyPr>
          <a:lstStyle/>
          <a:p>
            <a:r>
              <a:rPr lang="es-GT" b="1"/>
              <a:t>PE FINANCIERO</a:t>
            </a:r>
          </a:p>
        </p:txBody>
      </p:sp>
      <p:pic>
        <p:nvPicPr>
          <p:cNvPr id="8" name="Graphic 5">
            <a:extLst>
              <a:ext uri="{FF2B5EF4-FFF2-40B4-BE49-F238E27FC236}">
                <a16:creationId xmlns:a16="http://schemas.microsoft.com/office/drawing/2014/main" id="{68283291-606A-4B5D-A776-D2C178AF20C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3464" y="1423220"/>
            <a:ext cx="3997361" cy="3997361"/>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41743340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0E53EDA-3B94-4F6B-9E86-D3BB9EBB96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685799" y="1150076"/>
            <a:ext cx="3659389" cy="4557849"/>
          </a:xfrm>
        </p:spPr>
        <p:txBody>
          <a:bodyPr>
            <a:normAutofit/>
          </a:bodyPr>
          <a:lstStyle/>
          <a:p>
            <a:pPr algn="r"/>
            <a:r>
              <a:rPr lang="es-GT" b="1"/>
              <a:t>Relación Costo – Volumen - Utilidad</a:t>
            </a:r>
          </a:p>
        </p:txBody>
      </p:sp>
      <p:cxnSp>
        <p:nvCxnSpPr>
          <p:cNvPr id="10" name="Straight Connector 9">
            <a:extLst>
              <a:ext uri="{FF2B5EF4-FFF2-40B4-BE49-F238E27FC236}">
                <a16:creationId xmlns:a16="http://schemas.microsoft.com/office/drawing/2014/main" id="{30EFD79F-7790-479B-B7DB-BD0D8C101D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66923" y="1668780"/>
            <a:ext cx="0" cy="352044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 name="Marcador de contenido 2"/>
          <p:cNvSpPr>
            <a:spLocks noGrp="1"/>
          </p:cNvSpPr>
          <p:nvPr>
            <p:ph idx="1"/>
          </p:nvPr>
        </p:nvSpPr>
        <p:spPr>
          <a:xfrm>
            <a:off x="4988658" y="1150076"/>
            <a:ext cx="6517543" cy="4557849"/>
          </a:xfrm>
        </p:spPr>
        <p:txBody>
          <a:bodyPr>
            <a:normAutofit fontScale="92500"/>
          </a:bodyPr>
          <a:lstStyle/>
          <a:p>
            <a:pPr marL="0" indent="0" algn="just">
              <a:buNone/>
            </a:pPr>
            <a:r>
              <a:rPr lang="es-GT" sz="4800" b="1" dirty="0"/>
              <a:t>Todos los gerentes quieren saber cómo se modificarán las ganancias a medida que cambien las unidades vendidas de un producto o un servicio</a:t>
            </a:r>
          </a:p>
          <a:p>
            <a:pPr marL="0" indent="0">
              <a:buNone/>
            </a:pPr>
            <a:endParaRPr lang="es-GT" b="1" dirty="0"/>
          </a:p>
          <a:p>
            <a:endParaRPr lang="es-GT" dirty="0"/>
          </a:p>
        </p:txBody>
      </p:sp>
    </p:spTree>
    <p:extLst>
      <p:ext uri="{BB962C8B-B14F-4D97-AF65-F5344CB8AC3E}">
        <p14:creationId xmlns:p14="http://schemas.microsoft.com/office/powerpoint/2010/main" val="3653192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0E53EDA-3B94-4F6B-9E86-D3BB9EBB96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685799" y="1150076"/>
            <a:ext cx="3659389" cy="4557849"/>
          </a:xfrm>
        </p:spPr>
        <p:txBody>
          <a:bodyPr>
            <a:normAutofit/>
          </a:bodyPr>
          <a:lstStyle/>
          <a:p>
            <a:pPr algn="r"/>
            <a:r>
              <a:rPr lang="es-GT" b="1"/>
              <a:t>Fundamentos del análisis</a:t>
            </a:r>
            <a:br>
              <a:rPr lang="es-GT" b="1"/>
            </a:br>
            <a:r>
              <a:rPr lang="es-GT" b="1"/>
              <a:t>costo-volumen-utilidad (CVU)</a:t>
            </a:r>
          </a:p>
        </p:txBody>
      </p:sp>
      <p:cxnSp>
        <p:nvCxnSpPr>
          <p:cNvPr id="10" name="Straight Connector 9">
            <a:extLst>
              <a:ext uri="{FF2B5EF4-FFF2-40B4-BE49-F238E27FC236}">
                <a16:creationId xmlns:a16="http://schemas.microsoft.com/office/drawing/2014/main" id="{30EFD79F-7790-479B-B7DB-BD0D8C101D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66923" y="1668780"/>
            <a:ext cx="0" cy="352044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 name="Marcador de contenido 2"/>
          <p:cNvSpPr>
            <a:spLocks noGrp="1"/>
          </p:cNvSpPr>
          <p:nvPr>
            <p:ph idx="1"/>
          </p:nvPr>
        </p:nvSpPr>
        <p:spPr>
          <a:xfrm>
            <a:off x="4988658" y="1150076"/>
            <a:ext cx="6517543" cy="4557849"/>
          </a:xfrm>
        </p:spPr>
        <p:txBody>
          <a:bodyPr>
            <a:normAutofit lnSpcReduction="10000"/>
          </a:bodyPr>
          <a:lstStyle/>
          <a:p>
            <a:pPr marL="0" indent="0" algn="just">
              <a:buNone/>
            </a:pPr>
            <a:r>
              <a:rPr lang="es-GT" sz="3600" b="1" dirty="0"/>
              <a:t>El análisis costo-volumen-utilidad (CVU) estudia el comportamiento y la relación entre estos elementos, a medida que ocurren cambios en las unidades vendidas, el precio de venta, el costo variable por unidad o los costos fijos de un producto</a:t>
            </a:r>
            <a:r>
              <a:rPr lang="es-GT" b="1" dirty="0"/>
              <a:t>.</a:t>
            </a:r>
          </a:p>
        </p:txBody>
      </p:sp>
    </p:spTree>
    <p:extLst>
      <p:ext uri="{BB962C8B-B14F-4D97-AF65-F5344CB8AC3E}">
        <p14:creationId xmlns:p14="http://schemas.microsoft.com/office/powerpoint/2010/main" val="1707487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02178" y="2261420"/>
            <a:ext cx="4002936" cy="3637935"/>
          </a:xfrm>
        </p:spPr>
        <p:txBody>
          <a:bodyPr>
            <a:normAutofit fontScale="77500" lnSpcReduction="20000"/>
          </a:bodyPr>
          <a:lstStyle/>
          <a:p>
            <a:pPr marL="0" indent="0" algn="just">
              <a:buNone/>
            </a:pPr>
            <a:r>
              <a:rPr lang="es-GT" sz="3600" b="1" dirty="0"/>
              <a:t>¿Cómo se usa el análisis </a:t>
            </a:r>
            <a:r>
              <a:rPr lang="es-GT" sz="3600" b="1" dirty="0" err="1"/>
              <a:t>cvu</a:t>
            </a:r>
            <a:r>
              <a:rPr lang="es-GT" sz="3600" b="1" dirty="0"/>
              <a:t> para tomar una decisión? Se empieza con la identificación de cuáles costos son fijos y cuáles son variables y, después, calcula el </a:t>
            </a:r>
            <a:r>
              <a:rPr lang="es-GT" sz="3600" b="1" i="1" dirty="0"/>
              <a:t>margen de contribución</a:t>
            </a:r>
            <a:r>
              <a:rPr lang="es-GT" b="1" dirty="0"/>
              <a:t>.</a:t>
            </a:r>
          </a:p>
        </p:txBody>
      </p:sp>
      <p:pic>
        <p:nvPicPr>
          <p:cNvPr id="7" name="Graphic 6" descr="Estadísticas">
            <a:extLst>
              <a:ext uri="{FF2B5EF4-FFF2-40B4-BE49-F238E27FC236}">
                <a16:creationId xmlns:a16="http://schemas.microsoft.com/office/drawing/2014/main" id="{A4CF3473-6117-CCC8-68F1-7A29F93EB4F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86077" y="796413"/>
            <a:ext cx="5102943" cy="5102943"/>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59947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685799" y="1150076"/>
            <a:ext cx="3659389" cy="4557849"/>
          </a:xfrm>
        </p:spPr>
        <p:txBody>
          <a:bodyPr>
            <a:normAutofit/>
          </a:bodyPr>
          <a:lstStyle/>
          <a:p>
            <a:pPr algn="r"/>
            <a:r>
              <a:rPr lang="es-GT" b="1"/>
              <a:t>Márgenes de contribución</a:t>
            </a:r>
          </a:p>
        </p:txBody>
      </p:sp>
      <p:sp>
        <p:nvSpPr>
          <p:cNvPr id="3" name="Marcador de contenido 2"/>
          <p:cNvSpPr>
            <a:spLocks noGrp="1"/>
          </p:cNvSpPr>
          <p:nvPr>
            <p:ph idx="1"/>
          </p:nvPr>
        </p:nvSpPr>
        <p:spPr>
          <a:xfrm>
            <a:off x="4988658" y="1150076"/>
            <a:ext cx="6517543" cy="4557849"/>
          </a:xfrm>
        </p:spPr>
        <p:txBody>
          <a:bodyPr>
            <a:normAutofit fontScale="85000" lnSpcReduction="20000"/>
          </a:bodyPr>
          <a:lstStyle/>
          <a:p>
            <a:pPr marL="0" indent="0" algn="just">
              <a:buNone/>
            </a:pPr>
            <a:r>
              <a:rPr lang="es-GT" sz="2800" b="1" dirty="0"/>
              <a:t>En nuestro ejemplo bajo la suposición de participación en una feria educativa en donde se venderán paquetes de preparación para un examen, el costo de la renta del espacio de $2,000 es un costo fijo porque no cambiará indistintamente de la cantidad de paquetes que se vendan. El costo del paquete en sí mismo es un costo variable porque aumenta en proporción al número de paquetes vendidos. Se incurrirá en un costo de $120 por cada paquete que se venda. Para tener una idea acerca de cómo cambiará la utilidad en operación como resultado de la venta de diferentes cantidades de paquetes, se calcula la utilidad en operación si las ventas son de cinco paquetes y si las ventas son de 40 paquetes.</a:t>
            </a:r>
          </a:p>
        </p:txBody>
      </p:sp>
    </p:spTree>
    <p:extLst>
      <p:ext uri="{BB962C8B-B14F-4D97-AF65-F5344CB8AC3E}">
        <p14:creationId xmlns:p14="http://schemas.microsoft.com/office/powerpoint/2010/main" val="11978215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aphicFrame>
        <p:nvGraphicFramePr>
          <p:cNvPr id="6" name="Marcador de contenido 5"/>
          <p:cNvGraphicFramePr>
            <a:graphicFrameLocks noGrp="1"/>
          </p:cNvGraphicFramePr>
          <p:nvPr>
            <p:ph idx="1"/>
            <p:extLst>
              <p:ext uri="{D42A27DB-BD31-4B8C-83A1-F6EECF244321}">
                <p14:modId xmlns:p14="http://schemas.microsoft.com/office/powerpoint/2010/main" val="737129301"/>
              </p:ext>
            </p:extLst>
          </p:nvPr>
        </p:nvGraphicFramePr>
        <p:xfrm>
          <a:off x="1286934" y="1143001"/>
          <a:ext cx="9836677" cy="4277675"/>
        </p:xfrm>
        <a:graphic>
          <a:graphicData uri="http://schemas.openxmlformats.org/drawingml/2006/table">
            <a:tbl>
              <a:tblPr>
                <a:tableStyleId>{5C22544A-7EE6-4342-B048-85BDC9FD1C3A}</a:tableStyleId>
              </a:tblPr>
              <a:tblGrid>
                <a:gridCol w="1579478">
                  <a:extLst>
                    <a:ext uri="{9D8B030D-6E8A-4147-A177-3AD203B41FA5}">
                      <a16:colId xmlns:a16="http://schemas.microsoft.com/office/drawing/2014/main" val="20000"/>
                    </a:ext>
                  </a:extLst>
                </a:gridCol>
                <a:gridCol w="1908767">
                  <a:extLst>
                    <a:ext uri="{9D8B030D-6E8A-4147-A177-3AD203B41FA5}">
                      <a16:colId xmlns:a16="http://schemas.microsoft.com/office/drawing/2014/main" val="20001"/>
                    </a:ext>
                  </a:extLst>
                </a:gridCol>
                <a:gridCol w="1099259">
                  <a:extLst>
                    <a:ext uri="{9D8B030D-6E8A-4147-A177-3AD203B41FA5}">
                      <a16:colId xmlns:a16="http://schemas.microsoft.com/office/drawing/2014/main" val="20002"/>
                    </a:ext>
                  </a:extLst>
                </a:gridCol>
                <a:gridCol w="1099259">
                  <a:extLst>
                    <a:ext uri="{9D8B030D-6E8A-4147-A177-3AD203B41FA5}">
                      <a16:colId xmlns:a16="http://schemas.microsoft.com/office/drawing/2014/main" val="20003"/>
                    </a:ext>
                  </a:extLst>
                </a:gridCol>
                <a:gridCol w="1951396">
                  <a:extLst>
                    <a:ext uri="{9D8B030D-6E8A-4147-A177-3AD203B41FA5}">
                      <a16:colId xmlns:a16="http://schemas.microsoft.com/office/drawing/2014/main" val="20004"/>
                    </a:ext>
                  </a:extLst>
                </a:gridCol>
                <a:gridCol w="1099259">
                  <a:extLst>
                    <a:ext uri="{9D8B030D-6E8A-4147-A177-3AD203B41FA5}">
                      <a16:colId xmlns:a16="http://schemas.microsoft.com/office/drawing/2014/main" val="20005"/>
                    </a:ext>
                  </a:extLst>
                </a:gridCol>
                <a:gridCol w="1099259">
                  <a:extLst>
                    <a:ext uri="{9D8B030D-6E8A-4147-A177-3AD203B41FA5}">
                      <a16:colId xmlns:a16="http://schemas.microsoft.com/office/drawing/2014/main" val="20006"/>
                    </a:ext>
                  </a:extLst>
                </a:gridCol>
              </a:tblGrid>
              <a:tr h="511440">
                <a:tc>
                  <a:txBody>
                    <a:bodyPr/>
                    <a:lstStyle/>
                    <a:p>
                      <a:pPr algn="l" fontAlgn="b"/>
                      <a:endParaRPr lang="es-GT" sz="1800" b="1" i="0" u="none" strike="noStrike">
                        <a:solidFill>
                          <a:srgbClr val="000000"/>
                        </a:solidFill>
                        <a:effectLst/>
                        <a:latin typeface="Calibri" panose="020F0502020204030204" pitchFamily="34" charset="0"/>
                      </a:endParaRPr>
                    </a:p>
                  </a:txBody>
                  <a:tcPr marL="10882" marR="10882" marT="10882" marB="0" anchor="b"/>
                </a:tc>
                <a:tc gridSpan="3">
                  <a:txBody>
                    <a:bodyPr/>
                    <a:lstStyle/>
                    <a:p>
                      <a:pPr algn="ctr" fontAlgn="b"/>
                      <a:r>
                        <a:rPr lang="es-GT" sz="1800" b="1" u="none" strike="noStrike">
                          <a:effectLst/>
                        </a:rPr>
                        <a:t>5 paquetes vendidos</a:t>
                      </a:r>
                      <a:endParaRPr lang="es-GT" sz="1800" b="1" i="0" u="none" strike="noStrike">
                        <a:solidFill>
                          <a:srgbClr val="000000"/>
                        </a:solidFill>
                        <a:effectLst/>
                        <a:latin typeface="Calibri" panose="020F0502020204030204" pitchFamily="34" charset="0"/>
                      </a:endParaRPr>
                    </a:p>
                  </a:txBody>
                  <a:tcPr marL="10882" marR="10882" marT="10882" marB="0" anchor="b"/>
                </a:tc>
                <a:tc hMerge="1">
                  <a:txBody>
                    <a:bodyPr/>
                    <a:lstStyle/>
                    <a:p>
                      <a:endParaRPr lang="es-GT"/>
                    </a:p>
                  </a:txBody>
                  <a:tcPr/>
                </a:tc>
                <a:tc hMerge="1">
                  <a:txBody>
                    <a:bodyPr/>
                    <a:lstStyle/>
                    <a:p>
                      <a:endParaRPr lang="es-GT"/>
                    </a:p>
                  </a:txBody>
                  <a:tcPr/>
                </a:tc>
                <a:tc gridSpan="3">
                  <a:txBody>
                    <a:bodyPr/>
                    <a:lstStyle/>
                    <a:p>
                      <a:pPr algn="ctr" fontAlgn="b"/>
                      <a:r>
                        <a:rPr lang="es-GT" sz="1800" b="1" u="none" strike="noStrike">
                          <a:effectLst/>
                        </a:rPr>
                        <a:t>40 paquetes vendidos</a:t>
                      </a:r>
                      <a:endParaRPr lang="es-GT" sz="1800" b="1" i="0" u="none" strike="noStrike">
                        <a:solidFill>
                          <a:srgbClr val="000000"/>
                        </a:solidFill>
                        <a:effectLst/>
                        <a:latin typeface="Calibri" panose="020F0502020204030204" pitchFamily="34" charset="0"/>
                      </a:endParaRPr>
                    </a:p>
                  </a:txBody>
                  <a:tcPr marL="10882" marR="10882" marT="10882" marB="0" anchor="b"/>
                </a:tc>
                <a:tc hMerge="1">
                  <a:txBody>
                    <a:bodyPr/>
                    <a:lstStyle/>
                    <a:p>
                      <a:endParaRPr lang="es-GT"/>
                    </a:p>
                  </a:txBody>
                  <a:tcPr/>
                </a:tc>
                <a:tc hMerge="1">
                  <a:txBody>
                    <a:bodyPr/>
                    <a:lstStyle/>
                    <a:p>
                      <a:endParaRPr lang="es-GT"/>
                    </a:p>
                  </a:txBody>
                  <a:tcPr/>
                </a:tc>
                <a:extLst>
                  <a:ext uri="{0D108BD9-81ED-4DB2-BD59-A6C34878D82A}">
                    <a16:rowId xmlns:a16="http://schemas.microsoft.com/office/drawing/2014/main" val="10000"/>
                  </a:ext>
                </a:extLst>
              </a:tr>
              <a:tr h="941559">
                <a:tc>
                  <a:txBody>
                    <a:bodyPr/>
                    <a:lstStyle/>
                    <a:p>
                      <a:pPr algn="l" fontAlgn="b"/>
                      <a:r>
                        <a:rPr lang="es-GT" sz="1800" b="1" u="none" strike="noStrike">
                          <a:effectLst/>
                        </a:rPr>
                        <a:t>Ingresos</a:t>
                      </a:r>
                      <a:endParaRPr lang="es-GT" sz="1800" b="1" i="0" u="none" strike="noStrike">
                        <a:solidFill>
                          <a:srgbClr val="000000"/>
                        </a:solidFill>
                        <a:effectLst/>
                        <a:latin typeface="Calibri" panose="020F0502020204030204" pitchFamily="34" charset="0"/>
                      </a:endParaRPr>
                    </a:p>
                  </a:txBody>
                  <a:tcPr marL="10882" marR="10882" marT="10882" marB="0" anchor="b"/>
                </a:tc>
                <a:tc>
                  <a:txBody>
                    <a:bodyPr/>
                    <a:lstStyle/>
                    <a:p>
                      <a:pPr algn="ctr" fontAlgn="b"/>
                      <a:r>
                        <a:rPr lang="es-GT" sz="1800" b="1" u="none" strike="noStrike">
                          <a:effectLst/>
                        </a:rPr>
                        <a:t> $    1,000.00 </a:t>
                      </a:r>
                      <a:endParaRPr lang="es-GT" sz="1800" b="1" i="0" u="none" strike="noStrike">
                        <a:solidFill>
                          <a:srgbClr val="000000"/>
                        </a:solidFill>
                        <a:effectLst/>
                        <a:latin typeface="Calibri" panose="020F0502020204030204" pitchFamily="34" charset="0"/>
                      </a:endParaRPr>
                    </a:p>
                  </a:txBody>
                  <a:tcPr marL="10882" marR="10882" marT="10882" marB="0" anchor="b"/>
                </a:tc>
                <a:tc gridSpan="2">
                  <a:txBody>
                    <a:bodyPr/>
                    <a:lstStyle/>
                    <a:p>
                      <a:pPr algn="ctr" fontAlgn="b"/>
                      <a:r>
                        <a:rPr lang="es-GT" sz="1800" b="1" u="none" strike="noStrike">
                          <a:effectLst/>
                        </a:rPr>
                        <a:t>($200 por paquete por 5 paquetes)</a:t>
                      </a:r>
                      <a:endParaRPr lang="es-GT" sz="1800" b="1" i="0" u="none" strike="noStrike">
                        <a:solidFill>
                          <a:srgbClr val="000000"/>
                        </a:solidFill>
                        <a:effectLst/>
                        <a:latin typeface="Calibri" panose="020F0502020204030204" pitchFamily="34" charset="0"/>
                      </a:endParaRPr>
                    </a:p>
                  </a:txBody>
                  <a:tcPr marL="10882" marR="10882" marT="10882" marB="0" anchor="b"/>
                </a:tc>
                <a:tc hMerge="1">
                  <a:txBody>
                    <a:bodyPr/>
                    <a:lstStyle/>
                    <a:p>
                      <a:endParaRPr lang="es-GT"/>
                    </a:p>
                  </a:txBody>
                  <a:tcPr/>
                </a:tc>
                <a:tc>
                  <a:txBody>
                    <a:bodyPr/>
                    <a:lstStyle/>
                    <a:p>
                      <a:pPr algn="ctr" fontAlgn="b"/>
                      <a:r>
                        <a:rPr lang="es-GT" sz="1800" b="1" u="none" strike="noStrike">
                          <a:effectLst/>
                        </a:rPr>
                        <a:t> $    8,000.00 </a:t>
                      </a:r>
                      <a:endParaRPr lang="es-GT" sz="1800" b="1" i="0" u="none" strike="noStrike">
                        <a:solidFill>
                          <a:srgbClr val="000000"/>
                        </a:solidFill>
                        <a:effectLst/>
                        <a:latin typeface="Calibri" panose="020F0502020204030204" pitchFamily="34" charset="0"/>
                      </a:endParaRPr>
                    </a:p>
                  </a:txBody>
                  <a:tcPr marL="10882" marR="10882" marT="10882" marB="0" anchor="b"/>
                </a:tc>
                <a:tc gridSpan="2">
                  <a:txBody>
                    <a:bodyPr/>
                    <a:lstStyle/>
                    <a:p>
                      <a:pPr algn="ctr" fontAlgn="b"/>
                      <a:r>
                        <a:rPr lang="es-GT" sz="1800" b="1" u="none" strike="noStrike">
                          <a:effectLst/>
                        </a:rPr>
                        <a:t>($200 por paquete por 40 paquetes)</a:t>
                      </a:r>
                      <a:endParaRPr lang="es-GT" sz="1800" b="1" i="0" u="none" strike="noStrike">
                        <a:solidFill>
                          <a:srgbClr val="000000"/>
                        </a:solidFill>
                        <a:effectLst/>
                        <a:latin typeface="Calibri" panose="020F0502020204030204" pitchFamily="34" charset="0"/>
                      </a:endParaRPr>
                    </a:p>
                  </a:txBody>
                  <a:tcPr marL="10882" marR="10882" marT="10882" marB="0" anchor="b"/>
                </a:tc>
                <a:tc hMerge="1">
                  <a:txBody>
                    <a:bodyPr/>
                    <a:lstStyle/>
                    <a:p>
                      <a:endParaRPr lang="es-GT"/>
                    </a:p>
                  </a:txBody>
                  <a:tcPr/>
                </a:tc>
                <a:extLst>
                  <a:ext uri="{0D108BD9-81ED-4DB2-BD59-A6C34878D82A}">
                    <a16:rowId xmlns:a16="http://schemas.microsoft.com/office/drawing/2014/main" val="10001"/>
                  </a:ext>
                </a:extLst>
              </a:tr>
              <a:tr h="1371677">
                <a:tc>
                  <a:txBody>
                    <a:bodyPr/>
                    <a:lstStyle/>
                    <a:p>
                      <a:pPr algn="l" fontAlgn="b"/>
                      <a:r>
                        <a:rPr lang="es-GT" sz="1800" b="1" u="none" strike="noStrike">
                          <a:effectLst/>
                        </a:rPr>
                        <a:t>Costos de Adquisición Variables</a:t>
                      </a:r>
                      <a:endParaRPr lang="es-GT" sz="1800" b="1" i="0" u="none" strike="noStrike">
                        <a:solidFill>
                          <a:srgbClr val="000000"/>
                        </a:solidFill>
                        <a:effectLst/>
                        <a:latin typeface="Calibri" panose="020F0502020204030204" pitchFamily="34" charset="0"/>
                      </a:endParaRPr>
                    </a:p>
                  </a:txBody>
                  <a:tcPr marL="10882" marR="10882" marT="10882" marB="0" anchor="b"/>
                </a:tc>
                <a:tc>
                  <a:txBody>
                    <a:bodyPr/>
                    <a:lstStyle/>
                    <a:p>
                      <a:pPr algn="ctr" fontAlgn="b"/>
                      <a:r>
                        <a:rPr lang="es-GT" sz="1800" b="1" u="none" strike="noStrike">
                          <a:effectLst/>
                        </a:rPr>
                        <a:t> $       600.00 </a:t>
                      </a:r>
                      <a:endParaRPr lang="es-GT" sz="1800" b="1" i="0" u="none" strike="noStrike">
                        <a:solidFill>
                          <a:srgbClr val="000000"/>
                        </a:solidFill>
                        <a:effectLst/>
                        <a:latin typeface="Calibri" panose="020F0502020204030204" pitchFamily="34" charset="0"/>
                      </a:endParaRPr>
                    </a:p>
                  </a:txBody>
                  <a:tcPr marL="10882" marR="10882" marT="10882" marB="0" anchor="b"/>
                </a:tc>
                <a:tc gridSpan="2">
                  <a:txBody>
                    <a:bodyPr/>
                    <a:lstStyle/>
                    <a:p>
                      <a:pPr algn="ctr" fontAlgn="b"/>
                      <a:r>
                        <a:rPr lang="es-GT" sz="1800" b="1" u="none" strike="noStrike" dirty="0">
                          <a:effectLst/>
                        </a:rPr>
                        <a:t>($120 por paquete por 5 paquetes)</a:t>
                      </a:r>
                      <a:endParaRPr lang="es-GT" sz="1800" b="1" i="0" u="none" strike="noStrike" dirty="0">
                        <a:solidFill>
                          <a:srgbClr val="000000"/>
                        </a:solidFill>
                        <a:effectLst/>
                        <a:latin typeface="Calibri" panose="020F0502020204030204" pitchFamily="34" charset="0"/>
                      </a:endParaRPr>
                    </a:p>
                  </a:txBody>
                  <a:tcPr marL="10882" marR="10882" marT="10882" marB="0" anchor="b"/>
                </a:tc>
                <a:tc hMerge="1">
                  <a:txBody>
                    <a:bodyPr/>
                    <a:lstStyle/>
                    <a:p>
                      <a:endParaRPr lang="es-GT"/>
                    </a:p>
                  </a:txBody>
                  <a:tcPr/>
                </a:tc>
                <a:tc>
                  <a:txBody>
                    <a:bodyPr/>
                    <a:lstStyle/>
                    <a:p>
                      <a:pPr algn="ctr" fontAlgn="b"/>
                      <a:r>
                        <a:rPr lang="es-GT" sz="1800" b="1" u="none" strike="noStrike">
                          <a:effectLst/>
                        </a:rPr>
                        <a:t> $    4,800.00 </a:t>
                      </a:r>
                      <a:endParaRPr lang="es-GT" sz="1800" b="1" i="0" u="none" strike="noStrike">
                        <a:solidFill>
                          <a:srgbClr val="000000"/>
                        </a:solidFill>
                        <a:effectLst/>
                        <a:latin typeface="Calibri" panose="020F0502020204030204" pitchFamily="34" charset="0"/>
                      </a:endParaRPr>
                    </a:p>
                  </a:txBody>
                  <a:tcPr marL="10882" marR="10882" marT="10882" marB="0" anchor="b"/>
                </a:tc>
                <a:tc gridSpan="2">
                  <a:txBody>
                    <a:bodyPr/>
                    <a:lstStyle/>
                    <a:p>
                      <a:pPr algn="ctr" fontAlgn="b"/>
                      <a:r>
                        <a:rPr lang="es-GT" sz="1800" b="1" u="none" strike="noStrike">
                          <a:effectLst/>
                        </a:rPr>
                        <a:t>($120 por paquete por 40 paquetes)</a:t>
                      </a:r>
                      <a:endParaRPr lang="es-GT" sz="1800" b="1" i="0" u="none" strike="noStrike">
                        <a:solidFill>
                          <a:srgbClr val="000000"/>
                        </a:solidFill>
                        <a:effectLst/>
                        <a:latin typeface="Calibri" panose="020F0502020204030204" pitchFamily="34" charset="0"/>
                      </a:endParaRPr>
                    </a:p>
                  </a:txBody>
                  <a:tcPr marL="10882" marR="10882" marT="10882" marB="0" anchor="b"/>
                </a:tc>
                <a:tc hMerge="1">
                  <a:txBody>
                    <a:bodyPr/>
                    <a:lstStyle/>
                    <a:p>
                      <a:endParaRPr lang="es-GT"/>
                    </a:p>
                  </a:txBody>
                  <a:tcPr/>
                </a:tc>
                <a:extLst>
                  <a:ext uri="{0D108BD9-81ED-4DB2-BD59-A6C34878D82A}">
                    <a16:rowId xmlns:a16="http://schemas.microsoft.com/office/drawing/2014/main" val="10002"/>
                  </a:ext>
                </a:extLst>
              </a:tr>
              <a:tr h="511440">
                <a:tc>
                  <a:txBody>
                    <a:bodyPr/>
                    <a:lstStyle/>
                    <a:p>
                      <a:pPr algn="l" fontAlgn="b"/>
                      <a:r>
                        <a:rPr lang="es-GT" sz="1800" b="1" u="none" strike="noStrike">
                          <a:effectLst/>
                        </a:rPr>
                        <a:t>Costos Fijos</a:t>
                      </a:r>
                      <a:endParaRPr lang="es-GT" sz="1800" b="1" i="0" u="none" strike="noStrike">
                        <a:solidFill>
                          <a:srgbClr val="000000"/>
                        </a:solidFill>
                        <a:effectLst/>
                        <a:latin typeface="Calibri" panose="020F0502020204030204" pitchFamily="34" charset="0"/>
                      </a:endParaRPr>
                    </a:p>
                  </a:txBody>
                  <a:tcPr marL="10882" marR="10882" marT="10882" marB="0" anchor="b"/>
                </a:tc>
                <a:tc>
                  <a:txBody>
                    <a:bodyPr/>
                    <a:lstStyle/>
                    <a:p>
                      <a:pPr algn="ctr" fontAlgn="b"/>
                      <a:r>
                        <a:rPr lang="es-GT" sz="1800" b="1" u="none" strike="noStrike">
                          <a:effectLst/>
                        </a:rPr>
                        <a:t> $    2,000.00 </a:t>
                      </a:r>
                      <a:endParaRPr lang="es-GT" sz="1800" b="1" i="0" u="none" strike="noStrike">
                        <a:solidFill>
                          <a:srgbClr val="000000"/>
                        </a:solidFill>
                        <a:effectLst/>
                        <a:latin typeface="Calibri" panose="020F0502020204030204" pitchFamily="34" charset="0"/>
                      </a:endParaRPr>
                    </a:p>
                  </a:txBody>
                  <a:tcPr marL="10882" marR="10882" marT="10882" marB="0" anchor="b"/>
                </a:tc>
                <a:tc>
                  <a:txBody>
                    <a:bodyPr/>
                    <a:lstStyle/>
                    <a:p>
                      <a:pPr algn="l" fontAlgn="b"/>
                      <a:endParaRPr lang="es-GT" sz="1800" b="1" i="0" u="none" strike="noStrike">
                        <a:solidFill>
                          <a:srgbClr val="000000"/>
                        </a:solidFill>
                        <a:effectLst/>
                        <a:latin typeface="Calibri" panose="020F0502020204030204" pitchFamily="34" charset="0"/>
                      </a:endParaRPr>
                    </a:p>
                  </a:txBody>
                  <a:tcPr marL="10882" marR="10882" marT="10882" marB="0" anchor="b"/>
                </a:tc>
                <a:tc>
                  <a:txBody>
                    <a:bodyPr/>
                    <a:lstStyle/>
                    <a:p>
                      <a:pPr algn="l" fontAlgn="b"/>
                      <a:endParaRPr lang="es-GT" sz="1800" b="1" i="0" u="none" strike="noStrike">
                        <a:solidFill>
                          <a:srgbClr val="000000"/>
                        </a:solidFill>
                        <a:effectLst/>
                        <a:latin typeface="Calibri" panose="020F0502020204030204" pitchFamily="34" charset="0"/>
                      </a:endParaRPr>
                    </a:p>
                  </a:txBody>
                  <a:tcPr marL="10882" marR="10882" marT="10882" marB="0" anchor="b"/>
                </a:tc>
                <a:tc>
                  <a:txBody>
                    <a:bodyPr/>
                    <a:lstStyle/>
                    <a:p>
                      <a:pPr algn="ctr" fontAlgn="b"/>
                      <a:r>
                        <a:rPr lang="es-GT" sz="1800" b="1" u="none" strike="noStrike">
                          <a:effectLst/>
                        </a:rPr>
                        <a:t> $    2,000.00 </a:t>
                      </a:r>
                      <a:endParaRPr lang="es-GT" sz="1800" b="1" i="0" u="none" strike="noStrike">
                        <a:solidFill>
                          <a:srgbClr val="000000"/>
                        </a:solidFill>
                        <a:effectLst/>
                        <a:latin typeface="Calibri" panose="020F0502020204030204" pitchFamily="34" charset="0"/>
                      </a:endParaRPr>
                    </a:p>
                  </a:txBody>
                  <a:tcPr marL="10882" marR="10882" marT="10882" marB="0" anchor="b"/>
                </a:tc>
                <a:tc>
                  <a:txBody>
                    <a:bodyPr/>
                    <a:lstStyle/>
                    <a:p>
                      <a:pPr algn="l" fontAlgn="b"/>
                      <a:endParaRPr lang="es-GT" sz="1800" b="1" i="0" u="none" strike="noStrike">
                        <a:solidFill>
                          <a:srgbClr val="000000"/>
                        </a:solidFill>
                        <a:effectLst/>
                        <a:latin typeface="Calibri" panose="020F0502020204030204" pitchFamily="34" charset="0"/>
                      </a:endParaRPr>
                    </a:p>
                  </a:txBody>
                  <a:tcPr marL="10882" marR="10882" marT="10882" marB="0" anchor="b"/>
                </a:tc>
                <a:tc>
                  <a:txBody>
                    <a:bodyPr/>
                    <a:lstStyle/>
                    <a:p>
                      <a:pPr algn="l" fontAlgn="b"/>
                      <a:endParaRPr lang="es-GT" sz="1800" b="1" i="0" u="none" strike="noStrike">
                        <a:solidFill>
                          <a:srgbClr val="000000"/>
                        </a:solidFill>
                        <a:effectLst/>
                        <a:latin typeface="Calibri" panose="020F0502020204030204" pitchFamily="34" charset="0"/>
                      </a:endParaRPr>
                    </a:p>
                  </a:txBody>
                  <a:tcPr marL="10882" marR="10882" marT="10882" marB="0" anchor="b"/>
                </a:tc>
                <a:extLst>
                  <a:ext uri="{0D108BD9-81ED-4DB2-BD59-A6C34878D82A}">
                    <a16:rowId xmlns:a16="http://schemas.microsoft.com/office/drawing/2014/main" val="10003"/>
                  </a:ext>
                </a:extLst>
              </a:tr>
              <a:tr h="941559">
                <a:tc>
                  <a:txBody>
                    <a:bodyPr/>
                    <a:lstStyle/>
                    <a:p>
                      <a:pPr algn="l" fontAlgn="b"/>
                      <a:r>
                        <a:rPr lang="es-GT" sz="1800" b="1" u="none" strike="noStrike">
                          <a:effectLst/>
                        </a:rPr>
                        <a:t>Utilidad en Operación</a:t>
                      </a:r>
                      <a:endParaRPr lang="es-GT" sz="1800" b="1" i="0" u="none" strike="noStrike">
                        <a:solidFill>
                          <a:srgbClr val="000000"/>
                        </a:solidFill>
                        <a:effectLst/>
                        <a:latin typeface="Calibri" panose="020F0502020204030204" pitchFamily="34" charset="0"/>
                      </a:endParaRPr>
                    </a:p>
                  </a:txBody>
                  <a:tcPr marL="10882" marR="10882" marT="10882" marB="0" anchor="b"/>
                </a:tc>
                <a:tc>
                  <a:txBody>
                    <a:bodyPr/>
                    <a:lstStyle/>
                    <a:p>
                      <a:pPr algn="ctr" fontAlgn="b"/>
                      <a:r>
                        <a:rPr lang="es-GT" sz="1800" b="1" u="none" strike="noStrike">
                          <a:effectLst/>
                        </a:rPr>
                        <a:t> $  -1,600.00 </a:t>
                      </a:r>
                      <a:endParaRPr lang="es-GT" sz="1800" b="1" i="0" u="none" strike="noStrike">
                        <a:solidFill>
                          <a:srgbClr val="000000"/>
                        </a:solidFill>
                        <a:effectLst/>
                        <a:latin typeface="Calibri" panose="020F0502020204030204" pitchFamily="34" charset="0"/>
                      </a:endParaRPr>
                    </a:p>
                  </a:txBody>
                  <a:tcPr marL="10882" marR="10882" marT="10882" marB="0" anchor="b"/>
                </a:tc>
                <a:tc>
                  <a:txBody>
                    <a:bodyPr/>
                    <a:lstStyle/>
                    <a:p>
                      <a:pPr algn="l" fontAlgn="b"/>
                      <a:endParaRPr lang="es-GT" sz="1800" b="1" i="0" u="none" strike="noStrike">
                        <a:solidFill>
                          <a:srgbClr val="000000"/>
                        </a:solidFill>
                        <a:effectLst/>
                        <a:latin typeface="Calibri" panose="020F0502020204030204" pitchFamily="34" charset="0"/>
                      </a:endParaRPr>
                    </a:p>
                  </a:txBody>
                  <a:tcPr marL="10882" marR="10882" marT="10882" marB="0" anchor="b"/>
                </a:tc>
                <a:tc>
                  <a:txBody>
                    <a:bodyPr/>
                    <a:lstStyle/>
                    <a:p>
                      <a:pPr algn="l" fontAlgn="b"/>
                      <a:endParaRPr lang="es-GT" sz="1800" b="1" i="0" u="none" strike="noStrike">
                        <a:solidFill>
                          <a:srgbClr val="000000"/>
                        </a:solidFill>
                        <a:effectLst/>
                        <a:latin typeface="Calibri" panose="020F0502020204030204" pitchFamily="34" charset="0"/>
                      </a:endParaRPr>
                    </a:p>
                  </a:txBody>
                  <a:tcPr marL="10882" marR="10882" marT="10882" marB="0" anchor="b"/>
                </a:tc>
                <a:tc>
                  <a:txBody>
                    <a:bodyPr/>
                    <a:lstStyle/>
                    <a:p>
                      <a:pPr algn="ctr" fontAlgn="b"/>
                      <a:r>
                        <a:rPr lang="es-GT" sz="1800" b="1" u="none" strike="noStrike">
                          <a:effectLst/>
                        </a:rPr>
                        <a:t> $    1,200.00 </a:t>
                      </a:r>
                      <a:endParaRPr lang="es-GT" sz="1800" b="1" i="0" u="none" strike="noStrike">
                        <a:solidFill>
                          <a:srgbClr val="000000"/>
                        </a:solidFill>
                        <a:effectLst/>
                        <a:latin typeface="Calibri" panose="020F0502020204030204" pitchFamily="34" charset="0"/>
                      </a:endParaRPr>
                    </a:p>
                  </a:txBody>
                  <a:tcPr marL="10882" marR="10882" marT="10882" marB="0" anchor="b"/>
                </a:tc>
                <a:tc>
                  <a:txBody>
                    <a:bodyPr/>
                    <a:lstStyle/>
                    <a:p>
                      <a:pPr algn="l" fontAlgn="b"/>
                      <a:endParaRPr lang="es-GT" sz="1800" b="1" i="0" u="none" strike="noStrike">
                        <a:solidFill>
                          <a:srgbClr val="000000"/>
                        </a:solidFill>
                        <a:effectLst/>
                        <a:latin typeface="Calibri" panose="020F0502020204030204" pitchFamily="34" charset="0"/>
                      </a:endParaRPr>
                    </a:p>
                  </a:txBody>
                  <a:tcPr marL="10882" marR="10882" marT="10882" marB="0" anchor="b"/>
                </a:tc>
                <a:tc>
                  <a:txBody>
                    <a:bodyPr/>
                    <a:lstStyle/>
                    <a:p>
                      <a:pPr algn="l" fontAlgn="b"/>
                      <a:endParaRPr lang="es-GT" sz="1800" b="1" i="0" u="none" strike="noStrike" dirty="0">
                        <a:solidFill>
                          <a:srgbClr val="000000"/>
                        </a:solidFill>
                        <a:effectLst/>
                        <a:latin typeface="Calibri" panose="020F0502020204030204" pitchFamily="34" charset="0"/>
                      </a:endParaRPr>
                    </a:p>
                  </a:txBody>
                  <a:tcPr marL="10882" marR="10882" marT="10882" marB="0" anchor="b"/>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638599179"/>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3" name="Marcador de contenido 2"/>
          <p:cNvSpPr>
            <a:spLocks noGrp="1"/>
          </p:cNvSpPr>
          <p:nvPr>
            <p:ph idx="1"/>
          </p:nvPr>
        </p:nvSpPr>
        <p:spPr>
          <a:xfrm>
            <a:off x="685801" y="1510748"/>
            <a:ext cx="10820400" cy="4280452"/>
          </a:xfrm>
        </p:spPr>
        <p:txBody>
          <a:bodyPr anchor="t">
            <a:normAutofit/>
          </a:bodyPr>
          <a:lstStyle/>
          <a:p>
            <a:pPr marL="0" indent="0" algn="just">
              <a:buNone/>
            </a:pPr>
            <a:r>
              <a:rPr lang="es-GT" sz="3200" dirty="0"/>
              <a:t>Las únicas cantidades que cambian como resultado de la venta de diferentes cantidades de paquetes son los </a:t>
            </a:r>
            <a:r>
              <a:rPr lang="es-GT" sz="3200" i="1" dirty="0"/>
              <a:t>ingresos totales </a:t>
            </a:r>
            <a:r>
              <a:rPr lang="es-GT" sz="3200" dirty="0"/>
              <a:t>y los </a:t>
            </a:r>
            <a:r>
              <a:rPr lang="es-GT" sz="3200" i="1" dirty="0"/>
              <a:t>costos variables totales</a:t>
            </a:r>
            <a:r>
              <a:rPr lang="es-GT" sz="3200" dirty="0"/>
              <a:t>. La diferencia entre los ingresos totales y los costos variables totales se denomina </a:t>
            </a:r>
            <a:r>
              <a:rPr lang="es-GT" sz="3200" b="1" dirty="0"/>
              <a:t>margen de contribución</a:t>
            </a:r>
            <a:r>
              <a:rPr lang="es-GT" sz="3200" dirty="0"/>
              <a:t>. </a:t>
            </a:r>
          </a:p>
          <a:p>
            <a:pPr marL="0" indent="0" algn="just">
              <a:buNone/>
            </a:pPr>
            <a:r>
              <a:rPr lang="es-GT" sz="3200" dirty="0"/>
              <a:t>Es decir,</a:t>
            </a:r>
          </a:p>
          <a:p>
            <a:pPr marL="0" indent="0" algn="just">
              <a:buNone/>
            </a:pPr>
            <a:r>
              <a:rPr lang="es-GT" sz="3200" dirty="0"/>
              <a:t>Margen de contribución = Ingresos totales - Costos variables totales</a:t>
            </a:r>
          </a:p>
        </p:txBody>
      </p:sp>
    </p:spTree>
    <p:extLst>
      <p:ext uri="{BB962C8B-B14F-4D97-AF65-F5344CB8AC3E}">
        <p14:creationId xmlns:p14="http://schemas.microsoft.com/office/powerpoint/2010/main" val="2623114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pic>
        <p:nvPicPr>
          <p:cNvPr id="5" name="Picture 4" descr="Calculadora, lápiz, brújula, dinero y un papel con gráficos impresos en él">
            <a:extLst>
              <a:ext uri="{FF2B5EF4-FFF2-40B4-BE49-F238E27FC236}">
                <a16:creationId xmlns:a16="http://schemas.microsoft.com/office/drawing/2014/main" id="{5ABC9DB3-1ACA-92CC-023B-2BA75AC91E7E}"/>
              </a:ext>
            </a:extLst>
          </p:cNvPr>
          <p:cNvPicPr>
            <a:picLocks noChangeAspect="1"/>
          </p:cNvPicPr>
          <p:nvPr/>
        </p:nvPicPr>
        <p:blipFill rotWithShape="1">
          <a:blip r:embed="rId3"/>
          <a:srcRect l="31747" r="27524" b="-2"/>
          <a:stretch/>
        </p:blipFill>
        <p:spPr>
          <a:xfrm>
            <a:off x="20" y="975"/>
            <a:ext cx="4635988" cy="6858000"/>
          </a:xfrm>
          <a:prstGeom prst="rect">
            <a:avLst/>
          </a:prstGeom>
        </p:spPr>
      </p:pic>
      <p:sp>
        <p:nvSpPr>
          <p:cNvPr id="3" name="Marcador de contenido 2"/>
          <p:cNvSpPr>
            <a:spLocks noGrp="1"/>
          </p:cNvSpPr>
          <p:nvPr>
            <p:ph idx="1"/>
          </p:nvPr>
        </p:nvSpPr>
        <p:spPr>
          <a:xfrm>
            <a:off x="4955458" y="967409"/>
            <a:ext cx="6593075" cy="5256410"/>
          </a:xfrm>
        </p:spPr>
        <p:txBody>
          <a:bodyPr>
            <a:normAutofit/>
          </a:bodyPr>
          <a:lstStyle/>
          <a:p>
            <a:pPr marL="0" indent="0" algn="just">
              <a:buNone/>
            </a:pPr>
            <a:r>
              <a:rPr lang="es-GT" sz="2800" b="1" dirty="0"/>
              <a:t>El margen de contribución explica por qué cambia la utilidad en operación, a medida que varía el número de unidades vendidas. </a:t>
            </a:r>
          </a:p>
        </p:txBody>
      </p:sp>
    </p:spTree>
    <p:extLst>
      <p:ext uri="{BB962C8B-B14F-4D97-AF65-F5344CB8AC3E}">
        <p14:creationId xmlns:p14="http://schemas.microsoft.com/office/powerpoint/2010/main" val="38989614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3" name="Marcador de contenido 2"/>
          <p:cNvSpPr>
            <a:spLocks noGrp="1"/>
          </p:cNvSpPr>
          <p:nvPr>
            <p:ph idx="1"/>
          </p:nvPr>
        </p:nvSpPr>
        <p:spPr>
          <a:xfrm>
            <a:off x="685801" y="2243892"/>
            <a:ext cx="10820400" cy="3547308"/>
          </a:xfrm>
        </p:spPr>
        <p:txBody>
          <a:bodyPr anchor="t">
            <a:normAutofit/>
          </a:bodyPr>
          <a:lstStyle/>
          <a:p>
            <a:pPr marL="0" indent="0" algn="just">
              <a:buNone/>
            </a:pPr>
            <a:r>
              <a:rPr lang="es-GT" sz="3600" b="1" dirty="0"/>
              <a:t>Al calcular el margen de contribución, asegúrese de restar todos los costos variables. Por ejemplo, si se tuvieran costos de venta variables porque pagaran una comisión a los vendedores por cada paquete que vendieran en la feria, los costos variables incluirían el costo de cada paquete más la comisión por ventas</a:t>
            </a:r>
            <a:r>
              <a:rPr lang="es-GT" sz="2000" b="1" dirty="0"/>
              <a:t>.</a:t>
            </a:r>
          </a:p>
        </p:txBody>
      </p:sp>
    </p:spTree>
    <p:extLst>
      <p:ext uri="{BB962C8B-B14F-4D97-AF65-F5344CB8AC3E}">
        <p14:creationId xmlns:p14="http://schemas.microsoft.com/office/powerpoint/2010/main" val="196652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3" name="Marcador de contenido 2"/>
          <p:cNvSpPr>
            <a:spLocks noGrp="1"/>
          </p:cNvSpPr>
          <p:nvPr>
            <p:ph idx="1"/>
          </p:nvPr>
        </p:nvSpPr>
        <p:spPr>
          <a:xfrm>
            <a:off x="685801" y="2243892"/>
            <a:ext cx="10820400" cy="3547308"/>
          </a:xfrm>
        </p:spPr>
        <p:txBody>
          <a:bodyPr anchor="t">
            <a:normAutofit/>
          </a:bodyPr>
          <a:lstStyle/>
          <a:p>
            <a:pPr marL="0" indent="0" algn="just">
              <a:buNone/>
            </a:pPr>
            <a:r>
              <a:rPr lang="es-GT" sz="3600" b="1" dirty="0"/>
              <a:t>El margen de contribución por unidad es una herramienta útil para calcular el margen de contribución y la utilidad en operación. Se define como:</a:t>
            </a:r>
          </a:p>
          <a:p>
            <a:pPr marL="0" indent="0" algn="just">
              <a:buNone/>
            </a:pPr>
            <a:r>
              <a:rPr lang="es-GT" sz="3600" b="1" dirty="0"/>
              <a:t>Margen de contribución por unidad = </a:t>
            </a:r>
          </a:p>
          <a:p>
            <a:pPr marL="0" indent="0" algn="just">
              <a:buNone/>
            </a:pPr>
            <a:r>
              <a:rPr lang="es-GT" sz="3600" b="1" dirty="0"/>
              <a:t>Precio de venta - Costo variable por unidad</a:t>
            </a:r>
            <a:endParaRPr lang="es-GT" sz="2000" b="1" dirty="0"/>
          </a:p>
        </p:txBody>
      </p:sp>
    </p:spTree>
    <p:extLst>
      <p:ext uri="{BB962C8B-B14F-4D97-AF65-F5344CB8AC3E}">
        <p14:creationId xmlns:p14="http://schemas.microsoft.com/office/powerpoint/2010/main" val="3707825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54954" y="973668"/>
            <a:ext cx="9470116" cy="1125588"/>
          </a:xfrm>
        </p:spPr>
        <p:txBody>
          <a:bodyPr>
            <a:normAutofit fontScale="90000"/>
          </a:bodyPr>
          <a:lstStyle/>
          <a:p>
            <a:r>
              <a:rPr lang="es-GT" b="1" dirty="0"/>
              <a:t>Margen de contribución en porcentaje </a:t>
            </a:r>
            <a:r>
              <a:rPr lang="es-GT" dirty="0"/>
              <a:t>(o </a:t>
            </a:r>
            <a:r>
              <a:rPr lang="es-GT" b="1" dirty="0"/>
              <a:t>razón del margen de contribución</a:t>
            </a:r>
            <a:r>
              <a:rPr lang="es-GT" dirty="0"/>
              <a:t>):</a:t>
            </a:r>
          </a:p>
        </p:txBody>
      </p:sp>
      <p:sp>
        <p:nvSpPr>
          <p:cNvPr id="3" name="Marcador de contenido 2"/>
          <p:cNvSpPr>
            <a:spLocks noGrp="1"/>
          </p:cNvSpPr>
          <p:nvPr>
            <p:ph idx="1"/>
          </p:nvPr>
        </p:nvSpPr>
        <p:spPr>
          <a:xfrm>
            <a:off x="682580" y="2603500"/>
            <a:ext cx="10560676" cy="3416300"/>
          </a:xfrm>
        </p:spPr>
        <p:txBody>
          <a:bodyPr>
            <a:normAutofit/>
          </a:bodyPr>
          <a:lstStyle/>
          <a:p>
            <a:pPr marL="0" indent="0">
              <a:buNone/>
            </a:pPr>
            <a:r>
              <a:rPr lang="es-GT" b="1" dirty="0"/>
              <a:t>Margen de contribución en porcentaje  =       </a:t>
            </a:r>
            <a:r>
              <a:rPr lang="es-GT" b="1" u="sng" dirty="0"/>
              <a:t>Margen de contribución por unidad</a:t>
            </a:r>
          </a:p>
          <a:p>
            <a:pPr marL="0" indent="0">
              <a:buNone/>
            </a:pPr>
            <a:r>
              <a:rPr lang="es-GT" b="1" dirty="0"/>
              <a:t>(razón del margen de contribución) 			          Precio de venta</a:t>
            </a:r>
          </a:p>
          <a:p>
            <a:pPr marL="0" indent="0">
              <a:buNone/>
            </a:pPr>
            <a:r>
              <a:rPr lang="es-GT" b="1" dirty="0"/>
              <a:t>En nuestro ejemplo,</a:t>
            </a:r>
          </a:p>
          <a:p>
            <a:pPr marL="0" indent="0">
              <a:buNone/>
            </a:pPr>
            <a:r>
              <a:rPr lang="es-GT" b="1" dirty="0"/>
              <a:t>											</a:t>
            </a:r>
            <a:r>
              <a:rPr lang="es-GT" b="1" u="sng" dirty="0"/>
              <a:t>	$ 80     </a:t>
            </a:r>
            <a:r>
              <a:rPr lang="es-GT" b="1" u="sng" dirty="0">
                <a:solidFill>
                  <a:schemeClr val="bg1"/>
                </a:solidFill>
              </a:rPr>
              <a:t>.</a:t>
            </a:r>
          </a:p>
          <a:p>
            <a:pPr marL="0" indent="0">
              <a:buNone/>
            </a:pPr>
            <a:r>
              <a:rPr lang="es-GT" b="1" dirty="0"/>
              <a:t>Margen de contribución en porcentaje =                                  200			=       0.40, o bien, 40%</a:t>
            </a:r>
          </a:p>
        </p:txBody>
      </p:sp>
    </p:spTree>
    <p:extLst>
      <p:ext uri="{BB962C8B-B14F-4D97-AF65-F5344CB8AC3E}">
        <p14:creationId xmlns:p14="http://schemas.microsoft.com/office/powerpoint/2010/main" val="9759334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685802" y="609600"/>
            <a:ext cx="6282266" cy="1456267"/>
          </a:xfrm>
        </p:spPr>
        <p:txBody>
          <a:bodyPr>
            <a:normAutofit/>
          </a:bodyPr>
          <a:lstStyle/>
          <a:p>
            <a:r>
              <a:rPr lang="es-GT" b="1"/>
              <a:t>Punto de equilibrio</a:t>
            </a:r>
          </a:p>
        </p:txBody>
      </p:sp>
      <p:sp>
        <p:nvSpPr>
          <p:cNvPr id="3" name="Marcador de contenido 2"/>
          <p:cNvSpPr>
            <a:spLocks noGrp="1"/>
          </p:cNvSpPr>
          <p:nvPr>
            <p:ph idx="1"/>
          </p:nvPr>
        </p:nvSpPr>
        <p:spPr>
          <a:xfrm>
            <a:off x="685802" y="2142067"/>
            <a:ext cx="6282266" cy="3649133"/>
          </a:xfrm>
        </p:spPr>
        <p:txBody>
          <a:bodyPr>
            <a:normAutofit/>
          </a:bodyPr>
          <a:lstStyle/>
          <a:p>
            <a:pPr marL="0" indent="0" algn="just">
              <a:buNone/>
            </a:pPr>
            <a:r>
              <a:rPr lang="es-GT" sz="3200" b="1" dirty="0"/>
              <a:t>El punto de equilibrio (</a:t>
            </a:r>
            <a:r>
              <a:rPr lang="es-GT" sz="3200" b="1" dirty="0" err="1"/>
              <a:t>pde</a:t>
            </a:r>
            <a:r>
              <a:rPr lang="es-GT" sz="3200" b="1" dirty="0"/>
              <a:t>) es aquella cantidad de producción vendida a la cual los ingresos totales son iguales a los costos totales, es decir, la cantidad de producción vendida que da como resultado $0 de utilidad.</a:t>
            </a:r>
          </a:p>
        </p:txBody>
      </p:sp>
      <p:pic>
        <p:nvPicPr>
          <p:cNvPr id="7" name="Graphic 6" descr="Libra">
            <a:extLst>
              <a:ext uri="{FF2B5EF4-FFF2-40B4-BE49-F238E27FC236}">
                <a16:creationId xmlns:a16="http://schemas.microsoft.com/office/drawing/2014/main" id="{4FC1CE04-F836-530D-AF94-F926129C090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90936" y="1668042"/>
            <a:ext cx="3445714" cy="3445714"/>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4744661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8160773" y="1113062"/>
            <a:ext cx="3382297" cy="3281957"/>
          </a:xfrm>
        </p:spPr>
        <p:txBody>
          <a:bodyPr vert="horz" lIns="91440" tIns="45720" rIns="91440" bIns="45720" rtlCol="0" anchor="b">
            <a:normAutofit/>
          </a:bodyPr>
          <a:lstStyle/>
          <a:p>
            <a:pPr>
              <a:lnSpc>
                <a:spcPct val="90000"/>
              </a:lnSpc>
            </a:pPr>
            <a:r>
              <a:rPr lang="en-US" sz="3800" b="0" i="0" kern="1200" dirty="0">
                <a:solidFill>
                  <a:schemeClr val="bg2"/>
                </a:solidFill>
                <a:latin typeface="+mj-lt"/>
                <a:ea typeface="+mj-ea"/>
                <a:cs typeface="+mj-cs"/>
              </a:rPr>
              <a:t>Por Margen de Contribución:</a:t>
            </a:r>
          </a:p>
        </p:txBody>
      </p:sp>
      <p:pic>
        <p:nvPicPr>
          <p:cNvPr id="6" name="Marcador de contenido 5" descr="Interfaz de usuario gráfica, Aplicación, PowerPoint&#10;&#10;Descripción generada automáticamente">
            <a:extLst>
              <a:ext uri="{FF2B5EF4-FFF2-40B4-BE49-F238E27FC236}">
                <a16:creationId xmlns:a16="http://schemas.microsoft.com/office/drawing/2014/main" id="{55A463A0-29AD-502F-F321-EF76AFCE8013}"/>
              </a:ext>
            </a:extLst>
          </p:cNvPr>
          <p:cNvPicPr>
            <a:picLocks noGrp="1" noChangeAspect="1"/>
          </p:cNvPicPr>
          <p:nvPr>
            <p:ph idx="1"/>
          </p:nvPr>
        </p:nvPicPr>
        <p:blipFill rotWithShape="1">
          <a:blip r:embed="rId2"/>
          <a:srcRect l="28513" t="50066" r="33130" b="38054"/>
          <a:stretch/>
        </p:blipFill>
        <p:spPr bwMode="auto">
          <a:xfrm>
            <a:off x="961618" y="2559953"/>
            <a:ext cx="6924663" cy="183506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669140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GT" b="1" dirty="0"/>
              <a:t>Punto de Equilibrio en Ingresos</a:t>
            </a:r>
          </a:p>
        </p:txBody>
      </p:sp>
      <p:sp>
        <p:nvSpPr>
          <p:cNvPr id="3" name="Marcador de contenido 2"/>
          <p:cNvSpPr>
            <a:spLocks noGrp="1"/>
          </p:cNvSpPr>
          <p:nvPr>
            <p:ph idx="1"/>
          </p:nvPr>
        </p:nvSpPr>
        <p:spPr>
          <a:xfrm>
            <a:off x="1154954" y="2603500"/>
            <a:ext cx="10500426" cy="3416300"/>
          </a:xfrm>
        </p:spPr>
        <p:txBody>
          <a:bodyPr/>
          <a:lstStyle/>
          <a:p>
            <a:pPr marL="0" indent="0">
              <a:buNone/>
            </a:pPr>
            <a:endParaRPr lang="es-GT" dirty="0"/>
          </a:p>
          <a:p>
            <a:pPr marL="0" indent="0">
              <a:buNone/>
            </a:pPr>
            <a:r>
              <a:rPr lang="es-GT" sz="2400" b="1" u="sng" dirty="0"/>
              <a:t>			Costos fijos            </a:t>
            </a:r>
            <a:r>
              <a:rPr lang="es-GT" sz="2400" b="1" u="sng" dirty="0">
                <a:solidFill>
                  <a:schemeClr val="bg1"/>
                </a:solidFill>
              </a:rPr>
              <a:t>.			</a:t>
            </a:r>
            <a:r>
              <a:rPr lang="es-GT" sz="2400" b="1" u="sng" dirty="0">
                <a:solidFill>
                  <a:schemeClr val="tx1"/>
                </a:solidFill>
              </a:rPr>
              <a:t>$ 2,000</a:t>
            </a:r>
            <a:endParaRPr lang="es-GT" sz="2400" b="1" u="sng" dirty="0">
              <a:solidFill>
                <a:schemeClr val="bg1"/>
              </a:solidFill>
            </a:endParaRPr>
          </a:p>
          <a:p>
            <a:pPr marL="0" indent="0">
              <a:buNone/>
            </a:pPr>
            <a:r>
              <a:rPr lang="es-GT" sz="2400" b="1" dirty="0"/>
              <a:t>% de margen de contribución 	=	  	   0.40		=		$ 5,000.00</a:t>
            </a:r>
          </a:p>
          <a:p>
            <a:pPr marL="0" indent="0">
              <a:buNone/>
            </a:pPr>
            <a:endParaRPr lang="es-GT" dirty="0"/>
          </a:p>
        </p:txBody>
      </p:sp>
    </p:spTree>
    <p:extLst>
      <p:ext uri="{BB962C8B-B14F-4D97-AF65-F5344CB8AC3E}">
        <p14:creationId xmlns:p14="http://schemas.microsoft.com/office/powerpoint/2010/main" val="26829371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685799" y="1150076"/>
            <a:ext cx="3659389" cy="4557849"/>
          </a:xfrm>
        </p:spPr>
        <p:txBody>
          <a:bodyPr>
            <a:normAutofit/>
          </a:bodyPr>
          <a:lstStyle/>
          <a:p>
            <a:pPr algn="r"/>
            <a:r>
              <a:rPr lang="es-GT" b="1"/>
              <a:t>Utilidad en operación fijada como meta</a:t>
            </a:r>
          </a:p>
        </p:txBody>
      </p:sp>
      <p:sp>
        <p:nvSpPr>
          <p:cNvPr id="3" name="Marcador de contenido 2"/>
          <p:cNvSpPr>
            <a:spLocks noGrp="1"/>
          </p:cNvSpPr>
          <p:nvPr>
            <p:ph idx="1"/>
          </p:nvPr>
        </p:nvSpPr>
        <p:spPr>
          <a:xfrm>
            <a:off x="4988658" y="1150076"/>
            <a:ext cx="6517543" cy="4557849"/>
          </a:xfrm>
        </p:spPr>
        <p:txBody>
          <a:bodyPr>
            <a:normAutofit/>
          </a:bodyPr>
          <a:lstStyle/>
          <a:p>
            <a:pPr marL="0" indent="0">
              <a:buNone/>
            </a:pPr>
            <a:r>
              <a:rPr lang="es-GT" b="1" dirty="0"/>
              <a:t>¿Cuántas unidades deberán venderse para lograr una utilidad en operación de $1,200.00?</a:t>
            </a:r>
          </a:p>
          <a:p>
            <a:pPr marL="0" indent="0">
              <a:buNone/>
            </a:pPr>
            <a:endParaRPr lang="es-GT" b="1" dirty="0"/>
          </a:p>
          <a:p>
            <a:pPr marL="0" indent="0">
              <a:buNone/>
            </a:pPr>
            <a:endParaRPr lang="es-GT" dirty="0"/>
          </a:p>
        </p:txBody>
      </p:sp>
    </p:spTree>
    <p:extLst>
      <p:ext uri="{BB962C8B-B14F-4D97-AF65-F5344CB8AC3E}">
        <p14:creationId xmlns:p14="http://schemas.microsoft.com/office/powerpoint/2010/main" val="7424457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Marcador de contenido 4" descr="Interfaz de usuario gráfica, Aplicación&#10;&#10;Descripción generada automáticamente">
            <a:extLst>
              <a:ext uri="{FF2B5EF4-FFF2-40B4-BE49-F238E27FC236}">
                <a16:creationId xmlns:a16="http://schemas.microsoft.com/office/drawing/2014/main" id="{81ED819F-013B-6623-D394-C0D8A40A2A3A}"/>
              </a:ext>
            </a:extLst>
          </p:cNvPr>
          <p:cNvPicPr>
            <a:picLocks noGrp="1" noChangeAspect="1"/>
          </p:cNvPicPr>
          <p:nvPr>
            <p:ph idx="1"/>
          </p:nvPr>
        </p:nvPicPr>
        <p:blipFill rotWithShape="1">
          <a:blip r:embed="rId2"/>
          <a:srcRect l="17991" t="35923" r="27699" b="28437"/>
          <a:stretch/>
        </p:blipFill>
        <p:spPr bwMode="auto">
          <a:xfrm>
            <a:off x="793348" y="1497724"/>
            <a:ext cx="9930035" cy="390984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4754678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B239EE-B121-2443-176D-CD6BD10B10B9}"/>
              </a:ext>
            </a:extLst>
          </p:cNvPr>
          <p:cNvSpPr>
            <a:spLocks noGrp="1"/>
          </p:cNvSpPr>
          <p:nvPr>
            <p:ph type="title"/>
          </p:nvPr>
        </p:nvSpPr>
        <p:spPr/>
        <p:txBody>
          <a:bodyPr/>
          <a:lstStyle/>
          <a:p>
            <a:r>
              <a:rPr lang="es-ES" b="1" dirty="0"/>
              <a:t>PE MULTIPRODUCTO</a:t>
            </a:r>
            <a:endParaRPr lang="es-GT" b="1" dirty="0"/>
          </a:p>
        </p:txBody>
      </p:sp>
      <p:sp>
        <p:nvSpPr>
          <p:cNvPr id="3" name="Marcador de contenido 2">
            <a:extLst>
              <a:ext uri="{FF2B5EF4-FFF2-40B4-BE49-F238E27FC236}">
                <a16:creationId xmlns:a16="http://schemas.microsoft.com/office/drawing/2014/main" id="{D9DDAB1D-FBBB-48BD-29B0-AD2933FD7B90}"/>
              </a:ext>
            </a:extLst>
          </p:cNvPr>
          <p:cNvSpPr>
            <a:spLocks noGrp="1"/>
          </p:cNvSpPr>
          <p:nvPr>
            <p:ph idx="1"/>
          </p:nvPr>
        </p:nvSpPr>
        <p:spPr/>
        <p:txBody>
          <a:bodyPr>
            <a:normAutofit/>
          </a:bodyPr>
          <a:lstStyle/>
          <a:p>
            <a:pPr marL="0" indent="0" algn="just">
              <a:buNone/>
            </a:pPr>
            <a:r>
              <a:rPr lang="es-ES" sz="3600" b="1" dirty="0"/>
              <a:t>Cuando la empresa comercializa con diversos artículos, podemos determinar un PE </a:t>
            </a:r>
            <a:r>
              <a:rPr lang="es-ES" sz="3600" b="1" dirty="0" err="1"/>
              <a:t>multiproducto</a:t>
            </a:r>
            <a:r>
              <a:rPr lang="es-ES" sz="3600" b="1" dirty="0"/>
              <a:t>. Para el efecto, es necesario conocer de qué productos consta su oferta, margen de contribución por unidad y costos fijos totales. Los pasos a seguir son:</a:t>
            </a:r>
            <a:endParaRPr lang="es-GT" sz="3600" b="1" dirty="0"/>
          </a:p>
        </p:txBody>
      </p:sp>
    </p:spTree>
    <p:extLst>
      <p:ext uri="{BB962C8B-B14F-4D97-AF65-F5344CB8AC3E}">
        <p14:creationId xmlns:p14="http://schemas.microsoft.com/office/powerpoint/2010/main" val="26867457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Marcador de contenido 3">
            <a:extLst>
              <a:ext uri="{FF2B5EF4-FFF2-40B4-BE49-F238E27FC236}">
                <a16:creationId xmlns:a16="http://schemas.microsoft.com/office/drawing/2014/main" id="{2995D8A7-99B0-0073-FE28-4C4605B8AFF8}"/>
              </a:ext>
            </a:extLst>
          </p:cNvPr>
          <p:cNvGraphicFramePr>
            <a:graphicFrameLocks noGrp="1"/>
          </p:cNvGraphicFramePr>
          <p:nvPr>
            <p:ph idx="1"/>
            <p:extLst>
              <p:ext uri="{D42A27DB-BD31-4B8C-83A1-F6EECF244321}">
                <p14:modId xmlns:p14="http://schemas.microsoft.com/office/powerpoint/2010/main" val="291787048"/>
              </p:ext>
            </p:extLst>
          </p:nvPr>
        </p:nvGraphicFramePr>
        <p:xfrm>
          <a:off x="526473" y="955964"/>
          <a:ext cx="10654145" cy="4862945"/>
        </p:xfrm>
        <a:graphic>
          <a:graphicData uri="http://schemas.openxmlformats.org/drawingml/2006/table">
            <a:tbl>
              <a:tblPr>
                <a:tableStyleId>{5C22544A-7EE6-4342-B048-85BDC9FD1C3A}</a:tableStyleId>
              </a:tblPr>
              <a:tblGrid>
                <a:gridCol w="3693277">
                  <a:extLst>
                    <a:ext uri="{9D8B030D-6E8A-4147-A177-3AD203B41FA5}">
                      <a16:colId xmlns:a16="http://schemas.microsoft.com/office/drawing/2014/main" val="2809929380"/>
                    </a:ext>
                  </a:extLst>
                </a:gridCol>
                <a:gridCol w="2302302">
                  <a:extLst>
                    <a:ext uri="{9D8B030D-6E8A-4147-A177-3AD203B41FA5}">
                      <a16:colId xmlns:a16="http://schemas.microsoft.com/office/drawing/2014/main" val="1177631342"/>
                    </a:ext>
                  </a:extLst>
                </a:gridCol>
                <a:gridCol w="1870622">
                  <a:extLst>
                    <a:ext uri="{9D8B030D-6E8A-4147-A177-3AD203B41FA5}">
                      <a16:colId xmlns:a16="http://schemas.microsoft.com/office/drawing/2014/main" val="616634258"/>
                    </a:ext>
                  </a:extLst>
                </a:gridCol>
                <a:gridCol w="2787944">
                  <a:extLst>
                    <a:ext uri="{9D8B030D-6E8A-4147-A177-3AD203B41FA5}">
                      <a16:colId xmlns:a16="http://schemas.microsoft.com/office/drawing/2014/main" val="2678635791"/>
                    </a:ext>
                  </a:extLst>
                </a:gridCol>
              </a:tblGrid>
              <a:tr h="756290">
                <a:tc>
                  <a:txBody>
                    <a:bodyPr/>
                    <a:lstStyle/>
                    <a:p>
                      <a:pPr algn="ctr" fontAlgn="b"/>
                      <a:r>
                        <a:rPr lang="es-GT" sz="1800" b="1" u="none" strike="noStrike" dirty="0">
                          <a:effectLst/>
                        </a:rPr>
                        <a:t>Artículo</a:t>
                      </a:r>
                      <a:endParaRPr lang="es-GT"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s-GT" sz="1800" b="1" u="none" strike="noStrike">
                          <a:effectLst/>
                        </a:rPr>
                        <a:t>Venta total anual</a:t>
                      </a:r>
                      <a:endParaRPr lang="es-GT" sz="18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GT" sz="1800" b="1" u="none" strike="noStrike">
                          <a:effectLst/>
                        </a:rPr>
                        <a:t>Precio Unitario</a:t>
                      </a:r>
                      <a:endParaRPr lang="es-GT" sz="18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GT" sz="1800" b="1" u="none" strike="noStrike">
                          <a:effectLst/>
                        </a:rPr>
                        <a:t>Costo Variable Unitario</a:t>
                      </a:r>
                      <a:endParaRPr lang="es-GT" sz="18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67814936"/>
                  </a:ext>
                </a:extLst>
              </a:tr>
              <a:tr h="1368885">
                <a:tc>
                  <a:txBody>
                    <a:bodyPr/>
                    <a:lstStyle/>
                    <a:p>
                      <a:pPr algn="ctr" fontAlgn="b"/>
                      <a:r>
                        <a:rPr lang="es-GT" sz="1800" b="1" u="none" strike="noStrike">
                          <a:effectLst/>
                        </a:rPr>
                        <a:t>Paquete Libros Matemáticas</a:t>
                      </a:r>
                      <a:endParaRPr lang="es-GT" sz="18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GT" sz="1800" b="1" u="none" strike="noStrike" dirty="0">
                          <a:effectLst/>
                        </a:rPr>
                        <a:t> Q              350,100.00 </a:t>
                      </a:r>
                      <a:endParaRPr lang="es-GT"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s-GT" sz="1800" b="1" u="none" strike="noStrike">
                          <a:effectLst/>
                        </a:rPr>
                        <a:t> Q              450.00 </a:t>
                      </a:r>
                      <a:endParaRPr lang="es-GT" sz="18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GT" sz="1800" b="1" u="none" strike="noStrike">
                          <a:effectLst/>
                        </a:rPr>
                        <a:t> Q                               325.00 </a:t>
                      </a:r>
                      <a:endParaRPr lang="es-GT" sz="18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910654593"/>
                  </a:ext>
                </a:extLst>
              </a:tr>
              <a:tr h="1368885">
                <a:tc>
                  <a:txBody>
                    <a:bodyPr/>
                    <a:lstStyle/>
                    <a:p>
                      <a:pPr algn="ctr" fontAlgn="b"/>
                      <a:r>
                        <a:rPr lang="es-GT" sz="1800" b="1" u="none" strike="noStrike">
                          <a:effectLst/>
                        </a:rPr>
                        <a:t>Paquete Libros Idioma Español</a:t>
                      </a:r>
                      <a:endParaRPr lang="es-GT" sz="18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GT" sz="1800" b="1" u="none" strike="noStrike">
                          <a:effectLst/>
                        </a:rPr>
                        <a:t> Q              275,100.00 </a:t>
                      </a:r>
                      <a:endParaRPr lang="es-GT" sz="18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GT" sz="1800" b="1" u="none" strike="noStrike" dirty="0">
                          <a:effectLst/>
                        </a:rPr>
                        <a:t> Q              300.00 </a:t>
                      </a:r>
                      <a:endParaRPr lang="es-GT"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s-GT" sz="1800" b="1" u="none" strike="noStrike" dirty="0">
                          <a:effectLst/>
                        </a:rPr>
                        <a:t> Q                               210.00 </a:t>
                      </a:r>
                      <a:endParaRPr lang="es-GT" sz="18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014009962"/>
                  </a:ext>
                </a:extLst>
              </a:tr>
              <a:tr h="1368885">
                <a:tc>
                  <a:txBody>
                    <a:bodyPr/>
                    <a:lstStyle/>
                    <a:p>
                      <a:pPr algn="ctr" fontAlgn="b"/>
                      <a:r>
                        <a:rPr lang="es-GT" sz="1800" b="1" u="none" strike="noStrike">
                          <a:effectLst/>
                        </a:rPr>
                        <a:t>Paquete Libros Medio Natural</a:t>
                      </a:r>
                      <a:endParaRPr lang="es-GT" sz="18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GT" sz="1800" b="1" u="none" strike="noStrike">
                          <a:effectLst/>
                        </a:rPr>
                        <a:t> Q              300,300.00 </a:t>
                      </a:r>
                      <a:endParaRPr lang="es-GT" sz="18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GT" sz="1800" b="1" u="none" strike="noStrike">
                          <a:effectLst/>
                        </a:rPr>
                        <a:t> Q              325.00 </a:t>
                      </a:r>
                      <a:endParaRPr lang="es-GT" sz="18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GT" sz="1800" b="1" u="none" strike="noStrike" dirty="0">
                          <a:effectLst/>
                        </a:rPr>
                        <a:t> Q                               225.00 </a:t>
                      </a:r>
                      <a:endParaRPr lang="es-GT" sz="18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271369618"/>
                  </a:ext>
                </a:extLst>
              </a:tr>
            </a:tbl>
          </a:graphicData>
        </a:graphic>
      </p:graphicFrame>
    </p:spTree>
    <p:extLst>
      <p:ext uri="{BB962C8B-B14F-4D97-AF65-F5344CB8AC3E}">
        <p14:creationId xmlns:p14="http://schemas.microsoft.com/office/powerpoint/2010/main" val="26533542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A528CA-522F-9977-D953-0B7C30E3B490}"/>
              </a:ext>
            </a:extLst>
          </p:cNvPr>
          <p:cNvSpPr>
            <a:spLocks noGrp="1"/>
          </p:cNvSpPr>
          <p:nvPr>
            <p:ph type="title"/>
          </p:nvPr>
        </p:nvSpPr>
        <p:spPr/>
        <p:txBody>
          <a:bodyPr/>
          <a:lstStyle/>
          <a:p>
            <a:r>
              <a:rPr lang="es-ES" dirty="0"/>
              <a:t>Paso 1: Determinar la participación en ventas de cada artículo</a:t>
            </a:r>
            <a:endParaRPr lang="es-GT" dirty="0"/>
          </a:p>
        </p:txBody>
      </p:sp>
      <p:graphicFrame>
        <p:nvGraphicFramePr>
          <p:cNvPr id="4" name="Marcador de contenido 3">
            <a:extLst>
              <a:ext uri="{FF2B5EF4-FFF2-40B4-BE49-F238E27FC236}">
                <a16:creationId xmlns:a16="http://schemas.microsoft.com/office/drawing/2014/main" id="{2DC7BB53-A927-780B-5C5B-2335F406A4FC}"/>
              </a:ext>
            </a:extLst>
          </p:cNvPr>
          <p:cNvGraphicFramePr>
            <a:graphicFrameLocks noGrp="1"/>
          </p:cNvGraphicFramePr>
          <p:nvPr>
            <p:ph idx="1"/>
            <p:extLst>
              <p:ext uri="{D42A27DB-BD31-4B8C-83A1-F6EECF244321}">
                <p14:modId xmlns:p14="http://schemas.microsoft.com/office/powerpoint/2010/main" val="2161952532"/>
              </p:ext>
            </p:extLst>
          </p:nvPr>
        </p:nvGraphicFramePr>
        <p:xfrm>
          <a:off x="1335315" y="2206170"/>
          <a:ext cx="8694055" cy="3280230"/>
        </p:xfrm>
        <a:graphic>
          <a:graphicData uri="http://schemas.openxmlformats.org/drawingml/2006/table">
            <a:tbl>
              <a:tblPr>
                <a:tableStyleId>{5C22544A-7EE6-4342-B048-85BDC9FD1C3A}</a:tableStyleId>
              </a:tblPr>
              <a:tblGrid>
                <a:gridCol w="4081965">
                  <a:extLst>
                    <a:ext uri="{9D8B030D-6E8A-4147-A177-3AD203B41FA5}">
                      <a16:colId xmlns:a16="http://schemas.microsoft.com/office/drawing/2014/main" val="2975138254"/>
                    </a:ext>
                  </a:extLst>
                </a:gridCol>
                <a:gridCol w="2544601">
                  <a:extLst>
                    <a:ext uri="{9D8B030D-6E8A-4147-A177-3AD203B41FA5}">
                      <a16:colId xmlns:a16="http://schemas.microsoft.com/office/drawing/2014/main" val="1347155861"/>
                    </a:ext>
                  </a:extLst>
                </a:gridCol>
                <a:gridCol w="2067489">
                  <a:extLst>
                    <a:ext uri="{9D8B030D-6E8A-4147-A177-3AD203B41FA5}">
                      <a16:colId xmlns:a16="http://schemas.microsoft.com/office/drawing/2014/main" val="1919235648"/>
                    </a:ext>
                  </a:extLst>
                </a:gridCol>
              </a:tblGrid>
              <a:tr h="398086">
                <a:tc>
                  <a:txBody>
                    <a:bodyPr/>
                    <a:lstStyle/>
                    <a:p>
                      <a:pPr algn="ctr" fontAlgn="b"/>
                      <a:r>
                        <a:rPr lang="es-GT" sz="1800" b="1" u="none" strike="noStrike" dirty="0">
                          <a:effectLst/>
                        </a:rPr>
                        <a:t>Artículo</a:t>
                      </a:r>
                      <a:endParaRPr lang="es-GT"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s-GT" sz="1800" b="1" u="none" strike="noStrike">
                          <a:effectLst/>
                        </a:rPr>
                        <a:t>Venta total anual</a:t>
                      </a:r>
                      <a:endParaRPr lang="es-GT" sz="18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GT" sz="1800" b="1" u="none" strike="noStrike">
                          <a:effectLst/>
                        </a:rPr>
                        <a:t>%</a:t>
                      </a:r>
                      <a:endParaRPr lang="es-GT" sz="18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23116232"/>
                  </a:ext>
                </a:extLst>
              </a:tr>
              <a:tr h="720536">
                <a:tc>
                  <a:txBody>
                    <a:bodyPr/>
                    <a:lstStyle/>
                    <a:p>
                      <a:pPr algn="ctr" fontAlgn="b"/>
                      <a:r>
                        <a:rPr lang="es-GT" sz="1800" b="1" u="none" strike="noStrike">
                          <a:effectLst/>
                        </a:rPr>
                        <a:t>Paquete Libros Matemáticas</a:t>
                      </a:r>
                      <a:endParaRPr lang="es-GT" sz="18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GT" sz="1800" b="1" u="none" strike="noStrike" dirty="0">
                          <a:effectLst/>
                        </a:rPr>
                        <a:t> Q              350,100.00 </a:t>
                      </a:r>
                      <a:endParaRPr lang="es-GT"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s-GT" sz="1800" b="1" u="none" strike="noStrike">
                          <a:effectLst/>
                        </a:rPr>
                        <a:t>37.82820097</a:t>
                      </a:r>
                      <a:endParaRPr lang="es-GT" sz="18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00796893"/>
                  </a:ext>
                </a:extLst>
              </a:tr>
              <a:tr h="720536">
                <a:tc>
                  <a:txBody>
                    <a:bodyPr/>
                    <a:lstStyle/>
                    <a:p>
                      <a:pPr algn="ctr" fontAlgn="b"/>
                      <a:r>
                        <a:rPr lang="es-GT" sz="1800" b="1" u="none" strike="noStrike">
                          <a:effectLst/>
                        </a:rPr>
                        <a:t>Paquete Libros Idioma Español</a:t>
                      </a:r>
                      <a:endParaRPr lang="es-GT" sz="18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GT" sz="1800" b="1" u="none" strike="noStrike">
                          <a:effectLst/>
                        </a:rPr>
                        <a:t> Q              275,100.00 </a:t>
                      </a:r>
                      <a:endParaRPr lang="es-GT" sz="18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GT" sz="1800" b="1" u="none" strike="noStrike" dirty="0">
                          <a:effectLst/>
                        </a:rPr>
                        <a:t>29.72447326</a:t>
                      </a:r>
                      <a:endParaRPr lang="es-GT" sz="18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940964406"/>
                  </a:ext>
                </a:extLst>
              </a:tr>
              <a:tr h="720536">
                <a:tc>
                  <a:txBody>
                    <a:bodyPr/>
                    <a:lstStyle/>
                    <a:p>
                      <a:pPr algn="ctr" fontAlgn="b"/>
                      <a:r>
                        <a:rPr lang="es-GT" sz="1800" b="1" u="none" strike="noStrike">
                          <a:effectLst/>
                        </a:rPr>
                        <a:t>Paquete Libros Medio Natural</a:t>
                      </a:r>
                      <a:endParaRPr lang="es-GT" sz="18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GT" sz="1800" b="1" u="none" strike="noStrike" dirty="0">
                          <a:effectLst/>
                        </a:rPr>
                        <a:t> Q              300,300.00 </a:t>
                      </a:r>
                      <a:endParaRPr lang="es-GT"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s-GT" sz="1800" b="1" u="none" strike="noStrike" dirty="0">
                          <a:effectLst/>
                        </a:rPr>
                        <a:t>32.44732577</a:t>
                      </a:r>
                      <a:endParaRPr lang="es-GT" sz="18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417692386"/>
                  </a:ext>
                </a:extLst>
              </a:tr>
              <a:tr h="720536">
                <a:tc>
                  <a:txBody>
                    <a:bodyPr/>
                    <a:lstStyle/>
                    <a:p>
                      <a:pPr algn="ctr" fontAlgn="b"/>
                      <a:r>
                        <a:rPr lang="es-GT" sz="1800" b="1" u="none" strike="noStrike">
                          <a:effectLst/>
                        </a:rPr>
                        <a:t>Total</a:t>
                      </a:r>
                      <a:endParaRPr lang="es-GT" sz="18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GT" sz="1800" b="1" u="none" strike="noStrike">
                          <a:effectLst/>
                        </a:rPr>
                        <a:t> Q              925,500.00 </a:t>
                      </a:r>
                      <a:endParaRPr lang="es-GT" sz="18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GT" sz="1800" b="1" u="none" strike="noStrike" dirty="0">
                          <a:effectLst/>
                        </a:rPr>
                        <a:t>100.0000000000</a:t>
                      </a:r>
                      <a:endParaRPr lang="es-GT" sz="18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6020033"/>
                  </a:ext>
                </a:extLst>
              </a:tr>
            </a:tbl>
          </a:graphicData>
        </a:graphic>
      </p:graphicFrame>
    </p:spTree>
    <p:extLst>
      <p:ext uri="{BB962C8B-B14F-4D97-AF65-F5344CB8AC3E}">
        <p14:creationId xmlns:p14="http://schemas.microsoft.com/office/powerpoint/2010/main" val="42489335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BE83E1-D41A-EA21-34BC-44A44394F09A}"/>
              </a:ext>
            </a:extLst>
          </p:cNvPr>
          <p:cNvSpPr>
            <a:spLocks noGrp="1"/>
          </p:cNvSpPr>
          <p:nvPr>
            <p:ph type="title"/>
          </p:nvPr>
        </p:nvSpPr>
        <p:spPr/>
        <p:txBody>
          <a:bodyPr>
            <a:normAutofit/>
          </a:bodyPr>
          <a:lstStyle/>
          <a:p>
            <a:r>
              <a:rPr lang="es-ES" dirty="0"/>
              <a:t>Paso 2: Determinar el Margen de contribución por cada artículo</a:t>
            </a:r>
            <a:endParaRPr lang="es-GT" dirty="0"/>
          </a:p>
        </p:txBody>
      </p:sp>
      <p:graphicFrame>
        <p:nvGraphicFramePr>
          <p:cNvPr id="4" name="Marcador de contenido 3">
            <a:extLst>
              <a:ext uri="{FF2B5EF4-FFF2-40B4-BE49-F238E27FC236}">
                <a16:creationId xmlns:a16="http://schemas.microsoft.com/office/drawing/2014/main" id="{7AB3D00C-D15F-1BB6-F1E4-3CFF0ED7EEA5}"/>
              </a:ext>
            </a:extLst>
          </p:cNvPr>
          <p:cNvGraphicFramePr>
            <a:graphicFrameLocks noGrp="1"/>
          </p:cNvGraphicFramePr>
          <p:nvPr>
            <p:ph idx="1"/>
            <p:extLst>
              <p:ext uri="{D42A27DB-BD31-4B8C-83A1-F6EECF244321}">
                <p14:modId xmlns:p14="http://schemas.microsoft.com/office/powerpoint/2010/main" val="1094747573"/>
              </p:ext>
            </p:extLst>
          </p:nvPr>
        </p:nvGraphicFramePr>
        <p:xfrm>
          <a:off x="1031915" y="2406400"/>
          <a:ext cx="10289226" cy="3384800"/>
        </p:xfrm>
        <a:graphic>
          <a:graphicData uri="http://schemas.openxmlformats.org/drawingml/2006/table">
            <a:tbl>
              <a:tblPr firstRow="1" bandRow="1">
                <a:tableStyleId>{5C22544A-7EE6-4342-B048-85BDC9FD1C3A}</a:tableStyleId>
              </a:tblPr>
              <a:tblGrid>
                <a:gridCol w="3476464">
                  <a:extLst>
                    <a:ext uri="{9D8B030D-6E8A-4147-A177-3AD203B41FA5}">
                      <a16:colId xmlns:a16="http://schemas.microsoft.com/office/drawing/2014/main" val="98941153"/>
                    </a:ext>
                  </a:extLst>
                </a:gridCol>
                <a:gridCol w="2167147">
                  <a:extLst>
                    <a:ext uri="{9D8B030D-6E8A-4147-A177-3AD203B41FA5}">
                      <a16:colId xmlns:a16="http://schemas.microsoft.com/office/drawing/2014/main" val="789621581"/>
                    </a:ext>
                  </a:extLst>
                </a:gridCol>
                <a:gridCol w="1979765">
                  <a:extLst>
                    <a:ext uri="{9D8B030D-6E8A-4147-A177-3AD203B41FA5}">
                      <a16:colId xmlns:a16="http://schemas.microsoft.com/office/drawing/2014/main" val="1040093291"/>
                    </a:ext>
                  </a:extLst>
                </a:gridCol>
                <a:gridCol w="2665850">
                  <a:extLst>
                    <a:ext uri="{9D8B030D-6E8A-4147-A177-3AD203B41FA5}">
                      <a16:colId xmlns:a16="http://schemas.microsoft.com/office/drawing/2014/main" val="2910702312"/>
                    </a:ext>
                  </a:extLst>
                </a:gridCol>
              </a:tblGrid>
              <a:tr h="895776">
                <a:tc>
                  <a:txBody>
                    <a:bodyPr/>
                    <a:lstStyle/>
                    <a:p>
                      <a:pPr algn="ctr" fontAlgn="b"/>
                      <a:r>
                        <a:rPr lang="es-GT" sz="1800" u="none" strike="noStrike">
                          <a:effectLst/>
                        </a:rPr>
                        <a:t>Artículo</a:t>
                      </a:r>
                      <a:endParaRPr lang="es-GT" sz="1800" b="1" i="0" u="none" strike="noStrike">
                        <a:solidFill>
                          <a:srgbClr val="000000"/>
                        </a:solidFill>
                        <a:effectLst/>
                        <a:latin typeface="Calibri" panose="020F0502020204030204" pitchFamily="34" charset="0"/>
                      </a:endParaRPr>
                    </a:p>
                  </a:txBody>
                  <a:tcPr marL="15541" marR="15541" marT="15541" marB="0" anchor="b"/>
                </a:tc>
                <a:tc>
                  <a:txBody>
                    <a:bodyPr/>
                    <a:lstStyle/>
                    <a:p>
                      <a:pPr algn="ctr" fontAlgn="b"/>
                      <a:r>
                        <a:rPr lang="es-GT" sz="1800" u="none" strike="noStrike">
                          <a:effectLst/>
                        </a:rPr>
                        <a:t>Precio Unitario</a:t>
                      </a:r>
                      <a:endParaRPr lang="es-GT" sz="1800" b="1" i="0" u="none" strike="noStrike">
                        <a:solidFill>
                          <a:srgbClr val="000000"/>
                        </a:solidFill>
                        <a:effectLst/>
                        <a:latin typeface="Calibri" panose="020F0502020204030204" pitchFamily="34" charset="0"/>
                      </a:endParaRPr>
                    </a:p>
                  </a:txBody>
                  <a:tcPr marL="15541" marR="15541" marT="15541" marB="0" anchor="b"/>
                </a:tc>
                <a:tc>
                  <a:txBody>
                    <a:bodyPr/>
                    <a:lstStyle/>
                    <a:p>
                      <a:pPr algn="ctr" fontAlgn="b"/>
                      <a:r>
                        <a:rPr lang="es-GT" sz="1800" u="none" strike="noStrike">
                          <a:effectLst/>
                        </a:rPr>
                        <a:t>Costo Variable Unitario</a:t>
                      </a:r>
                      <a:endParaRPr lang="es-GT" sz="1800" b="1" i="0" u="none" strike="noStrike">
                        <a:solidFill>
                          <a:srgbClr val="000000"/>
                        </a:solidFill>
                        <a:effectLst/>
                        <a:latin typeface="Calibri" panose="020F0502020204030204" pitchFamily="34" charset="0"/>
                      </a:endParaRPr>
                    </a:p>
                  </a:txBody>
                  <a:tcPr marL="15541" marR="15541" marT="15541" marB="0" anchor="b"/>
                </a:tc>
                <a:tc>
                  <a:txBody>
                    <a:bodyPr/>
                    <a:lstStyle/>
                    <a:p>
                      <a:pPr algn="ctr" fontAlgn="b"/>
                      <a:r>
                        <a:rPr lang="es-ES" sz="1800" u="none" strike="noStrike">
                          <a:effectLst/>
                        </a:rPr>
                        <a:t>Margen de Contribución por Unidad</a:t>
                      </a:r>
                      <a:endParaRPr lang="es-ES" sz="1800" b="1" i="0" u="none" strike="noStrike">
                        <a:solidFill>
                          <a:srgbClr val="000000"/>
                        </a:solidFill>
                        <a:effectLst/>
                        <a:latin typeface="Calibri" panose="020F0502020204030204" pitchFamily="34" charset="0"/>
                      </a:endParaRPr>
                    </a:p>
                  </a:txBody>
                  <a:tcPr marL="15541" marR="15541" marT="15541" marB="0" anchor="b"/>
                </a:tc>
                <a:extLst>
                  <a:ext uri="{0D108BD9-81ED-4DB2-BD59-A6C34878D82A}">
                    <a16:rowId xmlns:a16="http://schemas.microsoft.com/office/drawing/2014/main" val="1128893320"/>
                  </a:ext>
                </a:extLst>
              </a:tr>
              <a:tr h="622256">
                <a:tc>
                  <a:txBody>
                    <a:bodyPr/>
                    <a:lstStyle/>
                    <a:p>
                      <a:pPr algn="ctr" fontAlgn="b"/>
                      <a:r>
                        <a:rPr lang="es-GT" sz="1800" b="1" u="none" strike="noStrike" dirty="0">
                          <a:effectLst/>
                        </a:rPr>
                        <a:t>Paquete Libros Matemáticas</a:t>
                      </a:r>
                      <a:endParaRPr lang="es-GT" sz="1800" b="1" i="0" u="none" strike="noStrike" dirty="0">
                        <a:solidFill>
                          <a:srgbClr val="000000"/>
                        </a:solidFill>
                        <a:effectLst/>
                        <a:latin typeface="Calibri" panose="020F0502020204030204" pitchFamily="34" charset="0"/>
                      </a:endParaRPr>
                    </a:p>
                  </a:txBody>
                  <a:tcPr marL="15541" marR="15541" marT="15541" marB="0" anchor="b"/>
                </a:tc>
                <a:tc>
                  <a:txBody>
                    <a:bodyPr/>
                    <a:lstStyle/>
                    <a:p>
                      <a:pPr algn="l" fontAlgn="b"/>
                      <a:r>
                        <a:rPr lang="es-GT" sz="1800" b="1" u="none" strike="noStrike">
                          <a:effectLst/>
                        </a:rPr>
                        <a:t> Q                      450.00 </a:t>
                      </a:r>
                      <a:endParaRPr lang="es-GT" sz="1800" b="1" i="0" u="none" strike="noStrike">
                        <a:solidFill>
                          <a:srgbClr val="000000"/>
                        </a:solidFill>
                        <a:effectLst/>
                        <a:latin typeface="Calibri" panose="020F0502020204030204" pitchFamily="34" charset="0"/>
                      </a:endParaRPr>
                    </a:p>
                  </a:txBody>
                  <a:tcPr marL="15541" marR="15541" marT="15541" marB="0" anchor="b"/>
                </a:tc>
                <a:tc>
                  <a:txBody>
                    <a:bodyPr/>
                    <a:lstStyle/>
                    <a:p>
                      <a:pPr algn="l" fontAlgn="b"/>
                      <a:r>
                        <a:rPr lang="es-GT" sz="1800" b="1" u="none" strike="noStrike">
                          <a:effectLst/>
                        </a:rPr>
                        <a:t> Q              325.00 </a:t>
                      </a:r>
                      <a:endParaRPr lang="es-GT" sz="1800" b="1" i="0" u="none" strike="noStrike">
                        <a:solidFill>
                          <a:srgbClr val="000000"/>
                        </a:solidFill>
                        <a:effectLst/>
                        <a:latin typeface="Calibri" panose="020F0502020204030204" pitchFamily="34" charset="0"/>
                      </a:endParaRPr>
                    </a:p>
                  </a:txBody>
                  <a:tcPr marL="15541" marR="15541" marT="15541" marB="0" anchor="b"/>
                </a:tc>
                <a:tc>
                  <a:txBody>
                    <a:bodyPr/>
                    <a:lstStyle/>
                    <a:p>
                      <a:pPr algn="l" fontAlgn="b"/>
                      <a:r>
                        <a:rPr lang="es-GT" sz="1800" b="1" u="none" strike="noStrike">
                          <a:effectLst/>
                        </a:rPr>
                        <a:t> Q                               125.00 </a:t>
                      </a:r>
                      <a:endParaRPr lang="es-GT" sz="1800" b="1" i="0" u="none" strike="noStrike">
                        <a:solidFill>
                          <a:srgbClr val="000000"/>
                        </a:solidFill>
                        <a:effectLst/>
                        <a:latin typeface="Calibri" panose="020F0502020204030204" pitchFamily="34" charset="0"/>
                      </a:endParaRPr>
                    </a:p>
                  </a:txBody>
                  <a:tcPr marL="15541" marR="15541" marT="15541" marB="0" anchor="b"/>
                </a:tc>
                <a:extLst>
                  <a:ext uri="{0D108BD9-81ED-4DB2-BD59-A6C34878D82A}">
                    <a16:rowId xmlns:a16="http://schemas.microsoft.com/office/drawing/2014/main" val="3474707165"/>
                  </a:ext>
                </a:extLst>
              </a:tr>
              <a:tr h="622256">
                <a:tc>
                  <a:txBody>
                    <a:bodyPr/>
                    <a:lstStyle/>
                    <a:p>
                      <a:pPr algn="ctr" fontAlgn="b"/>
                      <a:r>
                        <a:rPr lang="es-GT" sz="1800" b="1" u="none" strike="noStrike" dirty="0">
                          <a:effectLst/>
                        </a:rPr>
                        <a:t>Paquete Libros Idioma Español</a:t>
                      </a:r>
                      <a:endParaRPr lang="es-GT" sz="1800" b="1" i="0" u="none" strike="noStrike" dirty="0">
                        <a:solidFill>
                          <a:srgbClr val="000000"/>
                        </a:solidFill>
                        <a:effectLst/>
                        <a:latin typeface="Calibri" panose="020F0502020204030204" pitchFamily="34" charset="0"/>
                      </a:endParaRPr>
                    </a:p>
                  </a:txBody>
                  <a:tcPr marL="15541" marR="15541" marT="15541" marB="0" anchor="b"/>
                </a:tc>
                <a:tc>
                  <a:txBody>
                    <a:bodyPr/>
                    <a:lstStyle/>
                    <a:p>
                      <a:pPr algn="l" fontAlgn="b"/>
                      <a:r>
                        <a:rPr lang="es-GT" sz="1800" b="1" u="none" strike="noStrike" dirty="0">
                          <a:effectLst/>
                        </a:rPr>
                        <a:t> Q                      300.00 </a:t>
                      </a:r>
                      <a:endParaRPr lang="es-GT" sz="1800" b="1" i="0" u="none" strike="noStrike" dirty="0">
                        <a:solidFill>
                          <a:srgbClr val="000000"/>
                        </a:solidFill>
                        <a:effectLst/>
                        <a:latin typeface="Calibri" panose="020F0502020204030204" pitchFamily="34" charset="0"/>
                      </a:endParaRPr>
                    </a:p>
                  </a:txBody>
                  <a:tcPr marL="15541" marR="15541" marT="15541" marB="0" anchor="b"/>
                </a:tc>
                <a:tc>
                  <a:txBody>
                    <a:bodyPr/>
                    <a:lstStyle/>
                    <a:p>
                      <a:pPr algn="l" fontAlgn="b"/>
                      <a:r>
                        <a:rPr lang="es-GT" sz="1800" b="1" u="none" strike="noStrike" dirty="0">
                          <a:effectLst/>
                        </a:rPr>
                        <a:t> Q              210.00 </a:t>
                      </a:r>
                      <a:endParaRPr lang="es-GT" sz="1800" b="1" i="0" u="none" strike="noStrike" dirty="0">
                        <a:solidFill>
                          <a:srgbClr val="000000"/>
                        </a:solidFill>
                        <a:effectLst/>
                        <a:latin typeface="Calibri" panose="020F0502020204030204" pitchFamily="34" charset="0"/>
                      </a:endParaRPr>
                    </a:p>
                  </a:txBody>
                  <a:tcPr marL="15541" marR="15541" marT="15541" marB="0" anchor="b"/>
                </a:tc>
                <a:tc>
                  <a:txBody>
                    <a:bodyPr/>
                    <a:lstStyle/>
                    <a:p>
                      <a:pPr algn="l" fontAlgn="b"/>
                      <a:r>
                        <a:rPr lang="es-GT" sz="1800" b="1" u="none" strike="noStrike">
                          <a:effectLst/>
                        </a:rPr>
                        <a:t> Q                                  90.00 </a:t>
                      </a:r>
                      <a:endParaRPr lang="es-GT" sz="1800" b="1" i="0" u="none" strike="noStrike">
                        <a:solidFill>
                          <a:srgbClr val="000000"/>
                        </a:solidFill>
                        <a:effectLst/>
                        <a:latin typeface="Calibri" panose="020F0502020204030204" pitchFamily="34" charset="0"/>
                      </a:endParaRPr>
                    </a:p>
                  </a:txBody>
                  <a:tcPr marL="15541" marR="15541" marT="15541" marB="0" anchor="b"/>
                </a:tc>
                <a:extLst>
                  <a:ext uri="{0D108BD9-81ED-4DB2-BD59-A6C34878D82A}">
                    <a16:rowId xmlns:a16="http://schemas.microsoft.com/office/drawing/2014/main" val="1883177581"/>
                  </a:ext>
                </a:extLst>
              </a:tr>
              <a:tr h="622256">
                <a:tc>
                  <a:txBody>
                    <a:bodyPr/>
                    <a:lstStyle/>
                    <a:p>
                      <a:pPr algn="ctr" fontAlgn="b"/>
                      <a:r>
                        <a:rPr lang="es-GT" sz="1800" b="1" u="none" strike="noStrike">
                          <a:effectLst/>
                        </a:rPr>
                        <a:t>Paquete Libros Medio Natural</a:t>
                      </a:r>
                      <a:endParaRPr lang="es-GT" sz="1800" b="1" i="0" u="none" strike="noStrike">
                        <a:solidFill>
                          <a:srgbClr val="000000"/>
                        </a:solidFill>
                        <a:effectLst/>
                        <a:latin typeface="Calibri" panose="020F0502020204030204" pitchFamily="34" charset="0"/>
                      </a:endParaRPr>
                    </a:p>
                  </a:txBody>
                  <a:tcPr marL="15541" marR="15541" marT="15541" marB="0" anchor="b"/>
                </a:tc>
                <a:tc>
                  <a:txBody>
                    <a:bodyPr/>
                    <a:lstStyle/>
                    <a:p>
                      <a:pPr algn="l" fontAlgn="b"/>
                      <a:r>
                        <a:rPr lang="es-GT" sz="1800" b="1" u="none" strike="noStrike">
                          <a:effectLst/>
                        </a:rPr>
                        <a:t> Q                      325.00 </a:t>
                      </a:r>
                      <a:endParaRPr lang="es-GT" sz="1800" b="1" i="0" u="none" strike="noStrike">
                        <a:solidFill>
                          <a:srgbClr val="000000"/>
                        </a:solidFill>
                        <a:effectLst/>
                        <a:latin typeface="Calibri" panose="020F0502020204030204" pitchFamily="34" charset="0"/>
                      </a:endParaRPr>
                    </a:p>
                  </a:txBody>
                  <a:tcPr marL="15541" marR="15541" marT="15541" marB="0" anchor="b"/>
                </a:tc>
                <a:tc>
                  <a:txBody>
                    <a:bodyPr/>
                    <a:lstStyle/>
                    <a:p>
                      <a:pPr algn="l" fontAlgn="b"/>
                      <a:r>
                        <a:rPr lang="es-GT" sz="1800" b="1" u="none" strike="noStrike" dirty="0">
                          <a:effectLst/>
                        </a:rPr>
                        <a:t> Q              225.00 </a:t>
                      </a:r>
                      <a:endParaRPr lang="es-GT" sz="1800" b="1" i="0" u="none" strike="noStrike" dirty="0">
                        <a:solidFill>
                          <a:srgbClr val="000000"/>
                        </a:solidFill>
                        <a:effectLst/>
                        <a:latin typeface="Calibri" panose="020F0502020204030204" pitchFamily="34" charset="0"/>
                      </a:endParaRPr>
                    </a:p>
                  </a:txBody>
                  <a:tcPr marL="15541" marR="15541" marT="15541" marB="0" anchor="b"/>
                </a:tc>
                <a:tc>
                  <a:txBody>
                    <a:bodyPr/>
                    <a:lstStyle/>
                    <a:p>
                      <a:pPr algn="l" fontAlgn="b"/>
                      <a:r>
                        <a:rPr lang="es-GT" sz="1800" b="1" u="none" strike="noStrike" dirty="0">
                          <a:effectLst/>
                        </a:rPr>
                        <a:t> Q                               100.00 </a:t>
                      </a:r>
                      <a:endParaRPr lang="es-GT" sz="1800" b="1" i="0" u="none" strike="noStrike" dirty="0">
                        <a:solidFill>
                          <a:srgbClr val="000000"/>
                        </a:solidFill>
                        <a:effectLst/>
                        <a:latin typeface="Calibri" panose="020F0502020204030204" pitchFamily="34" charset="0"/>
                      </a:endParaRPr>
                    </a:p>
                  </a:txBody>
                  <a:tcPr marL="15541" marR="15541" marT="15541" marB="0" anchor="b"/>
                </a:tc>
                <a:extLst>
                  <a:ext uri="{0D108BD9-81ED-4DB2-BD59-A6C34878D82A}">
                    <a16:rowId xmlns:a16="http://schemas.microsoft.com/office/drawing/2014/main" val="2814011857"/>
                  </a:ext>
                </a:extLst>
              </a:tr>
              <a:tr h="622256">
                <a:tc>
                  <a:txBody>
                    <a:bodyPr/>
                    <a:lstStyle/>
                    <a:p>
                      <a:pPr algn="ctr" fontAlgn="b"/>
                      <a:r>
                        <a:rPr lang="es-GT" sz="1800" b="1" u="none" strike="noStrike">
                          <a:effectLst/>
                        </a:rPr>
                        <a:t>Total</a:t>
                      </a:r>
                      <a:endParaRPr lang="es-GT" sz="1800" b="1" i="0" u="none" strike="noStrike">
                        <a:solidFill>
                          <a:srgbClr val="000000"/>
                        </a:solidFill>
                        <a:effectLst/>
                        <a:latin typeface="Calibri" panose="020F0502020204030204" pitchFamily="34" charset="0"/>
                      </a:endParaRPr>
                    </a:p>
                  </a:txBody>
                  <a:tcPr marL="15541" marR="15541" marT="15541" marB="0" anchor="b"/>
                </a:tc>
                <a:tc>
                  <a:txBody>
                    <a:bodyPr/>
                    <a:lstStyle/>
                    <a:p>
                      <a:pPr algn="l" fontAlgn="b"/>
                      <a:endParaRPr lang="es-GT" sz="1800" b="1" i="0" u="none" strike="noStrike">
                        <a:solidFill>
                          <a:srgbClr val="000000"/>
                        </a:solidFill>
                        <a:effectLst/>
                        <a:latin typeface="Calibri" panose="020F0502020204030204" pitchFamily="34" charset="0"/>
                      </a:endParaRPr>
                    </a:p>
                  </a:txBody>
                  <a:tcPr marL="15541" marR="15541" marT="15541" marB="0" anchor="b"/>
                </a:tc>
                <a:tc>
                  <a:txBody>
                    <a:bodyPr/>
                    <a:lstStyle/>
                    <a:p>
                      <a:pPr algn="l" fontAlgn="b"/>
                      <a:endParaRPr lang="es-GT" sz="1800" b="1" i="0" u="none" strike="noStrike">
                        <a:solidFill>
                          <a:srgbClr val="000000"/>
                        </a:solidFill>
                        <a:effectLst/>
                        <a:latin typeface="Calibri" panose="020F0502020204030204" pitchFamily="34" charset="0"/>
                      </a:endParaRPr>
                    </a:p>
                  </a:txBody>
                  <a:tcPr marL="15541" marR="15541" marT="15541" marB="0" anchor="b"/>
                </a:tc>
                <a:tc>
                  <a:txBody>
                    <a:bodyPr/>
                    <a:lstStyle/>
                    <a:p>
                      <a:pPr algn="l" fontAlgn="b"/>
                      <a:r>
                        <a:rPr lang="es-GT" sz="1800" b="1" u="none" strike="noStrike" dirty="0">
                          <a:effectLst/>
                        </a:rPr>
                        <a:t> Q                               315.00 </a:t>
                      </a:r>
                      <a:endParaRPr lang="es-GT" sz="1800" b="1" i="0" u="none" strike="noStrike" dirty="0">
                        <a:solidFill>
                          <a:srgbClr val="000000"/>
                        </a:solidFill>
                        <a:effectLst/>
                        <a:latin typeface="Calibri" panose="020F0502020204030204" pitchFamily="34" charset="0"/>
                      </a:endParaRPr>
                    </a:p>
                  </a:txBody>
                  <a:tcPr marL="15541" marR="15541" marT="15541" marB="0" anchor="b"/>
                </a:tc>
                <a:extLst>
                  <a:ext uri="{0D108BD9-81ED-4DB2-BD59-A6C34878D82A}">
                    <a16:rowId xmlns:a16="http://schemas.microsoft.com/office/drawing/2014/main" val="548958704"/>
                  </a:ext>
                </a:extLst>
              </a:tr>
            </a:tbl>
          </a:graphicData>
        </a:graphic>
      </p:graphicFrame>
    </p:spTree>
    <p:extLst>
      <p:ext uri="{BB962C8B-B14F-4D97-AF65-F5344CB8AC3E}">
        <p14:creationId xmlns:p14="http://schemas.microsoft.com/office/powerpoint/2010/main" val="16741408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0F80BA6A-9E4C-4A53-9C2E-FFC66DF852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331A6988-4CC3-42CD-9431-EDE8BA82AF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
            <a:ext cx="4125976" cy="6858002"/>
          </a:xfrm>
          <a:custGeom>
            <a:avLst/>
            <a:gdLst>
              <a:gd name="connsiteX0" fmla="*/ 4125976 w 4125976"/>
              <a:gd name="connsiteY0" fmla="*/ 0 h 6858002"/>
              <a:gd name="connsiteX1" fmla="*/ 1300393 w 4125976"/>
              <a:gd name="connsiteY1" fmla="*/ 0 h 6858002"/>
              <a:gd name="connsiteX2" fmla="*/ 1300393 w 4125976"/>
              <a:gd name="connsiteY2" fmla="*/ 2 h 6858002"/>
              <a:gd name="connsiteX3" fmla="*/ 1155520 w 4125976"/>
              <a:gd name="connsiteY3" fmla="*/ 2 h 6858002"/>
              <a:gd name="connsiteX4" fmla="*/ 1074856 w 4125976"/>
              <a:gd name="connsiteY4" fmla="*/ 88573 h 6858002"/>
              <a:gd name="connsiteX5" fmla="*/ 0 w 4125976"/>
              <a:gd name="connsiteY5" fmla="*/ 3396600 h 6858002"/>
              <a:gd name="connsiteX6" fmla="*/ 1222540 w 4125976"/>
              <a:gd name="connsiteY6" fmla="*/ 6858002 h 6858002"/>
              <a:gd name="connsiteX7" fmla="*/ 4125598 w 4125976"/>
              <a:gd name="connsiteY7" fmla="*/ 6858002 h 6858002"/>
              <a:gd name="connsiteX8" fmla="*/ 4125976 w 4125976"/>
              <a:gd name="connsiteY8" fmla="*/ 6857600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25976" h="6858002">
                <a:moveTo>
                  <a:pt x="4125976" y="0"/>
                </a:moveTo>
                <a:lnTo>
                  <a:pt x="1300393" y="0"/>
                </a:lnTo>
                <a:lnTo>
                  <a:pt x="1300393" y="2"/>
                </a:lnTo>
                <a:lnTo>
                  <a:pt x="1155520" y="2"/>
                </a:lnTo>
                <a:lnTo>
                  <a:pt x="1074856" y="88573"/>
                </a:lnTo>
                <a:cubicBezTo>
                  <a:pt x="422987" y="841260"/>
                  <a:pt x="0" y="2042663"/>
                  <a:pt x="0" y="3396600"/>
                </a:cubicBezTo>
                <a:cubicBezTo>
                  <a:pt x="0" y="4846647"/>
                  <a:pt x="488259" y="6121285"/>
                  <a:pt x="1222540" y="6858002"/>
                </a:cubicBezTo>
                <a:cubicBezTo>
                  <a:pt x="4125598" y="6858002"/>
                  <a:pt x="4125598" y="6858002"/>
                  <a:pt x="4125598" y="6858002"/>
                </a:cubicBezTo>
                <a:lnTo>
                  <a:pt x="4125976" y="6857600"/>
                </a:lnTo>
                <a:close/>
              </a:path>
            </a:pathLst>
          </a:custGeom>
          <a:blipFill dpi="0" rotWithShape="1">
            <a:blip r:embed="rId2"/>
            <a:srcRect/>
            <a:tile tx="0" ty="0" sx="100000" sy="100000" flip="none" algn="tl"/>
          </a:blipFill>
          <a:ln>
            <a:noFill/>
          </a:ln>
        </p:spPr>
        <p:style>
          <a:lnRef idx="2">
            <a:schemeClr val="accent1">
              <a:shade val="50000"/>
            </a:schemeClr>
          </a:lnRef>
          <a:fillRef idx="1003">
            <a:schemeClr val="l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4D0617B4-A644-DEBA-A921-0C2BBC26C5AE}"/>
              </a:ext>
            </a:extLst>
          </p:cNvPr>
          <p:cNvSpPr>
            <a:spLocks noGrp="1"/>
          </p:cNvSpPr>
          <p:nvPr>
            <p:ph type="title"/>
          </p:nvPr>
        </p:nvSpPr>
        <p:spPr>
          <a:xfrm>
            <a:off x="685801" y="643466"/>
            <a:ext cx="2590799" cy="4995333"/>
          </a:xfrm>
        </p:spPr>
        <p:txBody>
          <a:bodyPr>
            <a:normAutofit/>
          </a:bodyPr>
          <a:lstStyle/>
          <a:p>
            <a:r>
              <a:rPr lang="es-ES" sz="2800">
                <a:solidFill>
                  <a:srgbClr val="FFFFFF"/>
                </a:solidFill>
              </a:rPr>
              <a:t>Paso 3: Ponderar la participación del margen de contribución </a:t>
            </a:r>
            <a:endParaRPr lang="es-GT" sz="2800">
              <a:solidFill>
                <a:srgbClr val="FFFFFF"/>
              </a:solidFill>
            </a:endParaRPr>
          </a:p>
        </p:txBody>
      </p:sp>
      <p:graphicFrame>
        <p:nvGraphicFramePr>
          <p:cNvPr id="8" name="Marcador de contenido 7">
            <a:extLst>
              <a:ext uri="{FF2B5EF4-FFF2-40B4-BE49-F238E27FC236}">
                <a16:creationId xmlns:a16="http://schemas.microsoft.com/office/drawing/2014/main" id="{CE80C12C-A58A-7BB3-A905-B39BBC2C3838}"/>
              </a:ext>
            </a:extLst>
          </p:cNvPr>
          <p:cNvGraphicFramePr>
            <a:graphicFrameLocks noGrp="1"/>
          </p:cNvGraphicFramePr>
          <p:nvPr>
            <p:ph idx="1"/>
            <p:extLst>
              <p:ext uri="{D42A27DB-BD31-4B8C-83A1-F6EECF244321}">
                <p14:modId xmlns:p14="http://schemas.microsoft.com/office/powerpoint/2010/main" val="3791191566"/>
              </p:ext>
            </p:extLst>
          </p:nvPr>
        </p:nvGraphicFramePr>
        <p:xfrm>
          <a:off x="4281715" y="1407886"/>
          <a:ext cx="7474856" cy="3802744"/>
        </p:xfrm>
        <a:graphic>
          <a:graphicData uri="http://schemas.openxmlformats.org/drawingml/2006/table">
            <a:tbl>
              <a:tblPr firstRow="1" bandRow="1">
                <a:tableStyleId>{5C22544A-7EE6-4342-B048-85BDC9FD1C3A}</a:tableStyleId>
              </a:tblPr>
              <a:tblGrid>
                <a:gridCol w="2560879">
                  <a:extLst>
                    <a:ext uri="{9D8B030D-6E8A-4147-A177-3AD203B41FA5}">
                      <a16:colId xmlns:a16="http://schemas.microsoft.com/office/drawing/2014/main" val="2402234049"/>
                    </a:ext>
                  </a:extLst>
                </a:gridCol>
                <a:gridCol w="1908503">
                  <a:extLst>
                    <a:ext uri="{9D8B030D-6E8A-4147-A177-3AD203B41FA5}">
                      <a16:colId xmlns:a16="http://schemas.microsoft.com/office/drawing/2014/main" val="2123008048"/>
                    </a:ext>
                  </a:extLst>
                </a:gridCol>
                <a:gridCol w="1452016">
                  <a:extLst>
                    <a:ext uri="{9D8B030D-6E8A-4147-A177-3AD203B41FA5}">
                      <a16:colId xmlns:a16="http://schemas.microsoft.com/office/drawing/2014/main" val="3877869794"/>
                    </a:ext>
                  </a:extLst>
                </a:gridCol>
                <a:gridCol w="1553458">
                  <a:extLst>
                    <a:ext uri="{9D8B030D-6E8A-4147-A177-3AD203B41FA5}">
                      <a16:colId xmlns:a16="http://schemas.microsoft.com/office/drawing/2014/main" val="705147375"/>
                    </a:ext>
                  </a:extLst>
                </a:gridCol>
              </a:tblGrid>
              <a:tr h="1230556">
                <a:tc>
                  <a:txBody>
                    <a:bodyPr/>
                    <a:lstStyle/>
                    <a:p>
                      <a:pPr algn="ctr" fontAlgn="b"/>
                      <a:r>
                        <a:rPr lang="es-GT" sz="1500" b="1" u="none" strike="noStrike">
                          <a:effectLst/>
                        </a:rPr>
                        <a:t>Artículo</a:t>
                      </a:r>
                      <a:endParaRPr lang="es-GT" sz="1500" b="1" i="0" u="none" strike="noStrike">
                        <a:solidFill>
                          <a:srgbClr val="000000"/>
                        </a:solidFill>
                        <a:effectLst/>
                        <a:latin typeface="Calibri" panose="020F0502020204030204" pitchFamily="34" charset="0"/>
                      </a:endParaRPr>
                    </a:p>
                  </a:txBody>
                  <a:tcPr marL="9189" marR="9189" marT="9189" marB="0" anchor="b"/>
                </a:tc>
                <a:tc>
                  <a:txBody>
                    <a:bodyPr/>
                    <a:lstStyle/>
                    <a:p>
                      <a:pPr algn="ctr" fontAlgn="b"/>
                      <a:r>
                        <a:rPr lang="es-ES" sz="1500" b="1" u="none" strike="noStrike">
                          <a:effectLst/>
                        </a:rPr>
                        <a:t>Margen de Contribución por Unidad</a:t>
                      </a:r>
                      <a:endParaRPr lang="es-ES" sz="1500" b="1" i="0" u="none" strike="noStrike">
                        <a:solidFill>
                          <a:srgbClr val="000000"/>
                        </a:solidFill>
                        <a:effectLst/>
                        <a:latin typeface="Calibri" panose="020F0502020204030204" pitchFamily="34" charset="0"/>
                      </a:endParaRPr>
                    </a:p>
                  </a:txBody>
                  <a:tcPr marL="9189" marR="9189" marT="9189" marB="0" anchor="b"/>
                </a:tc>
                <a:tc>
                  <a:txBody>
                    <a:bodyPr/>
                    <a:lstStyle/>
                    <a:p>
                      <a:pPr algn="ctr" fontAlgn="b"/>
                      <a:r>
                        <a:rPr lang="es-GT" sz="1500" b="1" u="none" strike="noStrike">
                          <a:effectLst/>
                        </a:rPr>
                        <a:t>%</a:t>
                      </a:r>
                      <a:endParaRPr lang="es-GT" sz="1500" b="1" i="0" u="none" strike="noStrike">
                        <a:solidFill>
                          <a:srgbClr val="000000"/>
                        </a:solidFill>
                        <a:effectLst/>
                        <a:latin typeface="Calibri" panose="020F0502020204030204" pitchFamily="34" charset="0"/>
                      </a:endParaRPr>
                    </a:p>
                  </a:txBody>
                  <a:tcPr marL="9189" marR="9189" marT="9189" marB="0" anchor="b"/>
                </a:tc>
                <a:tc>
                  <a:txBody>
                    <a:bodyPr/>
                    <a:lstStyle/>
                    <a:p>
                      <a:pPr algn="ctr" fontAlgn="b"/>
                      <a:r>
                        <a:rPr lang="es-ES" sz="1500" b="1" u="none" strike="noStrike">
                          <a:effectLst/>
                        </a:rPr>
                        <a:t>Ponderación participación margen de contribución</a:t>
                      </a:r>
                      <a:endParaRPr lang="es-ES" sz="1500" b="1" i="0" u="none" strike="noStrike">
                        <a:solidFill>
                          <a:srgbClr val="000000"/>
                        </a:solidFill>
                        <a:effectLst/>
                        <a:latin typeface="Calibri" panose="020F0502020204030204" pitchFamily="34" charset="0"/>
                      </a:endParaRPr>
                    </a:p>
                  </a:txBody>
                  <a:tcPr marL="9189" marR="9189" marT="9189" marB="0" anchor="b"/>
                </a:tc>
                <a:extLst>
                  <a:ext uri="{0D108BD9-81ED-4DB2-BD59-A6C34878D82A}">
                    <a16:rowId xmlns:a16="http://schemas.microsoft.com/office/drawing/2014/main" val="1325703748"/>
                  </a:ext>
                </a:extLst>
              </a:tr>
              <a:tr h="643047">
                <a:tc>
                  <a:txBody>
                    <a:bodyPr/>
                    <a:lstStyle/>
                    <a:p>
                      <a:pPr algn="ctr" fontAlgn="b"/>
                      <a:r>
                        <a:rPr lang="es-GT" sz="1500" b="1" u="none" strike="noStrike">
                          <a:effectLst/>
                        </a:rPr>
                        <a:t>Paquete Libros Matemáticas</a:t>
                      </a:r>
                      <a:endParaRPr lang="es-GT" sz="1500" b="1" i="0" u="none" strike="noStrike">
                        <a:solidFill>
                          <a:srgbClr val="000000"/>
                        </a:solidFill>
                        <a:effectLst/>
                        <a:latin typeface="Calibri" panose="020F0502020204030204" pitchFamily="34" charset="0"/>
                      </a:endParaRPr>
                    </a:p>
                  </a:txBody>
                  <a:tcPr marL="9189" marR="9189" marT="9189" marB="0" anchor="b"/>
                </a:tc>
                <a:tc>
                  <a:txBody>
                    <a:bodyPr/>
                    <a:lstStyle/>
                    <a:p>
                      <a:pPr algn="l" fontAlgn="b"/>
                      <a:r>
                        <a:rPr lang="es-GT" sz="1500" b="1" u="none" strike="noStrike">
                          <a:effectLst/>
                        </a:rPr>
                        <a:t> Q                      125.00 </a:t>
                      </a:r>
                      <a:endParaRPr lang="es-GT" sz="1500" b="1" i="0" u="none" strike="noStrike">
                        <a:solidFill>
                          <a:srgbClr val="000000"/>
                        </a:solidFill>
                        <a:effectLst/>
                        <a:latin typeface="Calibri" panose="020F0502020204030204" pitchFamily="34" charset="0"/>
                      </a:endParaRPr>
                    </a:p>
                  </a:txBody>
                  <a:tcPr marL="9189" marR="9189" marT="9189" marB="0" anchor="b"/>
                </a:tc>
                <a:tc>
                  <a:txBody>
                    <a:bodyPr/>
                    <a:lstStyle/>
                    <a:p>
                      <a:pPr algn="r" fontAlgn="b"/>
                      <a:r>
                        <a:rPr lang="es-GT" sz="1500" b="1" u="none" strike="noStrike">
                          <a:effectLst/>
                        </a:rPr>
                        <a:t>37.82820097</a:t>
                      </a:r>
                      <a:endParaRPr lang="es-GT" sz="1500" b="1" i="0" u="none" strike="noStrike">
                        <a:solidFill>
                          <a:srgbClr val="000000"/>
                        </a:solidFill>
                        <a:effectLst/>
                        <a:latin typeface="Calibri" panose="020F0502020204030204" pitchFamily="34" charset="0"/>
                      </a:endParaRPr>
                    </a:p>
                  </a:txBody>
                  <a:tcPr marL="9189" marR="9189" marT="9189" marB="0" anchor="b"/>
                </a:tc>
                <a:tc>
                  <a:txBody>
                    <a:bodyPr/>
                    <a:lstStyle/>
                    <a:p>
                      <a:pPr algn="l" fontAlgn="b"/>
                      <a:r>
                        <a:rPr lang="es-GT" sz="1500" b="1" u="none" strike="noStrike">
                          <a:effectLst/>
                        </a:rPr>
                        <a:t> Q                   47.29 </a:t>
                      </a:r>
                      <a:endParaRPr lang="es-GT" sz="1500" b="1" i="0" u="none" strike="noStrike">
                        <a:solidFill>
                          <a:srgbClr val="000000"/>
                        </a:solidFill>
                        <a:effectLst/>
                        <a:latin typeface="Calibri" panose="020F0502020204030204" pitchFamily="34" charset="0"/>
                      </a:endParaRPr>
                    </a:p>
                  </a:txBody>
                  <a:tcPr marL="9189" marR="9189" marT="9189" marB="0" anchor="b"/>
                </a:tc>
                <a:extLst>
                  <a:ext uri="{0D108BD9-81ED-4DB2-BD59-A6C34878D82A}">
                    <a16:rowId xmlns:a16="http://schemas.microsoft.com/office/drawing/2014/main" val="3168075432"/>
                  </a:ext>
                </a:extLst>
              </a:tr>
              <a:tr h="643047">
                <a:tc>
                  <a:txBody>
                    <a:bodyPr/>
                    <a:lstStyle/>
                    <a:p>
                      <a:pPr algn="ctr" fontAlgn="b"/>
                      <a:r>
                        <a:rPr lang="es-GT" sz="1500" b="1" u="none" strike="noStrike">
                          <a:effectLst/>
                        </a:rPr>
                        <a:t>Paquete Libros Idioma Español</a:t>
                      </a:r>
                      <a:endParaRPr lang="es-GT" sz="1500" b="1" i="0" u="none" strike="noStrike">
                        <a:solidFill>
                          <a:srgbClr val="000000"/>
                        </a:solidFill>
                        <a:effectLst/>
                        <a:latin typeface="Calibri" panose="020F0502020204030204" pitchFamily="34" charset="0"/>
                      </a:endParaRPr>
                    </a:p>
                  </a:txBody>
                  <a:tcPr marL="9189" marR="9189" marT="9189" marB="0" anchor="b"/>
                </a:tc>
                <a:tc>
                  <a:txBody>
                    <a:bodyPr/>
                    <a:lstStyle/>
                    <a:p>
                      <a:pPr algn="l" fontAlgn="b"/>
                      <a:r>
                        <a:rPr lang="es-GT" sz="1500" b="1" u="none" strike="noStrike" dirty="0">
                          <a:effectLst/>
                        </a:rPr>
                        <a:t> Q                         90.00 </a:t>
                      </a:r>
                      <a:endParaRPr lang="es-GT" sz="1500" b="1" i="0" u="none" strike="noStrike" dirty="0">
                        <a:solidFill>
                          <a:srgbClr val="000000"/>
                        </a:solidFill>
                        <a:effectLst/>
                        <a:latin typeface="Calibri" panose="020F0502020204030204" pitchFamily="34" charset="0"/>
                      </a:endParaRPr>
                    </a:p>
                  </a:txBody>
                  <a:tcPr marL="9189" marR="9189" marT="9189" marB="0" anchor="b"/>
                </a:tc>
                <a:tc>
                  <a:txBody>
                    <a:bodyPr/>
                    <a:lstStyle/>
                    <a:p>
                      <a:pPr algn="r" fontAlgn="b"/>
                      <a:r>
                        <a:rPr lang="es-GT" sz="1500" b="1" u="none" strike="noStrike">
                          <a:effectLst/>
                        </a:rPr>
                        <a:t>29.72447326</a:t>
                      </a:r>
                      <a:endParaRPr lang="es-GT" sz="1500" b="1" i="0" u="none" strike="noStrike">
                        <a:solidFill>
                          <a:srgbClr val="000000"/>
                        </a:solidFill>
                        <a:effectLst/>
                        <a:latin typeface="Calibri" panose="020F0502020204030204" pitchFamily="34" charset="0"/>
                      </a:endParaRPr>
                    </a:p>
                  </a:txBody>
                  <a:tcPr marL="9189" marR="9189" marT="9189" marB="0" anchor="b"/>
                </a:tc>
                <a:tc>
                  <a:txBody>
                    <a:bodyPr/>
                    <a:lstStyle/>
                    <a:p>
                      <a:pPr algn="l" fontAlgn="b"/>
                      <a:r>
                        <a:rPr lang="es-GT" sz="1500" b="1" u="none" strike="noStrike">
                          <a:effectLst/>
                        </a:rPr>
                        <a:t> Q                   26.75 </a:t>
                      </a:r>
                      <a:endParaRPr lang="es-GT" sz="1500" b="1" i="0" u="none" strike="noStrike">
                        <a:solidFill>
                          <a:srgbClr val="000000"/>
                        </a:solidFill>
                        <a:effectLst/>
                        <a:latin typeface="Calibri" panose="020F0502020204030204" pitchFamily="34" charset="0"/>
                      </a:endParaRPr>
                    </a:p>
                  </a:txBody>
                  <a:tcPr marL="9189" marR="9189" marT="9189" marB="0" anchor="b"/>
                </a:tc>
                <a:extLst>
                  <a:ext uri="{0D108BD9-81ED-4DB2-BD59-A6C34878D82A}">
                    <a16:rowId xmlns:a16="http://schemas.microsoft.com/office/drawing/2014/main" val="349513206"/>
                  </a:ext>
                </a:extLst>
              </a:tr>
              <a:tr h="643047">
                <a:tc>
                  <a:txBody>
                    <a:bodyPr/>
                    <a:lstStyle/>
                    <a:p>
                      <a:pPr algn="ctr" fontAlgn="b"/>
                      <a:r>
                        <a:rPr lang="es-GT" sz="1500" b="1" u="none" strike="noStrike">
                          <a:effectLst/>
                        </a:rPr>
                        <a:t>Paquete Libros Medio Natural</a:t>
                      </a:r>
                      <a:endParaRPr lang="es-GT" sz="1500" b="1" i="0" u="none" strike="noStrike">
                        <a:solidFill>
                          <a:srgbClr val="000000"/>
                        </a:solidFill>
                        <a:effectLst/>
                        <a:latin typeface="Calibri" panose="020F0502020204030204" pitchFamily="34" charset="0"/>
                      </a:endParaRPr>
                    </a:p>
                  </a:txBody>
                  <a:tcPr marL="9189" marR="9189" marT="9189" marB="0" anchor="b"/>
                </a:tc>
                <a:tc>
                  <a:txBody>
                    <a:bodyPr/>
                    <a:lstStyle/>
                    <a:p>
                      <a:pPr algn="l" fontAlgn="b"/>
                      <a:r>
                        <a:rPr lang="es-GT" sz="1500" b="1" u="none" strike="noStrike">
                          <a:effectLst/>
                        </a:rPr>
                        <a:t> Q                      100.00 </a:t>
                      </a:r>
                      <a:endParaRPr lang="es-GT" sz="1500" b="1" i="0" u="none" strike="noStrike">
                        <a:solidFill>
                          <a:srgbClr val="000000"/>
                        </a:solidFill>
                        <a:effectLst/>
                        <a:latin typeface="Calibri" panose="020F0502020204030204" pitchFamily="34" charset="0"/>
                      </a:endParaRPr>
                    </a:p>
                  </a:txBody>
                  <a:tcPr marL="9189" marR="9189" marT="9189" marB="0" anchor="b"/>
                </a:tc>
                <a:tc>
                  <a:txBody>
                    <a:bodyPr/>
                    <a:lstStyle/>
                    <a:p>
                      <a:pPr algn="r" fontAlgn="b"/>
                      <a:r>
                        <a:rPr lang="es-GT" sz="1500" b="1" u="none" strike="noStrike">
                          <a:effectLst/>
                        </a:rPr>
                        <a:t>32.44732577</a:t>
                      </a:r>
                      <a:endParaRPr lang="es-GT" sz="1500" b="1" i="0" u="none" strike="noStrike">
                        <a:solidFill>
                          <a:srgbClr val="000000"/>
                        </a:solidFill>
                        <a:effectLst/>
                        <a:latin typeface="Calibri" panose="020F0502020204030204" pitchFamily="34" charset="0"/>
                      </a:endParaRPr>
                    </a:p>
                  </a:txBody>
                  <a:tcPr marL="9189" marR="9189" marT="9189" marB="0" anchor="b"/>
                </a:tc>
                <a:tc>
                  <a:txBody>
                    <a:bodyPr/>
                    <a:lstStyle/>
                    <a:p>
                      <a:pPr algn="l" fontAlgn="b"/>
                      <a:r>
                        <a:rPr lang="es-GT" sz="1500" b="1" u="none" strike="noStrike">
                          <a:effectLst/>
                        </a:rPr>
                        <a:t> Q                   32.45 </a:t>
                      </a:r>
                      <a:endParaRPr lang="es-GT" sz="1500" b="1" i="0" u="none" strike="noStrike">
                        <a:solidFill>
                          <a:srgbClr val="000000"/>
                        </a:solidFill>
                        <a:effectLst/>
                        <a:latin typeface="Calibri" panose="020F0502020204030204" pitchFamily="34" charset="0"/>
                      </a:endParaRPr>
                    </a:p>
                  </a:txBody>
                  <a:tcPr marL="9189" marR="9189" marT="9189" marB="0" anchor="b"/>
                </a:tc>
                <a:extLst>
                  <a:ext uri="{0D108BD9-81ED-4DB2-BD59-A6C34878D82A}">
                    <a16:rowId xmlns:a16="http://schemas.microsoft.com/office/drawing/2014/main" val="86146059"/>
                  </a:ext>
                </a:extLst>
              </a:tr>
              <a:tr h="643047">
                <a:tc>
                  <a:txBody>
                    <a:bodyPr/>
                    <a:lstStyle/>
                    <a:p>
                      <a:pPr algn="ctr" fontAlgn="b"/>
                      <a:r>
                        <a:rPr lang="es-GT" sz="1500" b="1" u="none" strike="noStrike">
                          <a:effectLst/>
                        </a:rPr>
                        <a:t>Total</a:t>
                      </a:r>
                      <a:endParaRPr lang="es-GT" sz="1500" b="1" i="0" u="none" strike="noStrike">
                        <a:solidFill>
                          <a:srgbClr val="000000"/>
                        </a:solidFill>
                        <a:effectLst/>
                        <a:latin typeface="Calibri" panose="020F0502020204030204" pitchFamily="34" charset="0"/>
                      </a:endParaRPr>
                    </a:p>
                  </a:txBody>
                  <a:tcPr marL="9189" marR="9189" marT="9189" marB="0" anchor="b"/>
                </a:tc>
                <a:tc>
                  <a:txBody>
                    <a:bodyPr/>
                    <a:lstStyle/>
                    <a:p>
                      <a:pPr algn="l" fontAlgn="b"/>
                      <a:endParaRPr lang="es-GT" sz="1500" b="1" i="0" u="none" strike="noStrike">
                        <a:solidFill>
                          <a:srgbClr val="000000"/>
                        </a:solidFill>
                        <a:effectLst/>
                        <a:latin typeface="Calibri" panose="020F0502020204030204" pitchFamily="34" charset="0"/>
                      </a:endParaRPr>
                    </a:p>
                  </a:txBody>
                  <a:tcPr marL="9189" marR="9189" marT="9189" marB="0" anchor="b"/>
                </a:tc>
                <a:tc>
                  <a:txBody>
                    <a:bodyPr/>
                    <a:lstStyle/>
                    <a:p>
                      <a:pPr algn="ctr" fontAlgn="b"/>
                      <a:endParaRPr lang="es-GT" sz="1500" b="1" i="0" u="none" strike="noStrike">
                        <a:solidFill>
                          <a:srgbClr val="000000"/>
                        </a:solidFill>
                        <a:effectLst/>
                        <a:latin typeface="Calibri" panose="020F0502020204030204" pitchFamily="34" charset="0"/>
                      </a:endParaRPr>
                    </a:p>
                  </a:txBody>
                  <a:tcPr marL="9189" marR="9189" marT="9189" marB="0" anchor="b"/>
                </a:tc>
                <a:tc>
                  <a:txBody>
                    <a:bodyPr/>
                    <a:lstStyle/>
                    <a:p>
                      <a:pPr algn="l" fontAlgn="b"/>
                      <a:r>
                        <a:rPr lang="es-GT" sz="1500" b="1" u="none" strike="noStrike" dirty="0">
                          <a:effectLst/>
                        </a:rPr>
                        <a:t> Q                 106.48 </a:t>
                      </a:r>
                      <a:endParaRPr lang="es-GT" sz="1500" b="1" i="0" u="none" strike="noStrike" dirty="0">
                        <a:solidFill>
                          <a:srgbClr val="000000"/>
                        </a:solidFill>
                        <a:effectLst/>
                        <a:latin typeface="Calibri" panose="020F0502020204030204" pitchFamily="34" charset="0"/>
                      </a:endParaRPr>
                    </a:p>
                  </a:txBody>
                  <a:tcPr marL="9189" marR="9189" marT="9189" marB="0" anchor="b"/>
                </a:tc>
                <a:extLst>
                  <a:ext uri="{0D108BD9-81ED-4DB2-BD59-A6C34878D82A}">
                    <a16:rowId xmlns:a16="http://schemas.microsoft.com/office/drawing/2014/main" val="657975883"/>
                  </a:ext>
                </a:extLst>
              </a:tr>
            </a:tbl>
          </a:graphicData>
        </a:graphic>
      </p:graphicFrame>
    </p:spTree>
    <p:extLst>
      <p:ext uri="{BB962C8B-B14F-4D97-AF65-F5344CB8AC3E}">
        <p14:creationId xmlns:p14="http://schemas.microsoft.com/office/powerpoint/2010/main" val="252942522"/>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E69654-40F7-7ADD-8AF0-B670D073388A}"/>
              </a:ext>
            </a:extLst>
          </p:cNvPr>
          <p:cNvSpPr>
            <a:spLocks noGrp="1"/>
          </p:cNvSpPr>
          <p:nvPr>
            <p:ph type="title"/>
          </p:nvPr>
        </p:nvSpPr>
        <p:spPr/>
        <p:txBody>
          <a:bodyPr/>
          <a:lstStyle/>
          <a:p>
            <a:r>
              <a:rPr lang="es-ES" dirty="0"/>
              <a:t>PASO 3: APLICAR FÓRMULA PE</a:t>
            </a:r>
            <a:endParaRPr lang="es-GT" dirty="0"/>
          </a:p>
        </p:txBody>
      </p:sp>
      <p:sp>
        <p:nvSpPr>
          <p:cNvPr id="3" name="Marcador de contenido 2">
            <a:extLst>
              <a:ext uri="{FF2B5EF4-FFF2-40B4-BE49-F238E27FC236}">
                <a16:creationId xmlns:a16="http://schemas.microsoft.com/office/drawing/2014/main" id="{5C74686D-0334-3671-5AB6-E2C7244FD34E}"/>
              </a:ext>
            </a:extLst>
          </p:cNvPr>
          <p:cNvSpPr>
            <a:spLocks noGrp="1"/>
          </p:cNvSpPr>
          <p:nvPr>
            <p:ph idx="1"/>
          </p:nvPr>
        </p:nvSpPr>
        <p:spPr/>
        <p:txBody>
          <a:bodyPr/>
          <a:lstStyle/>
          <a:p>
            <a:pPr marL="0" indent="0">
              <a:buNone/>
            </a:pPr>
            <a:r>
              <a:rPr lang="es-ES" dirty="0"/>
              <a:t>			           COSTOS FIJOS TOTALES</a:t>
            </a:r>
          </a:p>
          <a:p>
            <a:pPr marL="0" indent="0">
              <a:buNone/>
            </a:pPr>
            <a:r>
              <a:rPr lang="es-ES" dirty="0"/>
              <a:t>PE =</a:t>
            </a:r>
          </a:p>
          <a:p>
            <a:pPr marL="0" indent="0">
              <a:buNone/>
            </a:pPr>
            <a:r>
              <a:rPr lang="es-ES" dirty="0"/>
              <a:t>			MARGEN DE CONTRIBUCIÓN TOTAL PONDERADO</a:t>
            </a:r>
          </a:p>
          <a:p>
            <a:pPr marL="0" indent="0">
              <a:buNone/>
            </a:pPr>
            <a:r>
              <a:rPr lang="es-ES" dirty="0"/>
              <a:t> </a:t>
            </a:r>
            <a:endParaRPr lang="es-GT" dirty="0"/>
          </a:p>
        </p:txBody>
      </p:sp>
      <p:cxnSp>
        <p:nvCxnSpPr>
          <p:cNvPr id="5" name="Conector recto 4">
            <a:extLst>
              <a:ext uri="{FF2B5EF4-FFF2-40B4-BE49-F238E27FC236}">
                <a16:creationId xmlns:a16="http://schemas.microsoft.com/office/drawing/2014/main" id="{0A43334E-EBF6-346D-05A2-F020E1573BB8}"/>
              </a:ext>
            </a:extLst>
          </p:cNvPr>
          <p:cNvCxnSpPr>
            <a:cxnSpLocks/>
          </p:cNvCxnSpPr>
          <p:nvPr/>
        </p:nvCxnSpPr>
        <p:spPr>
          <a:xfrm>
            <a:off x="1967346" y="3726873"/>
            <a:ext cx="5014025"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4195580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E69654-40F7-7ADD-8AF0-B670D073388A}"/>
              </a:ext>
            </a:extLst>
          </p:cNvPr>
          <p:cNvSpPr>
            <a:spLocks noGrp="1"/>
          </p:cNvSpPr>
          <p:nvPr>
            <p:ph type="title"/>
          </p:nvPr>
        </p:nvSpPr>
        <p:spPr/>
        <p:txBody>
          <a:bodyPr/>
          <a:lstStyle/>
          <a:p>
            <a:r>
              <a:rPr lang="es-ES" dirty="0"/>
              <a:t>PASO 3: APLICAR FÓRMULA PE</a:t>
            </a:r>
            <a:endParaRPr lang="es-GT" dirty="0"/>
          </a:p>
        </p:txBody>
      </p:sp>
      <p:sp>
        <p:nvSpPr>
          <p:cNvPr id="3" name="Marcador de contenido 2">
            <a:extLst>
              <a:ext uri="{FF2B5EF4-FFF2-40B4-BE49-F238E27FC236}">
                <a16:creationId xmlns:a16="http://schemas.microsoft.com/office/drawing/2014/main" id="{5C74686D-0334-3671-5AB6-E2C7244FD34E}"/>
              </a:ext>
            </a:extLst>
          </p:cNvPr>
          <p:cNvSpPr>
            <a:spLocks noGrp="1"/>
          </p:cNvSpPr>
          <p:nvPr>
            <p:ph idx="1"/>
          </p:nvPr>
        </p:nvSpPr>
        <p:spPr/>
        <p:txBody>
          <a:bodyPr/>
          <a:lstStyle/>
          <a:p>
            <a:pPr marL="0" indent="0">
              <a:buNone/>
            </a:pPr>
            <a:r>
              <a:rPr lang="es-ES" dirty="0"/>
              <a:t>			             </a:t>
            </a:r>
            <a:r>
              <a:rPr lang="es-ES" sz="2800" b="1" dirty="0"/>
              <a:t>Q 200,000.00</a:t>
            </a:r>
          </a:p>
          <a:p>
            <a:pPr marL="0" indent="0">
              <a:buNone/>
            </a:pPr>
            <a:r>
              <a:rPr lang="es-ES" sz="2800" b="1" dirty="0"/>
              <a:t>PE =</a:t>
            </a:r>
          </a:p>
          <a:p>
            <a:pPr marL="0" indent="0">
              <a:buNone/>
            </a:pPr>
            <a:r>
              <a:rPr lang="es-ES" sz="2800" b="1" dirty="0"/>
              <a:t>					Q 106.48</a:t>
            </a:r>
          </a:p>
          <a:p>
            <a:pPr marL="0" indent="0">
              <a:buNone/>
            </a:pPr>
            <a:r>
              <a:rPr lang="es-ES" sz="2800" b="1" dirty="0"/>
              <a:t> </a:t>
            </a:r>
            <a:endParaRPr lang="es-GT" sz="2800" b="1" dirty="0"/>
          </a:p>
        </p:txBody>
      </p:sp>
      <p:cxnSp>
        <p:nvCxnSpPr>
          <p:cNvPr id="5" name="Conector recto 4">
            <a:extLst>
              <a:ext uri="{FF2B5EF4-FFF2-40B4-BE49-F238E27FC236}">
                <a16:creationId xmlns:a16="http://schemas.microsoft.com/office/drawing/2014/main" id="{0A43334E-EBF6-346D-05A2-F020E1573BB8}"/>
              </a:ext>
            </a:extLst>
          </p:cNvPr>
          <p:cNvCxnSpPr>
            <a:cxnSpLocks/>
          </p:cNvCxnSpPr>
          <p:nvPr/>
        </p:nvCxnSpPr>
        <p:spPr>
          <a:xfrm>
            <a:off x="1967346" y="3726873"/>
            <a:ext cx="3740727"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8734180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E852C5-02A6-ED66-6483-9CBE4A5E53B2}"/>
              </a:ext>
            </a:extLst>
          </p:cNvPr>
          <p:cNvSpPr>
            <a:spLocks noGrp="1"/>
          </p:cNvSpPr>
          <p:nvPr>
            <p:ph type="title"/>
          </p:nvPr>
        </p:nvSpPr>
        <p:spPr>
          <a:xfrm>
            <a:off x="825909" y="808055"/>
            <a:ext cx="3979205" cy="1453363"/>
          </a:xfrm>
        </p:spPr>
        <p:txBody>
          <a:bodyPr>
            <a:normAutofit/>
          </a:bodyPr>
          <a:lstStyle/>
          <a:p>
            <a:r>
              <a:rPr lang="es-ES" dirty="0"/>
              <a:t>PE = 1,878.21 = 1879 UNIDADES</a:t>
            </a:r>
            <a:endParaRPr lang="es-GT" dirty="0"/>
          </a:p>
        </p:txBody>
      </p:sp>
      <p:sp>
        <p:nvSpPr>
          <p:cNvPr id="3" name="Marcador de contenido 2">
            <a:extLst>
              <a:ext uri="{FF2B5EF4-FFF2-40B4-BE49-F238E27FC236}">
                <a16:creationId xmlns:a16="http://schemas.microsoft.com/office/drawing/2014/main" id="{F04EDED0-5692-F7FE-B185-61CA5AD5DF3C}"/>
              </a:ext>
            </a:extLst>
          </p:cNvPr>
          <p:cNvSpPr>
            <a:spLocks noGrp="1"/>
          </p:cNvSpPr>
          <p:nvPr>
            <p:ph idx="1"/>
          </p:nvPr>
        </p:nvSpPr>
        <p:spPr>
          <a:xfrm>
            <a:off x="802178" y="2261420"/>
            <a:ext cx="4002936" cy="3637935"/>
          </a:xfrm>
        </p:spPr>
        <p:txBody>
          <a:bodyPr>
            <a:normAutofit/>
          </a:bodyPr>
          <a:lstStyle/>
          <a:p>
            <a:pPr marL="0" indent="0">
              <a:buNone/>
            </a:pPr>
            <a:r>
              <a:rPr lang="es-ES" b="1" dirty="0"/>
              <a:t>PARA SABER CUÁNTAS UNIDADES DE CADA TIPO, APLICAMOS EL PORCENTAJE QUE REPRESENTA CADA UNA EN EL TOTAL DE VENTAS:</a:t>
            </a:r>
          </a:p>
          <a:p>
            <a:pPr marL="0" indent="0">
              <a:buNone/>
            </a:pPr>
            <a:endParaRPr lang="es-GT" b="1" dirty="0"/>
          </a:p>
        </p:txBody>
      </p:sp>
      <p:graphicFrame>
        <p:nvGraphicFramePr>
          <p:cNvPr id="5" name="Tabla 4">
            <a:extLst>
              <a:ext uri="{FF2B5EF4-FFF2-40B4-BE49-F238E27FC236}">
                <a16:creationId xmlns:a16="http://schemas.microsoft.com/office/drawing/2014/main" id="{E5B512DC-8C5E-87E3-9014-DD171E29DD16}"/>
              </a:ext>
            </a:extLst>
          </p:cNvPr>
          <p:cNvGraphicFramePr>
            <a:graphicFrameLocks noGrp="1"/>
          </p:cNvGraphicFramePr>
          <p:nvPr>
            <p:extLst>
              <p:ext uri="{D42A27DB-BD31-4B8C-83A1-F6EECF244321}">
                <p14:modId xmlns:p14="http://schemas.microsoft.com/office/powerpoint/2010/main" val="624779853"/>
              </p:ext>
            </p:extLst>
          </p:nvPr>
        </p:nvGraphicFramePr>
        <p:xfrm>
          <a:off x="5289752" y="1436914"/>
          <a:ext cx="6263619" cy="3759199"/>
        </p:xfrm>
        <a:graphic>
          <a:graphicData uri="http://schemas.openxmlformats.org/drawingml/2006/table">
            <a:tbl>
              <a:tblPr firstRow="1" bandRow="1">
                <a:tableStyleId>{5C22544A-7EE6-4342-B048-85BDC9FD1C3A}</a:tableStyleId>
              </a:tblPr>
              <a:tblGrid>
                <a:gridCol w="1967510">
                  <a:extLst>
                    <a:ext uri="{9D8B030D-6E8A-4147-A177-3AD203B41FA5}">
                      <a16:colId xmlns:a16="http://schemas.microsoft.com/office/drawing/2014/main" val="57810866"/>
                    </a:ext>
                  </a:extLst>
                </a:gridCol>
                <a:gridCol w="1304177">
                  <a:extLst>
                    <a:ext uri="{9D8B030D-6E8A-4147-A177-3AD203B41FA5}">
                      <a16:colId xmlns:a16="http://schemas.microsoft.com/office/drawing/2014/main" val="3299302717"/>
                    </a:ext>
                  </a:extLst>
                </a:gridCol>
                <a:gridCol w="1699293">
                  <a:extLst>
                    <a:ext uri="{9D8B030D-6E8A-4147-A177-3AD203B41FA5}">
                      <a16:colId xmlns:a16="http://schemas.microsoft.com/office/drawing/2014/main" val="3213017292"/>
                    </a:ext>
                  </a:extLst>
                </a:gridCol>
                <a:gridCol w="1292639">
                  <a:extLst>
                    <a:ext uri="{9D8B030D-6E8A-4147-A177-3AD203B41FA5}">
                      <a16:colId xmlns:a16="http://schemas.microsoft.com/office/drawing/2014/main" val="2854723298"/>
                    </a:ext>
                  </a:extLst>
                </a:gridCol>
              </a:tblGrid>
              <a:tr h="824306">
                <a:tc>
                  <a:txBody>
                    <a:bodyPr/>
                    <a:lstStyle/>
                    <a:p>
                      <a:pPr algn="ctr" fontAlgn="b"/>
                      <a:r>
                        <a:rPr lang="es-GT" sz="1900" u="none" strike="noStrike">
                          <a:effectLst/>
                        </a:rPr>
                        <a:t>Artículo</a:t>
                      </a:r>
                      <a:endParaRPr lang="es-GT" sz="1900" b="1" i="0" u="none" strike="noStrike">
                        <a:solidFill>
                          <a:srgbClr val="000000"/>
                        </a:solidFill>
                        <a:effectLst/>
                        <a:latin typeface="Calibri" panose="020F0502020204030204" pitchFamily="34" charset="0"/>
                      </a:endParaRPr>
                    </a:p>
                  </a:txBody>
                  <a:tcPr marL="16840" marR="16840" marT="16840" marB="0" anchor="b"/>
                </a:tc>
                <a:tc>
                  <a:txBody>
                    <a:bodyPr/>
                    <a:lstStyle/>
                    <a:p>
                      <a:pPr algn="ctr" fontAlgn="b"/>
                      <a:r>
                        <a:rPr lang="es-GT" sz="1900" u="none" strike="noStrike">
                          <a:effectLst/>
                        </a:rPr>
                        <a:t>Unidades totales</a:t>
                      </a:r>
                      <a:endParaRPr lang="es-GT" sz="1900" b="1" i="0" u="none" strike="noStrike">
                        <a:solidFill>
                          <a:srgbClr val="000000"/>
                        </a:solidFill>
                        <a:effectLst/>
                        <a:latin typeface="Calibri" panose="020F0502020204030204" pitchFamily="34" charset="0"/>
                      </a:endParaRPr>
                    </a:p>
                  </a:txBody>
                  <a:tcPr marL="16840" marR="16840" marT="16840" marB="0" anchor="b"/>
                </a:tc>
                <a:tc>
                  <a:txBody>
                    <a:bodyPr/>
                    <a:lstStyle/>
                    <a:p>
                      <a:pPr algn="ctr" fontAlgn="b"/>
                      <a:r>
                        <a:rPr lang="es-GT" sz="1900" u="none" strike="noStrike">
                          <a:effectLst/>
                        </a:rPr>
                        <a:t>%</a:t>
                      </a:r>
                      <a:endParaRPr lang="es-GT" sz="1900" b="1" i="0" u="none" strike="noStrike">
                        <a:solidFill>
                          <a:srgbClr val="000000"/>
                        </a:solidFill>
                        <a:effectLst/>
                        <a:latin typeface="Calibri" panose="020F0502020204030204" pitchFamily="34" charset="0"/>
                      </a:endParaRPr>
                    </a:p>
                  </a:txBody>
                  <a:tcPr marL="16840" marR="16840" marT="16840" marB="0" anchor="b"/>
                </a:tc>
                <a:tc>
                  <a:txBody>
                    <a:bodyPr/>
                    <a:lstStyle/>
                    <a:p>
                      <a:pPr algn="ctr" fontAlgn="b"/>
                      <a:r>
                        <a:rPr lang="es-GT" sz="1900" u="none" strike="noStrike">
                          <a:effectLst/>
                        </a:rPr>
                        <a:t>Unidades</a:t>
                      </a:r>
                      <a:endParaRPr lang="es-GT" sz="1900" b="1" i="0" u="none" strike="noStrike">
                        <a:solidFill>
                          <a:srgbClr val="000000"/>
                        </a:solidFill>
                        <a:effectLst/>
                        <a:latin typeface="Calibri" panose="020F0502020204030204" pitchFamily="34" charset="0"/>
                      </a:endParaRPr>
                    </a:p>
                  </a:txBody>
                  <a:tcPr marL="16840" marR="16840" marT="16840" marB="0" anchor="b"/>
                </a:tc>
                <a:extLst>
                  <a:ext uri="{0D108BD9-81ED-4DB2-BD59-A6C34878D82A}">
                    <a16:rowId xmlns:a16="http://schemas.microsoft.com/office/drawing/2014/main" val="3595967949"/>
                  </a:ext>
                </a:extLst>
              </a:tr>
              <a:tr h="824306">
                <a:tc>
                  <a:txBody>
                    <a:bodyPr/>
                    <a:lstStyle/>
                    <a:p>
                      <a:pPr algn="ctr" fontAlgn="b"/>
                      <a:r>
                        <a:rPr lang="es-GT" sz="1900" b="1" u="none" strike="noStrike" dirty="0">
                          <a:effectLst/>
                        </a:rPr>
                        <a:t>Paquete Libros Matemáticas</a:t>
                      </a:r>
                      <a:endParaRPr lang="es-GT" sz="1900" b="1" i="0" u="none" strike="noStrike" dirty="0">
                        <a:solidFill>
                          <a:srgbClr val="000000"/>
                        </a:solidFill>
                        <a:effectLst/>
                        <a:latin typeface="Calibri" panose="020F0502020204030204" pitchFamily="34" charset="0"/>
                      </a:endParaRPr>
                    </a:p>
                  </a:txBody>
                  <a:tcPr marL="16840" marR="16840" marT="16840" marB="0" anchor="b"/>
                </a:tc>
                <a:tc>
                  <a:txBody>
                    <a:bodyPr/>
                    <a:lstStyle/>
                    <a:p>
                      <a:pPr algn="ctr" fontAlgn="b"/>
                      <a:r>
                        <a:rPr lang="es-GT" sz="1900" b="1" u="none" strike="noStrike" dirty="0">
                          <a:effectLst/>
                        </a:rPr>
                        <a:t>1879</a:t>
                      </a:r>
                      <a:endParaRPr lang="es-GT" sz="1900" b="1" i="0" u="none" strike="noStrike" dirty="0">
                        <a:solidFill>
                          <a:srgbClr val="000000"/>
                        </a:solidFill>
                        <a:effectLst/>
                        <a:latin typeface="Calibri" panose="020F0502020204030204" pitchFamily="34" charset="0"/>
                      </a:endParaRPr>
                    </a:p>
                  </a:txBody>
                  <a:tcPr marL="16840" marR="16840" marT="16840" marB="0" anchor="b"/>
                </a:tc>
                <a:tc>
                  <a:txBody>
                    <a:bodyPr/>
                    <a:lstStyle/>
                    <a:p>
                      <a:pPr algn="ctr" fontAlgn="b"/>
                      <a:r>
                        <a:rPr lang="es-GT" sz="1900" b="1" u="none" strike="noStrike">
                          <a:effectLst/>
                        </a:rPr>
                        <a:t>37.82820097</a:t>
                      </a:r>
                      <a:endParaRPr lang="es-GT" sz="1900" b="1" i="0" u="none" strike="noStrike">
                        <a:solidFill>
                          <a:srgbClr val="000000"/>
                        </a:solidFill>
                        <a:effectLst/>
                        <a:latin typeface="Calibri" panose="020F0502020204030204" pitchFamily="34" charset="0"/>
                      </a:endParaRPr>
                    </a:p>
                  </a:txBody>
                  <a:tcPr marL="16840" marR="16840" marT="16840" marB="0" anchor="b"/>
                </a:tc>
                <a:tc>
                  <a:txBody>
                    <a:bodyPr/>
                    <a:lstStyle/>
                    <a:p>
                      <a:pPr algn="ctr" fontAlgn="b"/>
                      <a:r>
                        <a:rPr lang="es-GT" sz="1900" b="1" u="none" strike="noStrike">
                          <a:effectLst/>
                        </a:rPr>
                        <a:t>711</a:t>
                      </a:r>
                      <a:endParaRPr lang="es-GT" sz="1900" b="1" i="0" u="none" strike="noStrike">
                        <a:solidFill>
                          <a:srgbClr val="000000"/>
                        </a:solidFill>
                        <a:effectLst/>
                        <a:latin typeface="Calibri" panose="020F0502020204030204" pitchFamily="34" charset="0"/>
                      </a:endParaRPr>
                    </a:p>
                  </a:txBody>
                  <a:tcPr marL="16840" marR="16840" marT="16840" marB="0" anchor="b"/>
                </a:tc>
                <a:extLst>
                  <a:ext uri="{0D108BD9-81ED-4DB2-BD59-A6C34878D82A}">
                    <a16:rowId xmlns:a16="http://schemas.microsoft.com/office/drawing/2014/main" val="2514496086"/>
                  </a:ext>
                </a:extLst>
              </a:tr>
              <a:tr h="824306">
                <a:tc>
                  <a:txBody>
                    <a:bodyPr/>
                    <a:lstStyle/>
                    <a:p>
                      <a:pPr algn="ctr" fontAlgn="b"/>
                      <a:r>
                        <a:rPr lang="es-GT" sz="1900" b="1" u="none" strike="noStrike">
                          <a:effectLst/>
                        </a:rPr>
                        <a:t>Paquete Libros Idioma Español</a:t>
                      </a:r>
                      <a:endParaRPr lang="es-GT" sz="1900" b="1" i="0" u="none" strike="noStrike">
                        <a:solidFill>
                          <a:srgbClr val="000000"/>
                        </a:solidFill>
                        <a:effectLst/>
                        <a:latin typeface="Calibri" panose="020F0502020204030204" pitchFamily="34" charset="0"/>
                      </a:endParaRPr>
                    </a:p>
                  </a:txBody>
                  <a:tcPr marL="16840" marR="16840" marT="16840" marB="0" anchor="b"/>
                </a:tc>
                <a:tc>
                  <a:txBody>
                    <a:bodyPr/>
                    <a:lstStyle/>
                    <a:p>
                      <a:pPr algn="ctr" fontAlgn="b"/>
                      <a:r>
                        <a:rPr lang="es-GT" sz="1900" b="1" u="none" strike="noStrike" dirty="0">
                          <a:effectLst/>
                        </a:rPr>
                        <a:t>1879</a:t>
                      </a:r>
                      <a:endParaRPr lang="es-GT" sz="1900" b="1" i="0" u="none" strike="noStrike" dirty="0">
                        <a:solidFill>
                          <a:srgbClr val="000000"/>
                        </a:solidFill>
                        <a:effectLst/>
                        <a:latin typeface="Calibri" panose="020F0502020204030204" pitchFamily="34" charset="0"/>
                      </a:endParaRPr>
                    </a:p>
                  </a:txBody>
                  <a:tcPr marL="16840" marR="16840" marT="16840" marB="0" anchor="b"/>
                </a:tc>
                <a:tc>
                  <a:txBody>
                    <a:bodyPr/>
                    <a:lstStyle/>
                    <a:p>
                      <a:pPr algn="ctr" fontAlgn="b"/>
                      <a:r>
                        <a:rPr lang="es-GT" sz="1900" b="1" u="none" strike="noStrike" dirty="0">
                          <a:effectLst/>
                        </a:rPr>
                        <a:t>29.72447326</a:t>
                      </a:r>
                      <a:endParaRPr lang="es-GT" sz="1900" b="1" i="0" u="none" strike="noStrike" dirty="0">
                        <a:solidFill>
                          <a:srgbClr val="000000"/>
                        </a:solidFill>
                        <a:effectLst/>
                        <a:latin typeface="Calibri" panose="020F0502020204030204" pitchFamily="34" charset="0"/>
                      </a:endParaRPr>
                    </a:p>
                  </a:txBody>
                  <a:tcPr marL="16840" marR="16840" marT="16840" marB="0" anchor="b"/>
                </a:tc>
                <a:tc>
                  <a:txBody>
                    <a:bodyPr/>
                    <a:lstStyle/>
                    <a:p>
                      <a:pPr algn="ctr" fontAlgn="b"/>
                      <a:r>
                        <a:rPr lang="es-GT" sz="1900" b="1" u="none" strike="noStrike">
                          <a:effectLst/>
                        </a:rPr>
                        <a:t>559</a:t>
                      </a:r>
                      <a:endParaRPr lang="es-GT" sz="1900" b="1" i="0" u="none" strike="noStrike">
                        <a:solidFill>
                          <a:srgbClr val="000000"/>
                        </a:solidFill>
                        <a:effectLst/>
                        <a:latin typeface="Calibri" panose="020F0502020204030204" pitchFamily="34" charset="0"/>
                      </a:endParaRPr>
                    </a:p>
                  </a:txBody>
                  <a:tcPr marL="16840" marR="16840" marT="16840" marB="0" anchor="b"/>
                </a:tc>
                <a:extLst>
                  <a:ext uri="{0D108BD9-81ED-4DB2-BD59-A6C34878D82A}">
                    <a16:rowId xmlns:a16="http://schemas.microsoft.com/office/drawing/2014/main" val="2425901917"/>
                  </a:ext>
                </a:extLst>
              </a:tr>
              <a:tr h="824306">
                <a:tc>
                  <a:txBody>
                    <a:bodyPr/>
                    <a:lstStyle/>
                    <a:p>
                      <a:pPr algn="ctr" fontAlgn="b"/>
                      <a:r>
                        <a:rPr lang="es-GT" sz="1900" b="1" u="none" strike="noStrike">
                          <a:effectLst/>
                        </a:rPr>
                        <a:t>Paquete Libros Medio Natural</a:t>
                      </a:r>
                      <a:endParaRPr lang="es-GT" sz="1900" b="1" i="0" u="none" strike="noStrike">
                        <a:solidFill>
                          <a:srgbClr val="000000"/>
                        </a:solidFill>
                        <a:effectLst/>
                        <a:latin typeface="Calibri" panose="020F0502020204030204" pitchFamily="34" charset="0"/>
                      </a:endParaRPr>
                    </a:p>
                  </a:txBody>
                  <a:tcPr marL="16840" marR="16840" marT="16840" marB="0" anchor="b"/>
                </a:tc>
                <a:tc>
                  <a:txBody>
                    <a:bodyPr/>
                    <a:lstStyle/>
                    <a:p>
                      <a:pPr algn="ctr" fontAlgn="b"/>
                      <a:r>
                        <a:rPr lang="es-GT" sz="1900" b="1" u="none" strike="noStrike">
                          <a:effectLst/>
                        </a:rPr>
                        <a:t>1879</a:t>
                      </a:r>
                      <a:endParaRPr lang="es-GT" sz="1900" b="1" i="0" u="none" strike="noStrike">
                        <a:solidFill>
                          <a:srgbClr val="000000"/>
                        </a:solidFill>
                        <a:effectLst/>
                        <a:latin typeface="Calibri" panose="020F0502020204030204" pitchFamily="34" charset="0"/>
                      </a:endParaRPr>
                    </a:p>
                  </a:txBody>
                  <a:tcPr marL="16840" marR="16840" marT="16840" marB="0" anchor="b"/>
                </a:tc>
                <a:tc>
                  <a:txBody>
                    <a:bodyPr/>
                    <a:lstStyle/>
                    <a:p>
                      <a:pPr algn="ctr" fontAlgn="b"/>
                      <a:r>
                        <a:rPr lang="es-GT" sz="1900" b="1" u="none" strike="noStrike" dirty="0">
                          <a:effectLst/>
                        </a:rPr>
                        <a:t>32.44732577</a:t>
                      </a:r>
                      <a:endParaRPr lang="es-GT" sz="1900" b="1" i="0" u="none" strike="noStrike" dirty="0">
                        <a:solidFill>
                          <a:srgbClr val="000000"/>
                        </a:solidFill>
                        <a:effectLst/>
                        <a:latin typeface="Calibri" panose="020F0502020204030204" pitchFamily="34" charset="0"/>
                      </a:endParaRPr>
                    </a:p>
                  </a:txBody>
                  <a:tcPr marL="16840" marR="16840" marT="16840" marB="0" anchor="b"/>
                </a:tc>
                <a:tc>
                  <a:txBody>
                    <a:bodyPr/>
                    <a:lstStyle/>
                    <a:p>
                      <a:pPr algn="ctr" fontAlgn="b"/>
                      <a:r>
                        <a:rPr lang="es-GT" sz="1900" b="1" u="none" strike="noStrike" dirty="0">
                          <a:effectLst/>
                        </a:rPr>
                        <a:t>609</a:t>
                      </a:r>
                      <a:endParaRPr lang="es-GT" sz="1900" b="1" i="0" u="none" strike="noStrike" dirty="0">
                        <a:solidFill>
                          <a:srgbClr val="000000"/>
                        </a:solidFill>
                        <a:effectLst/>
                        <a:latin typeface="Calibri" panose="020F0502020204030204" pitchFamily="34" charset="0"/>
                      </a:endParaRPr>
                    </a:p>
                  </a:txBody>
                  <a:tcPr marL="16840" marR="16840" marT="16840" marB="0" anchor="b"/>
                </a:tc>
                <a:extLst>
                  <a:ext uri="{0D108BD9-81ED-4DB2-BD59-A6C34878D82A}">
                    <a16:rowId xmlns:a16="http://schemas.microsoft.com/office/drawing/2014/main" val="3358498717"/>
                  </a:ext>
                </a:extLst>
              </a:tr>
              <a:tr h="461975">
                <a:tc>
                  <a:txBody>
                    <a:bodyPr/>
                    <a:lstStyle/>
                    <a:p>
                      <a:pPr algn="l" fontAlgn="b"/>
                      <a:endParaRPr lang="es-GT" sz="1900" b="1" i="0" u="none" strike="noStrike">
                        <a:solidFill>
                          <a:srgbClr val="000000"/>
                        </a:solidFill>
                        <a:effectLst/>
                        <a:latin typeface="Calibri" panose="020F0502020204030204" pitchFamily="34" charset="0"/>
                      </a:endParaRPr>
                    </a:p>
                  </a:txBody>
                  <a:tcPr marL="16840" marR="16840" marT="16840" marB="0" anchor="b"/>
                </a:tc>
                <a:tc>
                  <a:txBody>
                    <a:bodyPr/>
                    <a:lstStyle/>
                    <a:p>
                      <a:pPr algn="l" fontAlgn="b"/>
                      <a:endParaRPr lang="es-GT" sz="1900" b="1" i="0" u="none" strike="noStrike">
                        <a:solidFill>
                          <a:srgbClr val="000000"/>
                        </a:solidFill>
                        <a:effectLst/>
                        <a:latin typeface="Calibri" panose="020F0502020204030204" pitchFamily="34" charset="0"/>
                      </a:endParaRPr>
                    </a:p>
                  </a:txBody>
                  <a:tcPr marL="16840" marR="16840" marT="16840" marB="0" anchor="b"/>
                </a:tc>
                <a:tc>
                  <a:txBody>
                    <a:bodyPr/>
                    <a:lstStyle/>
                    <a:p>
                      <a:pPr algn="ctr" fontAlgn="b"/>
                      <a:r>
                        <a:rPr lang="es-GT" sz="1900" b="1" u="none" strike="noStrike">
                          <a:effectLst/>
                        </a:rPr>
                        <a:t>100</a:t>
                      </a:r>
                      <a:endParaRPr lang="es-GT" sz="1900" b="1" i="0" u="none" strike="noStrike">
                        <a:solidFill>
                          <a:srgbClr val="000000"/>
                        </a:solidFill>
                        <a:effectLst/>
                        <a:latin typeface="Calibri" panose="020F0502020204030204" pitchFamily="34" charset="0"/>
                      </a:endParaRPr>
                    </a:p>
                  </a:txBody>
                  <a:tcPr marL="16840" marR="16840" marT="16840" marB="0" anchor="b"/>
                </a:tc>
                <a:tc>
                  <a:txBody>
                    <a:bodyPr/>
                    <a:lstStyle/>
                    <a:p>
                      <a:pPr algn="ctr" fontAlgn="b"/>
                      <a:r>
                        <a:rPr lang="es-GT" sz="1900" b="1" u="none" strike="noStrike" dirty="0">
                          <a:effectLst/>
                        </a:rPr>
                        <a:t>1879</a:t>
                      </a:r>
                      <a:endParaRPr lang="es-GT" sz="1900" b="1" i="0" u="none" strike="noStrike" dirty="0">
                        <a:solidFill>
                          <a:srgbClr val="000000"/>
                        </a:solidFill>
                        <a:effectLst/>
                        <a:latin typeface="Calibri" panose="020F0502020204030204" pitchFamily="34" charset="0"/>
                      </a:endParaRPr>
                    </a:p>
                  </a:txBody>
                  <a:tcPr marL="16840" marR="16840" marT="16840" marB="0" anchor="b"/>
                </a:tc>
                <a:extLst>
                  <a:ext uri="{0D108BD9-81ED-4DB2-BD59-A6C34878D82A}">
                    <a16:rowId xmlns:a16="http://schemas.microsoft.com/office/drawing/2014/main" val="2687354863"/>
                  </a:ext>
                </a:extLst>
              </a:tr>
            </a:tbl>
          </a:graphicData>
        </a:graphic>
      </p:graphicFrame>
    </p:spTree>
    <p:extLst>
      <p:ext uri="{BB962C8B-B14F-4D97-AF65-F5344CB8AC3E}">
        <p14:creationId xmlns:p14="http://schemas.microsoft.com/office/powerpoint/2010/main" val="40700289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8FC1A74-2890-483E-B414-BC31F8359C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F86A2EF6-5BDA-476A-943C-82D4C0EBEA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5" cy="2284214"/>
          </a:xfrm>
          <a:prstGeom prst="rect">
            <a:avLst/>
          </a:prstGeom>
          <a:ln>
            <a:noFill/>
          </a:ln>
        </p:spPr>
        <p:style>
          <a:lnRef idx="2">
            <a:schemeClr val="accent1">
              <a:shade val="50000"/>
            </a:schemeClr>
          </a:lnRef>
          <a:fillRef idx="1003">
            <a:schemeClr val="lt2"/>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85EE41E-2933-494F-A13E-9ACC70D3A6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84214"/>
          </a:xfrm>
          <a:prstGeom prst="rect">
            <a:avLst/>
          </a:prstGeom>
          <a:blipFill dpi="0" rotWithShape="1">
            <a:blip r:embed="rId2"/>
            <a:srcRect/>
            <a:tile tx="0" ty="0" sx="100000" sy="100000" flip="none" algn="tl"/>
          </a:blip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D2AA1C21-100D-4D10-B79A-A9F6072E25C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b="66684"/>
          <a:stretch/>
        </p:blipFill>
        <p:spPr>
          <a:xfrm>
            <a:off x="3175" y="0"/>
            <a:ext cx="12188825" cy="2284214"/>
          </a:xfrm>
          <a:prstGeom prst="rect">
            <a:avLst/>
          </a:prstGeom>
        </p:spPr>
      </p:pic>
      <p:sp>
        <p:nvSpPr>
          <p:cNvPr id="2" name="Título 1">
            <a:extLst>
              <a:ext uri="{FF2B5EF4-FFF2-40B4-BE49-F238E27FC236}">
                <a16:creationId xmlns:a16="http://schemas.microsoft.com/office/drawing/2014/main" id="{E2B99845-0BFE-D07E-08FA-63FD6ADDB711}"/>
              </a:ext>
            </a:extLst>
          </p:cNvPr>
          <p:cNvSpPr>
            <a:spLocks noGrp="1"/>
          </p:cNvSpPr>
          <p:nvPr>
            <p:ph type="title"/>
          </p:nvPr>
        </p:nvSpPr>
        <p:spPr>
          <a:xfrm>
            <a:off x="1028700" y="653142"/>
            <a:ext cx="10131425" cy="1219200"/>
          </a:xfrm>
        </p:spPr>
        <p:txBody>
          <a:bodyPr>
            <a:normAutofit/>
          </a:bodyPr>
          <a:lstStyle/>
          <a:p>
            <a:pPr algn="ctr"/>
            <a:r>
              <a:rPr lang="es-ES" sz="4400">
                <a:solidFill>
                  <a:srgbClr val="FFFFFF"/>
                </a:solidFill>
              </a:rPr>
              <a:t>COMPROBACIÓN:</a:t>
            </a:r>
            <a:endParaRPr lang="es-GT" sz="4400">
              <a:solidFill>
                <a:srgbClr val="FFFFFF"/>
              </a:solidFill>
            </a:endParaRPr>
          </a:p>
        </p:txBody>
      </p:sp>
      <p:graphicFrame>
        <p:nvGraphicFramePr>
          <p:cNvPr id="4" name="Marcador de contenido 3">
            <a:extLst>
              <a:ext uri="{FF2B5EF4-FFF2-40B4-BE49-F238E27FC236}">
                <a16:creationId xmlns:a16="http://schemas.microsoft.com/office/drawing/2014/main" id="{E8DD1BC5-C25E-2B8D-4A44-F24B136AACBB}"/>
              </a:ext>
            </a:extLst>
          </p:cNvPr>
          <p:cNvGraphicFramePr>
            <a:graphicFrameLocks noGrp="1"/>
          </p:cNvGraphicFramePr>
          <p:nvPr>
            <p:ph idx="1"/>
            <p:extLst>
              <p:ext uri="{D42A27DB-BD31-4B8C-83A1-F6EECF244321}">
                <p14:modId xmlns:p14="http://schemas.microsoft.com/office/powerpoint/2010/main" val="2512003469"/>
              </p:ext>
            </p:extLst>
          </p:nvPr>
        </p:nvGraphicFramePr>
        <p:xfrm>
          <a:off x="1633262" y="2284214"/>
          <a:ext cx="8922303" cy="4061499"/>
        </p:xfrm>
        <a:graphic>
          <a:graphicData uri="http://schemas.openxmlformats.org/drawingml/2006/table">
            <a:tbl>
              <a:tblPr firstRow="1" bandRow="1"/>
              <a:tblGrid>
                <a:gridCol w="4047697">
                  <a:extLst>
                    <a:ext uri="{9D8B030D-6E8A-4147-A177-3AD203B41FA5}">
                      <a16:colId xmlns:a16="http://schemas.microsoft.com/office/drawing/2014/main" val="3673255857"/>
                    </a:ext>
                  </a:extLst>
                </a:gridCol>
                <a:gridCol w="2537851">
                  <a:extLst>
                    <a:ext uri="{9D8B030D-6E8A-4147-A177-3AD203B41FA5}">
                      <a16:colId xmlns:a16="http://schemas.microsoft.com/office/drawing/2014/main" val="2709450226"/>
                    </a:ext>
                  </a:extLst>
                </a:gridCol>
                <a:gridCol w="2336755">
                  <a:extLst>
                    <a:ext uri="{9D8B030D-6E8A-4147-A177-3AD203B41FA5}">
                      <a16:colId xmlns:a16="http://schemas.microsoft.com/office/drawing/2014/main" val="793404863"/>
                    </a:ext>
                  </a:extLst>
                </a:gridCol>
              </a:tblGrid>
              <a:tr h="311078">
                <a:tc>
                  <a:txBody>
                    <a:bodyPr/>
                    <a:lstStyle/>
                    <a:p>
                      <a:pPr algn="l" fontAlgn="b">
                        <a:spcBef>
                          <a:spcPts val="0"/>
                        </a:spcBef>
                        <a:spcAft>
                          <a:spcPts val="0"/>
                        </a:spcAft>
                      </a:pPr>
                      <a:r>
                        <a:rPr lang="es-GT" sz="2000" b="1" i="0" u="none" strike="noStrike" dirty="0">
                          <a:solidFill>
                            <a:srgbClr val="000000"/>
                          </a:solidFill>
                          <a:effectLst/>
                          <a:latin typeface="Calibri" panose="020F0502020204030204" pitchFamily="34" charset="0"/>
                        </a:rPr>
                        <a:t>Ingresos:</a:t>
                      </a:r>
                      <a:endParaRPr lang="es-GT" sz="2000" b="1" i="0" u="none" strike="noStrike" dirty="0">
                        <a:effectLst/>
                        <a:latin typeface="Arial" panose="020B0604020202020204" pitchFamily="34" charset="0"/>
                      </a:endParaRPr>
                    </a:p>
                  </a:txBody>
                  <a:tcPr marL="7623" marR="7623" marT="7623"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spcBef>
                          <a:spcPts val="0"/>
                        </a:spcBef>
                        <a:spcAft>
                          <a:spcPts val="0"/>
                        </a:spcAft>
                      </a:pPr>
                      <a:endParaRPr lang="es-GT" sz="2000" b="1" i="0" u="none" strike="noStrike">
                        <a:effectLst/>
                        <a:latin typeface="Arial" panose="020B0604020202020204" pitchFamily="34" charset="0"/>
                      </a:endParaRPr>
                    </a:p>
                  </a:txBody>
                  <a:tcPr marL="7623" marR="7623" marT="7623"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spcBef>
                          <a:spcPts val="0"/>
                        </a:spcBef>
                        <a:spcAft>
                          <a:spcPts val="0"/>
                        </a:spcAft>
                      </a:pPr>
                      <a:endParaRPr lang="es-GT" sz="2000" b="1" i="0" u="none" strike="noStrike">
                        <a:effectLst/>
                        <a:latin typeface="Arial" panose="020B0604020202020204" pitchFamily="34" charset="0"/>
                      </a:endParaRPr>
                    </a:p>
                  </a:txBody>
                  <a:tcPr marL="7623" marR="7623" marT="7623"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37081263"/>
                  </a:ext>
                </a:extLst>
              </a:tr>
              <a:tr h="311078">
                <a:tc>
                  <a:txBody>
                    <a:bodyPr/>
                    <a:lstStyle/>
                    <a:p>
                      <a:pPr algn="ctr" fontAlgn="b">
                        <a:spcBef>
                          <a:spcPts val="0"/>
                        </a:spcBef>
                        <a:spcAft>
                          <a:spcPts val="0"/>
                        </a:spcAft>
                      </a:pPr>
                      <a:r>
                        <a:rPr lang="es-GT" sz="2000" b="1" i="0" u="none" strike="noStrike" dirty="0">
                          <a:solidFill>
                            <a:srgbClr val="000000"/>
                          </a:solidFill>
                          <a:effectLst/>
                          <a:latin typeface="Calibri" panose="020F0502020204030204" pitchFamily="34" charset="0"/>
                        </a:rPr>
                        <a:t>Paquete Libros Matemáticas</a:t>
                      </a:r>
                      <a:endParaRPr lang="es-GT" sz="2000" b="1" i="0" u="none" strike="noStrike" dirty="0">
                        <a:effectLst/>
                        <a:latin typeface="Arial" panose="020B0604020202020204" pitchFamily="34" charset="0"/>
                      </a:endParaRPr>
                    </a:p>
                  </a:txBody>
                  <a:tcPr marL="7623" marR="7623" marT="76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spcBef>
                          <a:spcPts val="0"/>
                        </a:spcBef>
                        <a:spcAft>
                          <a:spcPts val="0"/>
                        </a:spcAft>
                      </a:pPr>
                      <a:r>
                        <a:rPr lang="es-GT" sz="2000" b="1" i="0" u="none" strike="noStrike">
                          <a:solidFill>
                            <a:srgbClr val="000000"/>
                          </a:solidFill>
                          <a:effectLst/>
                          <a:latin typeface="Calibri" panose="020F0502020204030204" pitchFamily="34" charset="0"/>
                        </a:rPr>
                        <a:t> Q              319,950.00 </a:t>
                      </a:r>
                      <a:endParaRPr lang="es-GT" sz="2000" b="1" i="0" u="none" strike="noStrike">
                        <a:effectLst/>
                        <a:latin typeface="Arial" panose="020B0604020202020204" pitchFamily="34" charset="0"/>
                      </a:endParaRPr>
                    </a:p>
                  </a:txBody>
                  <a:tcPr marL="7623" marR="7623" marT="76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spcBef>
                          <a:spcPts val="0"/>
                        </a:spcBef>
                        <a:spcAft>
                          <a:spcPts val="0"/>
                        </a:spcAft>
                      </a:pPr>
                      <a:r>
                        <a:rPr lang="es-GT" sz="2000" b="1" i="0" u="none" strike="noStrike">
                          <a:solidFill>
                            <a:srgbClr val="000000"/>
                          </a:solidFill>
                          <a:effectLst/>
                          <a:latin typeface="Calibri" panose="020F0502020204030204" pitchFamily="34" charset="0"/>
                        </a:rPr>
                        <a:t> </a:t>
                      </a:r>
                      <a:endParaRPr lang="es-GT" sz="2000" b="1" i="0" u="none" strike="noStrike">
                        <a:effectLst/>
                        <a:latin typeface="Arial" panose="020B0604020202020204" pitchFamily="34" charset="0"/>
                      </a:endParaRPr>
                    </a:p>
                  </a:txBody>
                  <a:tcPr marL="7623" marR="7623" marT="76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09697521"/>
                  </a:ext>
                </a:extLst>
              </a:tr>
              <a:tr h="311078">
                <a:tc>
                  <a:txBody>
                    <a:bodyPr/>
                    <a:lstStyle/>
                    <a:p>
                      <a:pPr algn="ctr" fontAlgn="b">
                        <a:spcBef>
                          <a:spcPts val="0"/>
                        </a:spcBef>
                        <a:spcAft>
                          <a:spcPts val="0"/>
                        </a:spcAft>
                      </a:pPr>
                      <a:r>
                        <a:rPr lang="es-GT" sz="2000" b="1" i="0" u="none" strike="noStrike">
                          <a:solidFill>
                            <a:srgbClr val="000000"/>
                          </a:solidFill>
                          <a:effectLst/>
                          <a:latin typeface="Calibri" panose="020F0502020204030204" pitchFamily="34" charset="0"/>
                        </a:rPr>
                        <a:t>Paquete Libros Idioma Español</a:t>
                      </a:r>
                      <a:endParaRPr lang="es-GT" sz="2000" b="1" i="0" u="none" strike="noStrike">
                        <a:effectLst/>
                        <a:latin typeface="Arial" panose="020B0604020202020204" pitchFamily="34" charset="0"/>
                      </a:endParaRPr>
                    </a:p>
                  </a:txBody>
                  <a:tcPr marL="7623" marR="7623" marT="76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spcBef>
                          <a:spcPts val="0"/>
                        </a:spcBef>
                        <a:spcAft>
                          <a:spcPts val="0"/>
                        </a:spcAft>
                      </a:pPr>
                      <a:r>
                        <a:rPr lang="es-GT" sz="2000" b="1" i="0" u="none" strike="noStrike">
                          <a:solidFill>
                            <a:srgbClr val="000000"/>
                          </a:solidFill>
                          <a:effectLst/>
                          <a:latin typeface="Calibri" panose="020F0502020204030204" pitchFamily="34" charset="0"/>
                        </a:rPr>
                        <a:t> Q              167,700.00 </a:t>
                      </a:r>
                      <a:endParaRPr lang="es-GT" sz="2000" b="1" i="0" u="none" strike="noStrike">
                        <a:effectLst/>
                        <a:latin typeface="Arial" panose="020B0604020202020204" pitchFamily="34" charset="0"/>
                      </a:endParaRPr>
                    </a:p>
                  </a:txBody>
                  <a:tcPr marL="7623" marR="7623" marT="76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spcBef>
                          <a:spcPts val="0"/>
                        </a:spcBef>
                        <a:spcAft>
                          <a:spcPts val="0"/>
                        </a:spcAft>
                      </a:pPr>
                      <a:r>
                        <a:rPr lang="es-GT" sz="2000" b="1" i="0" u="none" strike="noStrike">
                          <a:solidFill>
                            <a:srgbClr val="000000"/>
                          </a:solidFill>
                          <a:effectLst/>
                          <a:latin typeface="Calibri" panose="020F0502020204030204" pitchFamily="34" charset="0"/>
                        </a:rPr>
                        <a:t> </a:t>
                      </a:r>
                      <a:endParaRPr lang="es-GT" sz="2000" b="1" i="0" u="none" strike="noStrike">
                        <a:effectLst/>
                        <a:latin typeface="Arial" panose="020B0604020202020204" pitchFamily="34" charset="0"/>
                      </a:endParaRPr>
                    </a:p>
                  </a:txBody>
                  <a:tcPr marL="7623" marR="7623" marT="76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96553459"/>
                  </a:ext>
                </a:extLst>
              </a:tr>
              <a:tr h="311078">
                <a:tc>
                  <a:txBody>
                    <a:bodyPr/>
                    <a:lstStyle/>
                    <a:p>
                      <a:pPr algn="ctr" fontAlgn="b">
                        <a:spcBef>
                          <a:spcPts val="0"/>
                        </a:spcBef>
                        <a:spcAft>
                          <a:spcPts val="0"/>
                        </a:spcAft>
                      </a:pPr>
                      <a:r>
                        <a:rPr lang="es-GT" sz="2000" b="1" i="0" u="none" strike="noStrike" dirty="0">
                          <a:solidFill>
                            <a:srgbClr val="000000"/>
                          </a:solidFill>
                          <a:effectLst/>
                          <a:latin typeface="Calibri" panose="020F0502020204030204" pitchFamily="34" charset="0"/>
                        </a:rPr>
                        <a:t>Paquete Libros Medio Natural</a:t>
                      </a:r>
                      <a:endParaRPr lang="es-GT" sz="2000" b="1" i="0" u="none" strike="noStrike" dirty="0">
                        <a:effectLst/>
                        <a:latin typeface="Arial" panose="020B0604020202020204" pitchFamily="34" charset="0"/>
                      </a:endParaRPr>
                    </a:p>
                  </a:txBody>
                  <a:tcPr marL="7623" marR="7623" marT="76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spcBef>
                          <a:spcPts val="0"/>
                        </a:spcBef>
                        <a:spcAft>
                          <a:spcPts val="0"/>
                        </a:spcAft>
                      </a:pPr>
                      <a:r>
                        <a:rPr lang="es-GT" sz="2000" b="1" i="0" u="none" strike="noStrike">
                          <a:solidFill>
                            <a:srgbClr val="000000"/>
                          </a:solidFill>
                          <a:effectLst/>
                          <a:latin typeface="Calibri" panose="020F0502020204030204" pitchFamily="34" charset="0"/>
                        </a:rPr>
                        <a:t> Q              197,925.00 </a:t>
                      </a:r>
                      <a:endParaRPr lang="es-GT" sz="2000" b="1" i="0" u="none" strike="noStrike">
                        <a:effectLst/>
                        <a:latin typeface="Arial" panose="020B0604020202020204" pitchFamily="34" charset="0"/>
                      </a:endParaRPr>
                    </a:p>
                  </a:txBody>
                  <a:tcPr marL="7623" marR="7623" marT="76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spcBef>
                          <a:spcPts val="0"/>
                        </a:spcBef>
                        <a:spcAft>
                          <a:spcPts val="0"/>
                        </a:spcAft>
                      </a:pPr>
                      <a:r>
                        <a:rPr lang="es-GT" sz="2000" b="1" i="0" u="none" strike="noStrike">
                          <a:solidFill>
                            <a:srgbClr val="000000"/>
                          </a:solidFill>
                          <a:effectLst/>
                          <a:latin typeface="Calibri" panose="020F0502020204030204" pitchFamily="34" charset="0"/>
                        </a:rPr>
                        <a:t> </a:t>
                      </a:r>
                      <a:endParaRPr lang="es-GT" sz="2000" b="1" i="0" u="none" strike="noStrike">
                        <a:effectLst/>
                        <a:latin typeface="Arial" panose="020B0604020202020204" pitchFamily="34" charset="0"/>
                      </a:endParaRPr>
                    </a:p>
                  </a:txBody>
                  <a:tcPr marL="7623" marR="7623" marT="76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04746036"/>
                  </a:ext>
                </a:extLst>
              </a:tr>
              <a:tr h="311078">
                <a:tc>
                  <a:txBody>
                    <a:bodyPr/>
                    <a:lstStyle/>
                    <a:p>
                      <a:pPr algn="ctr" fontAlgn="b">
                        <a:spcBef>
                          <a:spcPts val="0"/>
                        </a:spcBef>
                        <a:spcAft>
                          <a:spcPts val="0"/>
                        </a:spcAft>
                      </a:pPr>
                      <a:r>
                        <a:rPr lang="es-GT" sz="2000" b="1" i="0" u="none" strike="noStrike">
                          <a:solidFill>
                            <a:srgbClr val="000000"/>
                          </a:solidFill>
                          <a:effectLst/>
                          <a:latin typeface="Calibri" panose="020F0502020204030204" pitchFamily="34" charset="0"/>
                        </a:rPr>
                        <a:t>Total</a:t>
                      </a:r>
                      <a:endParaRPr lang="es-GT" sz="2000" b="1" i="0" u="none" strike="noStrike">
                        <a:effectLst/>
                        <a:latin typeface="Arial" panose="020B0604020202020204" pitchFamily="34" charset="0"/>
                      </a:endParaRPr>
                    </a:p>
                  </a:txBody>
                  <a:tcPr marL="7623" marR="7623" marT="76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spcBef>
                          <a:spcPts val="0"/>
                        </a:spcBef>
                        <a:spcAft>
                          <a:spcPts val="0"/>
                        </a:spcAft>
                      </a:pPr>
                      <a:r>
                        <a:rPr lang="es-GT" sz="2000" b="1" i="0" u="none" strike="noStrike" dirty="0">
                          <a:solidFill>
                            <a:srgbClr val="000000"/>
                          </a:solidFill>
                          <a:effectLst/>
                          <a:latin typeface="Calibri" panose="020F0502020204030204" pitchFamily="34" charset="0"/>
                        </a:rPr>
                        <a:t> </a:t>
                      </a:r>
                      <a:endParaRPr lang="es-GT" sz="2000" b="1" i="0" u="none" strike="noStrike" dirty="0">
                        <a:effectLst/>
                        <a:latin typeface="Arial" panose="020B0604020202020204" pitchFamily="34" charset="0"/>
                      </a:endParaRPr>
                    </a:p>
                  </a:txBody>
                  <a:tcPr marL="7623" marR="7623" marT="76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spcBef>
                          <a:spcPts val="0"/>
                        </a:spcBef>
                        <a:spcAft>
                          <a:spcPts val="0"/>
                        </a:spcAft>
                      </a:pPr>
                      <a:r>
                        <a:rPr lang="es-GT" sz="2000" b="1" i="0" u="none" strike="noStrike">
                          <a:solidFill>
                            <a:srgbClr val="000000"/>
                          </a:solidFill>
                          <a:effectLst/>
                          <a:latin typeface="Calibri" panose="020F0502020204030204" pitchFamily="34" charset="0"/>
                        </a:rPr>
                        <a:t> Q      685,575.00 </a:t>
                      </a:r>
                      <a:endParaRPr lang="es-GT" sz="2000" b="1" i="0" u="none" strike="noStrike">
                        <a:effectLst/>
                        <a:latin typeface="Arial" panose="020B0604020202020204" pitchFamily="34" charset="0"/>
                      </a:endParaRPr>
                    </a:p>
                  </a:txBody>
                  <a:tcPr marL="7623" marR="7623" marT="76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68776312"/>
                  </a:ext>
                </a:extLst>
              </a:tr>
              <a:tr h="311078">
                <a:tc>
                  <a:txBody>
                    <a:bodyPr/>
                    <a:lstStyle/>
                    <a:p>
                      <a:pPr algn="ctr" fontAlgn="b">
                        <a:spcBef>
                          <a:spcPts val="0"/>
                        </a:spcBef>
                        <a:spcAft>
                          <a:spcPts val="0"/>
                        </a:spcAft>
                      </a:pPr>
                      <a:r>
                        <a:rPr lang="es-GT" sz="2000" b="1" i="0" u="none" strike="noStrike">
                          <a:solidFill>
                            <a:srgbClr val="000000"/>
                          </a:solidFill>
                          <a:effectLst/>
                          <a:latin typeface="Calibri" panose="020F0502020204030204" pitchFamily="34" charset="0"/>
                        </a:rPr>
                        <a:t>- Costos variables</a:t>
                      </a:r>
                      <a:endParaRPr lang="es-GT" sz="2000" b="1" i="0" u="none" strike="noStrike">
                        <a:effectLst/>
                        <a:latin typeface="Arial" panose="020B0604020202020204" pitchFamily="34" charset="0"/>
                      </a:endParaRPr>
                    </a:p>
                  </a:txBody>
                  <a:tcPr marL="7623" marR="7623" marT="76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spcBef>
                          <a:spcPts val="0"/>
                        </a:spcBef>
                        <a:spcAft>
                          <a:spcPts val="0"/>
                        </a:spcAft>
                      </a:pPr>
                      <a:r>
                        <a:rPr lang="es-GT" sz="2000" b="1" i="0" u="none" strike="noStrike" dirty="0">
                          <a:solidFill>
                            <a:srgbClr val="000000"/>
                          </a:solidFill>
                          <a:effectLst/>
                          <a:latin typeface="Calibri" panose="020F0502020204030204" pitchFamily="34" charset="0"/>
                        </a:rPr>
                        <a:t> </a:t>
                      </a:r>
                      <a:endParaRPr lang="es-GT" sz="2000" b="1" i="0" u="none" strike="noStrike" dirty="0">
                        <a:effectLst/>
                        <a:latin typeface="Arial" panose="020B0604020202020204" pitchFamily="34" charset="0"/>
                      </a:endParaRPr>
                    </a:p>
                  </a:txBody>
                  <a:tcPr marL="7623" marR="7623" marT="76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spcBef>
                          <a:spcPts val="0"/>
                        </a:spcBef>
                        <a:spcAft>
                          <a:spcPts val="0"/>
                        </a:spcAft>
                      </a:pPr>
                      <a:r>
                        <a:rPr lang="es-GT" sz="2000" b="1" i="0" u="none" strike="noStrike">
                          <a:solidFill>
                            <a:srgbClr val="000000"/>
                          </a:solidFill>
                          <a:effectLst/>
                          <a:latin typeface="Calibri" panose="020F0502020204030204" pitchFamily="34" charset="0"/>
                        </a:rPr>
                        <a:t> </a:t>
                      </a:r>
                      <a:endParaRPr lang="es-GT" sz="2000" b="1" i="0" u="none" strike="noStrike">
                        <a:effectLst/>
                        <a:latin typeface="Arial" panose="020B0604020202020204" pitchFamily="34" charset="0"/>
                      </a:endParaRPr>
                    </a:p>
                  </a:txBody>
                  <a:tcPr marL="7623" marR="7623" marT="76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20272276"/>
                  </a:ext>
                </a:extLst>
              </a:tr>
              <a:tr h="311078">
                <a:tc>
                  <a:txBody>
                    <a:bodyPr/>
                    <a:lstStyle/>
                    <a:p>
                      <a:pPr algn="ctr" fontAlgn="b">
                        <a:spcBef>
                          <a:spcPts val="0"/>
                        </a:spcBef>
                        <a:spcAft>
                          <a:spcPts val="0"/>
                        </a:spcAft>
                      </a:pPr>
                      <a:r>
                        <a:rPr lang="es-GT" sz="2000" b="1" i="0" u="none" strike="noStrike">
                          <a:solidFill>
                            <a:srgbClr val="000000"/>
                          </a:solidFill>
                          <a:effectLst/>
                          <a:latin typeface="Calibri" panose="020F0502020204030204" pitchFamily="34" charset="0"/>
                        </a:rPr>
                        <a:t>Paquete Libros Matemáticas</a:t>
                      </a:r>
                      <a:endParaRPr lang="es-GT" sz="2000" b="1" i="0" u="none" strike="noStrike">
                        <a:effectLst/>
                        <a:latin typeface="Arial" panose="020B0604020202020204" pitchFamily="34" charset="0"/>
                      </a:endParaRPr>
                    </a:p>
                  </a:txBody>
                  <a:tcPr marL="7623" marR="7623" marT="76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spcBef>
                          <a:spcPts val="0"/>
                        </a:spcBef>
                        <a:spcAft>
                          <a:spcPts val="0"/>
                        </a:spcAft>
                      </a:pPr>
                      <a:r>
                        <a:rPr lang="es-GT" sz="2000" b="1" i="0" u="none" strike="noStrike">
                          <a:solidFill>
                            <a:srgbClr val="000000"/>
                          </a:solidFill>
                          <a:effectLst/>
                          <a:latin typeface="Calibri" panose="020F0502020204030204" pitchFamily="34" charset="0"/>
                        </a:rPr>
                        <a:t> Q              231,075.00 </a:t>
                      </a:r>
                      <a:endParaRPr lang="es-GT" sz="2000" b="1" i="0" u="none" strike="noStrike">
                        <a:effectLst/>
                        <a:latin typeface="Arial" panose="020B0604020202020204" pitchFamily="34" charset="0"/>
                      </a:endParaRPr>
                    </a:p>
                  </a:txBody>
                  <a:tcPr marL="7623" marR="7623" marT="76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spcBef>
                          <a:spcPts val="0"/>
                        </a:spcBef>
                        <a:spcAft>
                          <a:spcPts val="0"/>
                        </a:spcAft>
                      </a:pPr>
                      <a:r>
                        <a:rPr lang="es-GT" sz="2000" b="1" i="0" u="none" strike="noStrike" dirty="0">
                          <a:solidFill>
                            <a:srgbClr val="000000"/>
                          </a:solidFill>
                          <a:effectLst/>
                          <a:latin typeface="Calibri" panose="020F0502020204030204" pitchFamily="34" charset="0"/>
                        </a:rPr>
                        <a:t> </a:t>
                      </a:r>
                      <a:endParaRPr lang="es-GT" sz="2000" b="1" i="0" u="none" strike="noStrike" dirty="0">
                        <a:effectLst/>
                        <a:latin typeface="Arial" panose="020B0604020202020204" pitchFamily="34" charset="0"/>
                      </a:endParaRPr>
                    </a:p>
                  </a:txBody>
                  <a:tcPr marL="7623" marR="7623" marT="76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69592515"/>
                  </a:ext>
                </a:extLst>
              </a:tr>
              <a:tr h="311078">
                <a:tc>
                  <a:txBody>
                    <a:bodyPr/>
                    <a:lstStyle/>
                    <a:p>
                      <a:pPr algn="ctr" fontAlgn="b">
                        <a:spcBef>
                          <a:spcPts val="0"/>
                        </a:spcBef>
                        <a:spcAft>
                          <a:spcPts val="0"/>
                        </a:spcAft>
                      </a:pPr>
                      <a:r>
                        <a:rPr lang="es-GT" sz="2000" b="1" i="0" u="none" strike="noStrike">
                          <a:solidFill>
                            <a:srgbClr val="000000"/>
                          </a:solidFill>
                          <a:effectLst/>
                          <a:latin typeface="Calibri" panose="020F0502020204030204" pitchFamily="34" charset="0"/>
                        </a:rPr>
                        <a:t>Paquete Libros Idioma Español</a:t>
                      </a:r>
                      <a:endParaRPr lang="es-GT" sz="2000" b="1" i="0" u="none" strike="noStrike">
                        <a:effectLst/>
                        <a:latin typeface="Arial" panose="020B0604020202020204" pitchFamily="34" charset="0"/>
                      </a:endParaRPr>
                    </a:p>
                  </a:txBody>
                  <a:tcPr marL="7623" marR="7623" marT="76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spcBef>
                          <a:spcPts val="0"/>
                        </a:spcBef>
                        <a:spcAft>
                          <a:spcPts val="0"/>
                        </a:spcAft>
                      </a:pPr>
                      <a:r>
                        <a:rPr lang="es-GT" sz="2000" b="1" i="0" u="none" strike="noStrike">
                          <a:solidFill>
                            <a:srgbClr val="000000"/>
                          </a:solidFill>
                          <a:effectLst/>
                          <a:latin typeface="Calibri" panose="020F0502020204030204" pitchFamily="34" charset="0"/>
                        </a:rPr>
                        <a:t> Q              117,390.00 </a:t>
                      </a:r>
                      <a:endParaRPr lang="es-GT" sz="2000" b="1" i="0" u="none" strike="noStrike">
                        <a:effectLst/>
                        <a:latin typeface="Arial" panose="020B0604020202020204" pitchFamily="34" charset="0"/>
                      </a:endParaRPr>
                    </a:p>
                  </a:txBody>
                  <a:tcPr marL="7623" marR="7623" marT="76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spcBef>
                          <a:spcPts val="0"/>
                        </a:spcBef>
                        <a:spcAft>
                          <a:spcPts val="0"/>
                        </a:spcAft>
                      </a:pPr>
                      <a:r>
                        <a:rPr lang="es-GT" sz="2000" b="1" i="0" u="none" strike="noStrike">
                          <a:solidFill>
                            <a:srgbClr val="000000"/>
                          </a:solidFill>
                          <a:effectLst/>
                          <a:latin typeface="Calibri" panose="020F0502020204030204" pitchFamily="34" charset="0"/>
                        </a:rPr>
                        <a:t> </a:t>
                      </a:r>
                      <a:endParaRPr lang="es-GT" sz="2000" b="1" i="0" u="none" strike="noStrike">
                        <a:effectLst/>
                        <a:latin typeface="Arial" panose="020B0604020202020204" pitchFamily="34" charset="0"/>
                      </a:endParaRPr>
                    </a:p>
                  </a:txBody>
                  <a:tcPr marL="7623" marR="7623" marT="76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773287"/>
                  </a:ext>
                </a:extLst>
              </a:tr>
              <a:tr h="311078">
                <a:tc>
                  <a:txBody>
                    <a:bodyPr/>
                    <a:lstStyle/>
                    <a:p>
                      <a:pPr algn="ctr" fontAlgn="b">
                        <a:spcBef>
                          <a:spcPts val="0"/>
                        </a:spcBef>
                        <a:spcAft>
                          <a:spcPts val="0"/>
                        </a:spcAft>
                      </a:pPr>
                      <a:r>
                        <a:rPr lang="es-GT" sz="2000" b="1" i="0" u="none" strike="noStrike">
                          <a:solidFill>
                            <a:srgbClr val="000000"/>
                          </a:solidFill>
                          <a:effectLst/>
                          <a:latin typeface="Calibri" panose="020F0502020204030204" pitchFamily="34" charset="0"/>
                        </a:rPr>
                        <a:t>Paquete Libros Medio Natural</a:t>
                      </a:r>
                      <a:endParaRPr lang="es-GT" sz="2000" b="1" i="0" u="none" strike="noStrike">
                        <a:effectLst/>
                        <a:latin typeface="Arial" panose="020B0604020202020204" pitchFamily="34" charset="0"/>
                      </a:endParaRPr>
                    </a:p>
                  </a:txBody>
                  <a:tcPr marL="7623" marR="7623" marT="76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spcBef>
                          <a:spcPts val="0"/>
                        </a:spcBef>
                        <a:spcAft>
                          <a:spcPts val="0"/>
                        </a:spcAft>
                      </a:pPr>
                      <a:r>
                        <a:rPr lang="es-GT" sz="2000" b="1" i="0" u="none" strike="noStrike">
                          <a:solidFill>
                            <a:srgbClr val="000000"/>
                          </a:solidFill>
                          <a:effectLst/>
                          <a:latin typeface="Calibri" panose="020F0502020204030204" pitchFamily="34" charset="0"/>
                        </a:rPr>
                        <a:t> Q              137,025.00 </a:t>
                      </a:r>
                      <a:endParaRPr lang="es-GT" sz="2000" b="1" i="0" u="none" strike="noStrike">
                        <a:effectLst/>
                        <a:latin typeface="Arial" panose="020B0604020202020204" pitchFamily="34" charset="0"/>
                      </a:endParaRPr>
                    </a:p>
                  </a:txBody>
                  <a:tcPr marL="7623" marR="7623" marT="76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spcBef>
                          <a:spcPts val="0"/>
                        </a:spcBef>
                        <a:spcAft>
                          <a:spcPts val="0"/>
                        </a:spcAft>
                      </a:pPr>
                      <a:r>
                        <a:rPr lang="es-GT" sz="2000" b="1" i="0" u="none" strike="noStrike" dirty="0">
                          <a:solidFill>
                            <a:srgbClr val="000000"/>
                          </a:solidFill>
                          <a:effectLst/>
                          <a:latin typeface="Calibri" panose="020F0502020204030204" pitchFamily="34" charset="0"/>
                        </a:rPr>
                        <a:t> </a:t>
                      </a:r>
                      <a:endParaRPr lang="es-GT" sz="2000" b="1" i="0" u="none" strike="noStrike" dirty="0">
                        <a:effectLst/>
                        <a:latin typeface="Arial" panose="020B0604020202020204" pitchFamily="34" charset="0"/>
                      </a:endParaRPr>
                    </a:p>
                  </a:txBody>
                  <a:tcPr marL="7623" marR="7623" marT="76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51059948"/>
                  </a:ext>
                </a:extLst>
              </a:tr>
              <a:tr h="311078">
                <a:tc>
                  <a:txBody>
                    <a:bodyPr/>
                    <a:lstStyle/>
                    <a:p>
                      <a:pPr algn="l" fontAlgn="b">
                        <a:spcBef>
                          <a:spcPts val="0"/>
                        </a:spcBef>
                        <a:spcAft>
                          <a:spcPts val="0"/>
                        </a:spcAft>
                      </a:pPr>
                      <a:r>
                        <a:rPr lang="es-GT" sz="2000" b="1" i="0" u="none" strike="noStrike">
                          <a:solidFill>
                            <a:srgbClr val="000000"/>
                          </a:solidFill>
                          <a:effectLst/>
                          <a:latin typeface="Calibri" panose="020F0502020204030204" pitchFamily="34" charset="0"/>
                        </a:rPr>
                        <a:t>Total costos variables</a:t>
                      </a:r>
                      <a:endParaRPr lang="es-GT" sz="2000" b="1" i="0" u="none" strike="noStrike">
                        <a:effectLst/>
                        <a:latin typeface="Arial" panose="020B0604020202020204" pitchFamily="34" charset="0"/>
                      </a:endParaRPr>
                    </a:p>
                  </a:txBody>
                  <a:tcPr marL="7623" marR="7623" marT="76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spcBef>
                          <a:spcPts val="0"/>
                        </a:spcBef>
                        <a:spcAft>
                          <a:spcPts val="0"/>
                        </a:spcAft>
                      </a:pPr>
                      <a:r>
                        <a:rPr lang="es-GT" sz="2000" b="1" i="0" u="none" strike="noStrike">
                          <a:solidFill>
                            <a:srgbClr val="000000"/>
                          </a:solidFill>
                          <a:effectLst/>
                          <a:latin typeface="Calibri" panose="020F0502020204030204" pitchFamily="34" charset="0"/>
                        </a:rPr>
                        <a:t> </a:t>
                      </a:r>
                      <a:endParaRPr lang="es-GT" sz="2000" b="1" i="0" u="none" strike="noStrike">
                        <a:effectLst/>
                        <a:latin typeface="Arial" panose="020B0604020202020204" pitchFamily="34" charset="0"/>
                      </a:endParaRPr>
                    </a:p>
                  </a:txBody>
                  <a:tcPr marL="7623" marR="7623" marT="76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spcBef>
                          <a:spcPts val="0"/>
                        </a:spcBef>
                        <a:spcAft>
                          <a:spcPts val="0"/>
                        </a:spcAft>
                      </a:pPr>
                      <a:r>
                        <a:rPr lang="es-GT" sz="2000" b="1" i="0" u="none" strike="noStrike" dirty="0">
                          <a:solidFill>
                            <a:srgbClr val="000000"/>
                          </a:solidFill>
                          <a:effectLst/>
                          <a:latin typeface="Calibri" panose="020F0502020204030204" pitchFamily="34" charset="0"/>
                        </a:rPr>
                        <a:t> Q      485,490.00 </a:t>
                      </a:r>
                      <a:endParaRPr lang="es-GT" sz="2000" b="1" i="0" u="none" strike="noStrike" dirty="0">
                        <a:effectLst/>
                        <a:latin typeface="Arial" panose="020B0604020202020204" pitchFamily="34" charset="0"/>
                      </a:endParaRPr>
                    </a:p>
                  </a:txBody>
                  <a:tcPr marL="7623" marR="7623" marT="76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40639060"/>
                  </a:ext>
                </a:extLst>
              </a:tr>
              <a:tr h="311078">
                <a:tc>
                  <a:txBody>
                    <a:bodyPr/>
                    <a:lstStyle/>
                    <a:p>
                      <a:pPr algn="ctr" fontAlgn="b">
                        <a:spcBef>
                          <a:spcPts val="0"/>
                        </a:spcBef>
                        <a:spcAft>
                          <a:spcPts val="0"/>
                        </a:spcAft>
                      </a:pPr>
                      <a:r>
                        <a:rPr lang="es-GT" sz="2000" b="1" i="0" u="none" strike="noStrike">
                          <a:solidFill>
                            <a:srgbClr val="000000"/>
                          </a:solidFill>
                          <a:effectLst/>
                          <a:latin typeface="Calibri" panose="020F0502020204030204" pitchFamily="34" charset="0"/>
                        </a:rPr>
                        <a:t>Margen de Contribución total</a:t>
                      </a:r>
                      <a:endParaRPr lang="es-GT" sz="2000" b="1" i="0" u="none" strike="noStrike">
                        <a:effectLst/>
                        <a:latin typeface="Arial" panose="020B0604020202020204" pitchFamily="34" charset="0"/>
                      </a:endParaRPr>
                    </a:p>
                  </a:txBody>
                  <a:tcPr marL="7623" marR="7623" marT="76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spcBef>
                          <a:spcPts val="0"/>
                        </a:spcBef>
                        <a:spcAft>
                          <a:spcPts val="0"/>
                        </a:spcAft>
                      </a:pPr>
                      <a:r>
                        <a:rPr lang="es-GT" sz="2000" b="1" i="0" u="none" strike="noStrike">
                          <a:solidFill>
                            <a:srgbClr val="000000"/>
                          </a:solidFill>
                          <a:effectLst/>
                          <a:latin typeface="Calibri" panose="020F0502020204030204" pitchFamily="34" charset="0"/>
                        </a:rPr>
                        <a:t> </a:t>
                      </a:r>
                      <a:endParaRPr lang="es-GT" sz="2000" b="1" i="0" u="none" strike="noStrike">
                        <a:effectLst/>
                        <a:latin typeface="Arial" panose="020B0604020202020204" pitchFamily="34" charset="0"/>
                      </a:endParaRPr>
                    </a:p>
                  </a:txBody>
                  <a:tcPr marL="7623" marR="7623" marT="76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spcBef>
                          <a:spcPts val="0"/>
                        </a:spcBef>
                        <a:spcAft>
                          <a:spcPts val="0"/>
                        </a:spcAft>
                      </a:pPr>
                      <a:r>
                        <a:rPr lang="es-GT" sz="2000" b="1" i="0" u="none" strike="noStrike" dirty="0">
                          <a:solidFill>
                            <a:srgbClr val="000000"/>
                          </a:solidFill>
                          <a:effectLst/>
                          <a:latin typeface="Calibri" panose="020F0502020204030204" pitchFamily="34" charset="0"/>
                        </a:rPr>
                        <a:t> Q      200,085.00 </a:t>
                      </a:r>
                      <a:endParaRPr lang="es-GT" sz="2000" b="1" i="0" u="none" strike="noStrike" dirty="0">
                        <a:effectLst/>
                        <a:latin typeface="Arial" panose="020B0604020202020204" pitchFamily="34" charset="0"/>
                      </a:endParaRPr>
                    </a:p>
                  </a:txBody>
                  <a:tcPr marL="7623" marR="7623" marT="76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99603711"/>
                  </a:ext>
                </a:extLst>
              </a:tr>
              <a:tr h="311078">
                <a:tc>
                  <a:txBody>
                    <a:bodyPr/>
                    <a:lstStyle/>
                    <a:p>
                      <a:pPr algn="ctr" fontAlgn="b">
                        <a:spcBef>
                          <a:spcPts val="0"/>
                        </a:spcBef>
                        <a:spcAft>
                          <a:spcPts val="0"/>
                        </a:spcAft>
                      </a:pPr>
                      <a:r>
                        <a:rPr lang="es-GT" sz="2000" b="1" i="0" u="none" strike="noStrike">
                          <a:solidFill>
                            <a:srgbClr val="000000"/>
                          </a:solidFill>
                          <a:effectLst/>
                          <a:latin typeface="Calibri" panose="020F0502020204030204" pitchFamily="34" charset="0"/>
                        </a:rPr>
                        <a:t>Gastos Fijos Totales</a:t>
                      </a:r>
                      <a:endParaRPr lang="es-GT" sz="2000" b="1" i="0" u="none" strike="noStrike">
                        <a:effectLst/>
                        <a:latin typeface="Arial" panose="020B0604020202020204" pitchFamily="34" charset="0"/>
                      </a:endParaRPr>
                    </a:p>
                  </a:txBody>
                  <a:tcPr marL="7623" marR="7623" marT="76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spcBef>
                          <a:spcPts val="0"/>
                        </a:spcBef>
                        <a:spcAft>
                          <a:spcPts val="0"/>
                        </a:spcAft>
                      </a:pPr>
                      <a:r>
                        <a:rPr lang="es-GT" sz="2000" b="1" i="0" u="none" strike="noStrike">
                          <a:solidFill>
                            <a:srgbClr val="000000"/>
                          </a:solidFill>
                          <a:effectLst/>
                          <a:latin typeface="Calibri" panose="020F0502020204030204" pitchFamily="34" charset="0"/>
                        </a:rPr>
                        <a:t> </a:t>
                      </a:r>
                      <a:endParaRPr lang="es-GT" sz="2000" b="1" i="0" u="none" strike="noStrike">
                        <a:effectLst/>
                        <a:latin typeface="Arial" panose="020B0604020202020204" pitchFamily="34" charset="0"/>
                      </a:endParaRPr>
                    </a:p>
                  </a:txBody>
                  <a:tcPr marL="7623" marR="7623" marT="76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spcBef>
                          <a:spcPts val="0"/>
                        </a:spcBef>
                        <a:spcAft>
                          <a:spcPts val="0"/>
                        </a:spcAft>
                      </a:pPr>
                      <a:r>
                        <a:rPr lang="es-GT" sz="2000" b="1" i="0" u="none" strike="noStrike" dirty="0">
                          <a:solidFill>
                            <a:srgbClr val="000000"/>
                          </a:solidFill>
                          <a:effectLst/>
                          <a:latin typeface="Calibri" panose="020F0502020204030204" pitchFamily="34" charset="0"/>
                        </a:rPr>
                        <a:t> Q      200,000.00 </a:t>
                      </a:r>
                      <a:endParaRPr lang="es-GT" sz="2000" b="1" i="0" u="none" strike="noStrike" dirty="0">
                        <a:effectLst/>
                        <a:latin typeface="Arial" panose="020B0604020202020204" pitchFamily="34" charset="0"/>
                      </a:endParaRPr>
                    </a:p>
                  </a:txBody>
                  <a:tcPr marL="7623" marR="7623" marT="76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8454141"/>
                  </a:ext>
                </a:extLst>
              </a:tr>
              <a:tr h="311078">
                <a:tc>
                  <a:txBody>
                    <a:bodyPr/>
                    <a:lstStyle/>
                    <a:p>
                      <a:pPr algn="ctr" fontAlgn="b">
                        <a:spcBef>
                          <a:spcPts val="0"/>
                        </a:spcBef>
                        <a:spcAft>
                          <a:spcPts val="0"/>
                        </a:spcAft>
                      </a:pPr>
                      <a:r>
                        <a:rPr lang="es-GT" sz="2000" b="1" i="0" u="none" strike="noStrike">
                          <a:solidFill>
                            <a:srgbClr val="000000"/>
                          </a:solidFill>
                          <a:effectLst/>
                          <a:latin typeface="Calibri" panose="020F0502020204030204" pitchFamily="34" charset="0"/>
                        </a:rPr>
                        <a:t>Utilidad</a:t>
                      </a:r>
                      <a:endParaRPr lang="es-GT" sz="2000" b="1" i="0" u="none" strike="noStrike">
                        <a:effectLst/>
                        <a:latin typeface="Arial" panose="020B0604020202020204" pitchFamily="34" charset="0"/>
                      </a:endParaRPr>
                    </a:p>
                  </a:txBody>
                  <a:tcPr marL="7623" marR="7623" marT="76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spcBef>
                          <a:spcPts val="0"/>
                        </a:spcBef>
                        <a:spcAft>
                          <a:spcPts val="0"/>
                        </a:spcAft>
                      </a:pPr>
                      <a:r>
                        <a:rPr lang="es-GT" sz="2000" b="1" i="0" u="none" strike="noStrike">
                          <a:solidFill>
                            <a:srgbClr val="000000"/>
                          </a:solidFill>
                          <a:effectLst/>
                          <a:latin typeface="Calibri" panose="020F0502020204030204" pitchFamily="34" charset="0"/>
                        </a:rPr>
                        <a:t> </a:t>
                      </a:r>
                      <a:endParaRPr lang="es-GT" sz="2000" b="1" i="0" u="none" strike="noStrike">
                        <a:effectLst/>
                        <a:latin typeface="Arial" panose="020B0604020202020204" pitchFamily="34" charset="0"/>
                      </a:endParaRPr>
                    </a:p>
                  </a:txBody>
                  <a:tcPr marL="7623" marR="7623" marT="76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spcBef>
                          <a:spcPts val="0"/>
                        </a:spcBef>
                        <a:spcAft>
                          <a:spcPts val="0"/>
                        </a:spcAft>
                      </a:pPr>
                      <a:r>
                        <a:rPr lang="es-GT" sz="2000" b="1" i="0" u="none" strike="noStrike" dirty="0">
                          <a:solidFill>
                            <a:srgbClr val="000000"/>
                          </a:solidFill>
                          <a:effectLst/>
                          <a:latin typeface="Calibri" panose="020F0502020204030204" pitchFamily="34" charset="0"/>
                        </a:rPr>
                        <a:t> Q                 85.00 </a:t>
                      </a:r>
                      <a:endParaRPr lang="es-GT" sz="2000" b="1" i="0" u="none" strike="noStrike" dirty="0">
                        <a:effectLst/>
                        <a:latin typeface="Arial" panose="020B0604020202020204" pitchFamily="34" charset="0"/>
                      </a:endParaRPr>
                    </a:p>
                  </a:txBody>
                  <a:tcPr marL="7623" marR="7623" marT="76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33772916"/>
                  </a:ext>
                </a:extLst>
              </a:tr>
            </a:tbl>
          </a:graphicData>
        </a:graphic>
      </p:graphicFrame>
    </p:spTree>
    <p:extLst>
      <p:ext uri="{BB962C8B-B14F-4D97-AF65-F5344CB8AC3E}">
        <p14:creationId xmlns:p14="http://schemas.microsoft.com/office/powerpoint/2010/main" val="2922728605"/>
      </p:ext>
    </p:extLst>
  </p:cSld>
  <p:clrMapOvr>
    <a:overrideClrMapping bg1="lt1" tx1="dk1" bg2="lt2" tx2="dk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3F296A"/>
      </a:dk2>
      <a:lt2>
        <a:srgbClr val="EBEBEB"/>
      </a:lt2>
      <a:accent1>
        <a:srgbClr val="E84574"/>
      </a:accent1>
      <a:accent2>
        <a:srgbClr val="798FF2"/>
      </a:accent2>
      <a:accent3>
        <a:srgbClr val="95C369"/>
      </a:accent3>
      <a:accent4>
        <a:srgbClr val="EE875A"/>
      </a:accent4>
      <a:accent5>
        <a:srgbClr val="C363E8"/>
      </a:accent5>
      <a:accent6>
        <a:srgbClr val="6AADC8"/>
      </a:accent6>
      <a:hlink>
        <a:srgbClr val="FE80C7"/>
      </a:hlink>
      <a:folHlink>
        <a:srgbClr val="FBA3EC"/>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61DDDE80-2DFA-4F2A-B66F-72059846BDAA}"/>
    </a:ext>
  </a:extLst>
</a:theme>
</file>

<file path=docProps/app.xml><?xml version="1.0" encoding="utf-8"?>
<Properties xmlns="http://schemas.openxmlformats.org/officeDocument/2006/extended-properties" xmlns:vt="http://schemas.openxmlformats.org/officeDocument/2006/docPropsVTypes">
  <Template>Celestial</Template>
  <TotalTime>164</TotalTime>
  <Words>1128</Words>
  <Application>Microsoft Office PowerPoint</Application>
  <PresentationFormat>Panorámica</PresentationFormat>
  <Paragraphs>189</Paragraphs>
  <Slides>25</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25</vt:i4>
      </vt:variant>
    </vt:vector>
  </HeadingPairs>
  <TitlesOfParts>
    <vt:vector size="29" baseType="lpstr">
      <vt:lpstr>Arial</vt:lpstr>
      <vt:lpstr>Calibri</vt:lpstr>
      <vt:lpstr>Calibri Light</vt:lpstr>
      <vt:lpstr>Celestial</vt:lpstr>
      <vt:lpstr>PE FINANCIERO</vt:lpstr>
      <vt:lpstr>Relación Costo – Volumen - Utilidad</vt:lpstr>
      <vt:lpstr>Fundamentos del análisis costo-volumen-utilidad (CVU)</vt:lpstr>
      <vt:lpstr>Presentación de PowerPoint</vt:lpstr>
      <vt:lpstr>Márgenes de contribución</vt:lpstr>
      <vt:lpstr>Presentación de PowerPoint</vt:lpstr>
      <vt:lpstr>Presentación de PowerPoint</vt:lpstr>
      <vt:lpstr>Presentación de PowerPoint</vt:lpstr>
      <vt:lpstr>Presentación de PowerPoint</vt:lpstr>
      <vt:lpstr>Presentación de PowerPoint</vt:lpstr>
      <vt:lpstr>Margen de contribución en porcentaje (o razón del margen de contribución):</vt:lpstr>
      <vt:lpstr>Punto de equilibrio</vt:lpstr>
      <vt:lpstr>Por Margen de Contribución:</vt:lpstr>
      <vt:lpstr>Punto de Equilibrio en Ingresos</vt:lpstr>
      <vt:lpstr>Utilidad en operación fijada como meta</vt:lpstr>
      <vt:lpstr>Presentación de PowerPoint</vt:lpstr>
      <vt:lpstr>PE MULTIPRODUCTO</vt:lpstr>
      <vt:lpstr>Presentación de PowerPoint</vt:lpstr>
      <vt:lpstr>Paso 1: Determinar la participación en ventas de cada artículo</vt:lpstr>
      <vt:lpstr>Paso 2: Determinar el Margen de contribución por cada artículo</vt:lpstr>
      <vt:lpstr>Paso 3: Ponderar la participación del margen de contribución </vt:lpstr>
      <vt:lpstr>PASO 3: APLICAR FÓRMULA PE</vt:lpstr>
      <vt:lpstr>PASO 3: APLICAR FÓRMULA PE</vt:lpstr>
      <vt:lpstr>PE = 1,878.21 = 1879 UNIDADES</vt:lpstr>
      <vt:lpstr>COMPROBACIÓN: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FACTORES PARA LA TOMA DE DECISIONES</dc:title>
  <dc:creator>patricia.alemgtr@outlook.com</dc:creator>
  <cp:lastModifiedBy>MARTINEZ SOSA, PATRICIA ALEJANDRA</cp:lastModifiedBy>
  <cp:revision>13</cp:revision>
  <dcterms:created xsi:type="dcterms:W3CDTF">2020-06-15T22:52:10Z</dcterms:created>
  <dcterms:modified xsi:type="dcterms:W3CDTF">2023-10-12T22:44:20Z</dcterms:modified>
</cp:coreProperties>
</file>