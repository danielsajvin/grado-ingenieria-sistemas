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sldIdLst>
    <p:sldId id="256" r:id="rId5"/>
    <p:sldId id="258" r:id="rId6"/>
    <p:sldId id="266" r:id="rId7"/>
    <p:sldId id="276" r:id="rId8"/>
    <p:sldId id="264" r:id="rId9"/>
    <p:sldId id="260" r:id="rId10"/>
    <p:sldId id="275" r:id="rId11"/>
    <p:sldId id="265" r:id="rId12"/>
    <p:sldId id="271" r:id="rId13"/>
    <p:sldId id="263" r:id="rId14"/>
    <p:sldId id="273" r:id="rId15"/>
    <p:sldId id="274" r:id="rId16"/>
    <p:sldId id="269" r:id="rId17"/>
    <p:sldId id="270" r:id="rId18"/>
    <p:sldId id="277" r:id="rId19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03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47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0856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893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3257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94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80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9447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50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0649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6615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081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2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08461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772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129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09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72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27A82B-19E6-491B-A55D-89992E022D25}" type="datetimeFigureOut">
              <a:rPr lang="es-GT" smtClean="0"/>
              <a:t>14/05/2024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C3F76D-4C46-41E0-B9AD-3B612B9CB46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4971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98914" y="1426029"/>
            <a:ext cx="7805057" cy="407125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br>
              <a:rPr lang="es-GT" sz="4400" dirty="0">
                <a:solidFill>
                  <a:schemeClr val="accent3"/>
                </a:solidFill>
              </a:rPr>
            </a:br>
            <a:r>
              <a:rPr lang="es-GT" sz="4400" dirty="0">
                <a:solidFill>
                  <a:schemeClr val="accent3"/>
                </a:solidFill>
              </a:rPr>
              <a:t>MÉTODO PEPS</a:t>
            </a:r>
            <a:br>
              <a:rPr lang="es-GT" sz="4400" dirty="0">
                <a:solidFill>
                  <a:schemeClr val="accent3"/>
                </a:solidFill>
              </a:rPr>
            </a:br>
            <a:r>
              <a:rPr lang="es-GT" sz="4400" dirty="0">
                <a:solidFill>
                  <a:schemeClr val="accent3"/>
                </a:solidFill>
              </a:rPr>
              <a:t>Resolución del Laboratorio</a:t>
            </a:r>
            <a:br>
              <a:rPr lang="es-GT" sz="4400" dirty="0">
                <a:solidFill>
                  <a:schemeClr val="accent3"/>
                </a:solidFill>
              </a:rPr>
            </a:br>
            <a:r>
              <a:rPr lang="es-GT" sz="4400" dirty="0">
                <a:solidFill>
                  <a:schemeClr val="accent3"/>
                </a:solidFill>
              </a:rPr>
              <a:t>Producto A – B - C</a:t>
            </a:r>
            <a:br>
              <a:rPr lang="es-GT" sz="3200" b="1" dirty="0"/>
            </a:br>
            <a:br>
              <a:rPr lang="es-GT" sz="3200" b="1" dirty="0"/>
            </a:br>
            <a:br>
              <a:rPr lang="es-GT" sz="3200" b="1" dirty="0"/>
            </a:br>
            <a:br>
              <a:rPr lang="es-GT" sz="3200" b="1" dirty="0"/>
            </a:br>
            <a:endParaRPr lang="es-GT" sz="2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074228" y="4970150"/>
            <a:ext cx="3849916" cy="614221"/>
          </a:xfrm>
        </p:spPr>
        <p:txBody>
          <a:bodyPr>
            <a:normAutofit/>
          </a:bodyPr>
          <a:lstStyle/>
          <a:p>
            <a:r>
              <a:rPr lang="es-GT" dirty="0">
                <a:solidFill>
                  <a:schemeClr val="accent3"/>
                </a:solidFill>
              </a:rPr>
              <a:t>Primero en entrar, primero en salir</a:t>
            </a:r>
            <a:endParaRPr lang="es-GT" dirty="0"/>
          </a:p>
          <a:p>
            <a:endParaRPr lang="es-GT" dirty="0"/>
          </a:p>
          <a:p>
            <a:endParaRPr lang="es-GT" dirty="0"/>
          </a:p>
          <a:p>
            <a:endParaRPr lang="es-GT" dirty="0"/>
          </a:p>
          <a:p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092264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br>
              <a:rPr lang="es-GT" dirty="0">
                <a:solidFill>
                  <a:schemeClr val="accent3"/>
                </a:solidFill>
              </a:rPr>
            </a:br>
            <a:r>
              <a:rPr lang="es-GT" dirty="0">
                <a:solidFill>
                  <a:schemeClr val="accent3"/>
                </a:solidFill>
              </a:rPr>
              <a:t>Cómo funciona el método PEPS</a:t>
            </a:r>
            <a:br>
              <a:rPr lang="es-GT" dirty="0"/>
            </a:br>
            <a:endParaRPr lang="es-GT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95402" y="2687561"/>
            <a:ext cx="5138055" cy="3318936"/>
          </a:xfrm>
        </p:spPr>
        <p:txBody>
          <a:bodyPr>
            <a:normAutofit/>
          </a:bodyPr>
          <a:lstStyle/>
          <a:p>
            <a:pPr algn="ctr">
              <a:buFont typeface="Wingdings" panose="05000000000000000000" pitchFamily="2" charset="2"/>
              <a:buChar char="ü"/>
            </a:pPr>
            <a:r>
              <a:rPr lang="es-GT" dirty="0">
                <a:solidFill>
                  <a:schemeClr val="tx1"/>
                </a:solidFill>
              </a:rPr>
              <a:t>El método PEPS es de fácil funcionamiento, con él, la mercancía más antigua de las empresas, van a salir y ser vendidas, para que estas no se queden perdidas u olvidadas en el almacén, permitiendo a la empresa mayor ganancia y orden en el inventario.</a:t>
            </a:r>
          </a:p>
          <a:p>
            <a:endParaRPr lang="es-GT" dirty="0"/>
          </a:p>
        </p:txBody>
      </p:sp>
      <p:pic>
        <p:nvPicPr>
          <p:cNvPr id="2050" name="Picture 2" descr="Resultado de imagen para funcionamiento">
            <a:extLst>
              <a:ext uri="{FF2B5EF4-FFF2-40B4-BE49-F238E27FC236}">
                <a16:creationId xmlns:a16="http://schemas.microsoft.com/office/drawing/2014/main" id="{EA84D02F-B560-4061-A9A9-BE0512572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315" y="2687561"/>
            <a:ext cx="4354283" cy="299357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39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s-GT" dirty="0">
                <a:solidFill>
                  <a:schemeClr val="accent3"/>
                </a:solidFill>
              </a:rPr>
              <a:t>Aplicación en empresas</a:t>
            </a:r>
            <a:endParaRPr lang="es-GT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95402" y="2697480"/>
            <a:ext cx="4365170" cy="300608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s-GT" sz="2000" dirty="0">
                <a:solidFill>
                  <a:schemeClr val="tx1"/>
                </a:solidFill>
              </a:rPr>
              <a:t>El Método PEPS es ideal para las empresas que trabajan con productos alimenticios, ya sean frescos o procesados, ya que permite que los productos no se dañen o se pierdan antes de ser vendidos, ayudando constantemente a la empresa a renovar.</a:t>
            </a:r>
            <a:endParaRPr lang="es-ES" sz="2000" dirty="0"/>
          </a:p>
          <a:p>
            <a:endParaRPr lang="es-GT" dirty="0"/>
          </a:p>
        </p:txBody>
      </p:sp>
      <p:pic>
        <p:nvPicPr>
          <p:cNvPr id="1026" name="Picture 2" descr="Resultado de imagen para Empresa">
            <a:extLst>
              <a:ext uri="{FF2B5EF4-FFF2-40B4-BE49-F238E27FC236}">
                <a16:creationId xmlns:a16="http://schemas.microsoft.com/office/drawing/2014/main" id="{650D1773-51AC-4396-B276-0798C9B5D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862" y="2912532"/>
            <a:ext cx="4893736" cy="244686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34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7AE0FA-17E3-4113-B2F6-82C74700C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012371"/>
            <a:ext cx="9601196" cy="4863497"/>
          </a:xfrm>
        </p:spPr>
        <p:txBody>
          <a:bodyPr/>
          <a:lstStyle/>
          <a:p>
            <a:pPr marL="0" indent="0" algn="ctr">
              <a:buNone/>
            </a:pPr>
            <a:r>
              <a:rPr lang="es-MX" b="1" dirty="0"/>
              <a:t>Procedimiento para realizar el Método PEPS</a:t>
            </a:r>
          </a:p>
          <a:p>
            <a:pPr marL="0" indent="0" algn="just">
              <a:buNone/>
            </a:pPr>
            <a:r>
              <a:rPr lang="es-MX" dirty="0"/>
              <a:t>1. Trabajar en forma ordenada cada producto</a:t>
            </a:r>
          </a:p>
          <a:p>
            <a:pPr marL="0" indent="0" algn="just">
              <a:buNone/>
            </a:pPr>
            <a:r>
              <a:rPr lang="es-ES" dirty="0"/>
              <a:t>2. Las fechas deben trabajarse en forma cronológica</a:t>
            </a:r>
          </a:p>
          <a:p>
            <a:pPr marL="0" indent="0" algn="just">
              <a:buNone/>
            </a:pPr>
            <a:r>
              <a:rPr lang="es-ES" dirty="0"/>
              <a:t>3. Debe trabajarse todos los productos en una misma cedula</a:t>
            </a:r>
          </a:p>
          <a:p>
            <a:pPr marL="0" indent="0" algn="just">
              <a:buNone/>
            </a:pPr>
            <a:r>
              <a:rPr lang="es-ES" dirty="0"/>
              <a:t>4. Debe tenerse cuidado con cada producto</a:t>
            </a:r>
          </a:p>
          <a:p>
            <a:pPr marL="0" indent="0" algn="just">
              <a:buNone/>
            </a:pPr>
            <a:r>
              <a:rPr lang="es-ES" dirty="0"/>
              <a:t>5. Debe sumarse el total de las ventas en la cedula al precio de costo, para determinar el </a:t>
            </a:r>
            <a:r>
              <a:rPr lang="es-ES" b="1" dirty="0">
                <a:solidFill>
                  <a:srgbClr val="FF0000"/>
                </a:solidFill>
              </a:rPr>
              <a:t>Costo Total</a:t>
            </a:r>
          </a:p>
          <a:p>
            <a:pPr marL="0" indent="0" algn="just">
              <a:buNone/>
            </a:pPr>
            <a:r>
              <a:rPr lang="es-ES" dirty="0"/>
              <a:t>6. Debe hacerse el Estado de Resultados.</a:t>
            </a:r>
          </a:p>
          <a:p>
            <a:pPr marL="0" indent="0" algn="just">
              <a:buNone/>
            </a:pPr>
            <a:r>
              <a:rPr lang="es-ES" dirty="0"/>
              <a:t>7. Hacer el análisis correspondiente. </a:t>
            </a:r>
          </a:p>
        </p:txBody>
      </p:sp>
    </p:spTree>
    <p:extLst>
      <p:ext uri="{BB962C8B-B14F-4D97-AF65-F5344CB8AC3E}">
        <p14:creationId xmlns:p14="http://schemas.microsoft.com/office/powerpoint/2010/main" val="190212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98914" y="1426029"/>
            <a:ext cx="7805057" cy="407125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s-GT" sz="3200" b="1" dirty="0"/>
              <a:t>Resolución del Laboratorio</a:t>
            </a:r>
            <a:br>
              <a:rPr lang="es-GT" sz="3200" b="1" dirty="0"/>
            </a:br>
            <a:r>
              <a:rPr lang="es-GT" sz="3200" b="1" dirty="0"/>
              <a:t>Método PEPS</a:t>
            </a:r>
            <a:br>
              <a:rPr lang="es-GT" sz="3200" b="1" dirty="0"/>
            </a:br>
            <a:br>
              <a:rPr lang="es-GT" sz="3200" b="1" dirty="0"/>
            </a:br>
            <a:br>
              <a:rPr lang="es-GT" sz="3200" b="1" dirty="0"/>
            </a:br>
            <a:br>
              <a:rPr lang="es-GT" sz="3200" b="1" dirty="0"/>
            </a:br>
            <a:endParaRPr lang="es-GT" sz="2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411686" y="5002808"/>
            <a:ext cx="3516087" cy="472707"/>
          </a:xfrm>
        </p:spPr>
        <p:txBody>
          <a:bodyPr>
            <a:normAutofit lnSpcReduction="10000"/>
          </a:bodyPr>
          <a:lstStyle/>
          <a:p>
            <a:r>
              <a:rPr lang="es-GT" dirty="0">
                <a:solidFill>
                  <a:schemeClr val="accent3"/>
                </a:solidFill>
              </a:rPr>
              <a:t>Resolución (cifras en Quetzales)</a:t>
            </a:r>
            <a:endParaRPr lang="es-GT" dirty="0"/>
          </a:p>
          <a:p>
            <a:endParaRPr lang="es-GT" dirty="0"/>
          </a:p>
          <a:p>
            <a:endParaRPr lang="es-GT" dirty="0"/>
          </a:p>
          <a:p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120354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16B7A6-3D0C-495B-8D4E-2345454063BB}"/>
              </a:ext>
            </a:extLst>
          </p:cNvPr>
          <p:cNvSpPr/>
          <p:nvPr/>
        </p:nvSpPr>
        <p:spPr>
          <a:xfrm>
            <a:off x="0" y="-17865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GT" dirty="0"/>
              <a:t>     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5168" y="576944"/>
            <a:ext cx="11081658" cy="5353354"/>
          </a:xfr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endParaRPr lang="es-ES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 los siguientes datos, tomados de los libros de contabilidad </a:t>
            </a: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la empresa “Esmeralda”, calcule el valor de los inventarios:</a:t>
            </a: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endParaRPr lang="es-ES"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r>
              <a:rPr lang="es-GT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2 de enero del 2024 había en existencia del </a:t>
            </a:r>
            <a:r>
              <a:rPr lang="es-GT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Producto A 1,100 unidades, cuyo costo unitario era de Q10.00; </a:t>
            </a:r>
            <a:r>
              <a:rPr lang="es-GT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 </a:t>
            </a:r>
            <a:r>
              <a:rPr lang="es-GT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producto B 1000 unidades cuyo costo unitario era de Q 11.00</a:t>
            </a:r>
            <a:r>
              <a:rPr lang="es-GT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del </a:t>
            </a:r>
            <a:r>
              <a:rPr lang="es-GT" sz="18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producto C 900 unidades, cuyo costo unitario era de  Q 9.00</a:t>
            </a:r>
            <a:endParaRPr lang="es-ES" sz="1800" b="1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3 de enero se compra 600 unidades a un costo unitario de Q 12.00 del producto A</a:t>
            </a: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4 de enero se compra 500 unidades a un costo unitario de Q 13.00 del producto B</a:t>
            </a: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5 de enero se compra 400 unidades a un costo unitario de Q 10.00 del producto C</a:t>
            </a: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10 de enero se vende 1,300 unidades del producto A, un precio unitario de </a:t>
            </a:r>
            <a:r>
              <a:rPr lang="es-E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21.00   </a:t>
            </a: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    27,300</a:t>
            </a: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12 de enero se vende 1,200 unidades del producto B, un precio unitario de </a:t>
            </a:r>
            <a:r>
              <a:rPr lang="es-E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22.00   </a:t>
            </a: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    26,400</a:t>
            </a: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15 de enero se vende 1,100 unidades del producto C, un precio unitario de </a:t>
            </a:r>
            <a:r>
              <a:rPr lang="es-E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 23.00   </a:t>
            </a: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    25,300</a:t>
            </a: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6485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B8CB52-BA99-4E1A-9D3E-4312D9BC1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001486"/>
            <a:ext cx="9601196" cy="4874382"/>
          </a:xfrm>
        </p:spPr>
        <p:txBody>
          <a:bodyPr/>
          <a:lstStyle/>
          <a:p>
            <a:pPr marL="34290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El 18 de enero se compra 300 unidades a un costo unitario de Q 13.00 del producto A</a:t>
            </a:r>
          </a:p>
          <a:p>
            <a:pPr marL="34290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El 19 de enero se compra 400 unidades a un costo unitario de Q 14.00 del producto B</a:t>
            </a:r>
          </a:p>
          <a:p>
            <a:pPr marL="34290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El 20 de enero se compra 500 unidades a un costo unitario de Q 15.00 del producto C</a:t>
            </a: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22 de enero se vende 500 unidades del Producto A, a un precio unitario de   Q 22.00  =   11,000</a:t>
            </a: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23 de enero se vende 600 unidades del Producto B, a un precio unitario de   Q 23.00  =   13,800</a:t>
            </a: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27 de enero se vende 500 unidades del Producto C,  a un  precio unitario de Q 24.00  =   12.000 </a:t>
            </a: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El 28 de enero se compra 200 unidades del Producto A, a un precio unitario de Q 14.00</a:t>
            </a: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r>
              <a:rPr lang="es-ES" sz="1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El 30 de enero se compra 100 unidades del Producto B, a un precio unitario de Q 15.00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_________</a:t>
            </a:r>
          </a:p>
          <a:p>
            <a:pPr marL="0" indent="0">
              <a:buNone/>
            </a:pPr>
            <a:r>
              <a:rPr lang="es-ES" dirty="0"/>
              <a:t>                                                                                   </a:t>
            </a:r>
            <a:r>
              <a:rPr lang="es-ES" dirty="0">
                <a:solidFill>
                  <a:srgbClr val="0070C0"/>
                </a:solidFill>
              </a:rPr>
              <a:t>Total de ventas     </a:t>
            </a:r>
            <a:r>
              <a:rPr lang="es-ES" b="1" u="sng" dirty="0">
                <a:solidFill>
                  <a:srgbClr val="0070C0"/>
                </a:solidFill>
              </a:rPr>
              <a:t>115,800</a:t>
            </a:r>
            <a:r>
              <a:rPr lang="es-ES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7527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98914" y="1426029"/>
            <a:ext cx="7805057" cy="407125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s-GT" sz="4400" b="1" dirty="0">
                <a:solidFill>
                  <a:schemeClr val="accent3"/>
                </a:solidFill>
              </a:rPr>
              <a:t>Cedula</a:t>
            </a:r>
            <a:br>
              <a:rPr lang="es-GT" sz="3200" b="1" dirty="0"/>
            </a:br>
            <a:br>
              <a:rPr lang="es-GT" sz="3200" b="1" dirty="0"/>
            </a:br>
            <a:br>
              <a:rPr lang="es-GT" sz="3200" b="1" dirty="0"/>
            </a:br>
            <a:br>
              <a:rPr lang="es-GT" sz="3200" b="1" dirty="0"/>
            </a:br>
            <a:endParaRPr lang="es-GT" sz="2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411686" y="5002808"/>
            <a:ext cx="3516087" cy="472707"/>
          </a:xfrm>
        </p:spPr>
        <p:txBody>
          <a:bodyPr>
            <a:normAutofit lnSpcReduction="10000"/>
          </a:bodyPr>
          <a:lstStyle/>
          <a:p>
            <a:r>
              <a:rPr lang="es-GT" dirty="0">
                <a:solidFill>
                  <a:schemeClr val="accent3"/>
                </a:solidFill>
              </a:rPr>
              <a:t>Resolución (cifras en Quetzales)</a:t>
            </a:r>
            <a:endParaRPr lang="es-GT" dirty="0"/>
          </a:p>
          <a:p>
            <a:endParaRPr lang="es-GT" dirty="0"/>
          </a:p>
          <a:p>
            <a:endParaRPr lang="es-GT" dirty="0"/>
          </a:p>
          <a:p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786736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DCFDF7-E48D-4324-A2DC-184104027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08810"/>
            <a:ext cx="9601196" cy="39670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800" b="1" dirty="0">
                <a:solidFill>
                  <a:schemeClr val="tx1"/>
                </a:solidFill>
              </a:rPr>
              <a:t>Fabrica “Esmeralda”</a:t>
            </a:r>
          </a:p>
          <a:p>
            <a:pPr marL="0" indent="0" algn="ctr">
              <a:buNone/>
            </a:pPr>
            <a:r>
              <a:rPr lang="es-ES" sz="2800" b="1" dirty="0">
                <a:solidFill>
                  <a:schemeClr val="tx1"/>
                </a:solidFill>
              </a:rPr>
              <a:t>Método PEPS 2024</a:t>
            </a:r>
          </a:p>
          <a:p>
            <a:pPr marL="0" indent="0" algn="ctr">
              <a:buNone/>
            </a:pPr>
            <a:r>
              <a:rPr lang="es-ES" sz="2800" b="1" dirty="0">
                <a:solidFill>
                  <a:schemeClr val="tx1"/>
                </a:solidFill>
              </a:rPr>
              <a:t>(Expresado en Q)</a:t>
            </a:r>
            <a:endParaRPr lang="es-GT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333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CC45DDD5-2619-4ED8-BC84-FEA5C97DF716}"/>
              </a:ext>
            </a:extLst>
          </p:cNvPr>
          <p:cNvSpPr/>
          <p:nvPr/>
        </p:nvSpPr>
        <p:spPr>
          <a:xfrm>
            <a:off x="-2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GT" dirty="0"/>
              <a:t>      </a:t>
            </a:r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1386"/>
            <a:ext cx="12192000" cy="477213"/>
          </a:xfrm>
        </p:spPr>
        <p:txBody>
          <a:bodyPr>
            <a:normAutofit fontScale="90000"/>
          </a:bodyPr>
          <a:lstStyle/>
          <a:p>
            <a:pPr algn="just"/>
            <a:r>
              <a:rPr lang="es-ES" dirty="0"/>
              <a:t>           </a:t>
            </a:r>
            <a:r>
              <a:rPr lang="es-ES" sz="3600" b="1" dirty="0">
                <a:solidFill>
                  <a:schemeClr val="accent3"/>
                </a:solidFill>
              </a:rPr>
              <a:t>Entradas	     		        Salidas	        				  Saldo</a:t>
            </a:r>
            <a:endParaRPr lang="es-GT" sz="3600" b="1" dirty="0">
              <a:solidFill>
                <a:schemeClr val="accent3"/>
              </a:solidFill>
            </a:endParaRPr>
          </a:p>
        </p:txBody>
      </p:sp>
      <p:graphicFrame>
        <p:nvGraphicFramePr>
          <p:cNvPr id="8" name="Marcador de contenido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906352"/>
              </p:ext>
            </p:extLst>
          </p:nvPr>
        </p:nvGraphicFramePr>
        <p:xfrm>
          <a:off x="195940" y="163210"/>
          <a:ext cx="11800113" cy="638022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136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7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66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76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18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432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22938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Fecha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Concepto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P/T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P/T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P/T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216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02-01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Saldo Inicial A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Saldo Inicial B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Saldo Inicial 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248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03-01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04-01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05-01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Compras A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Compra B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Compra 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600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12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13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7,200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6,500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4,000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600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12.00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13.00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7,200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6,500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4,000  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140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10-01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Ventas A 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>
                          <a:effectLst/>
                        </a:rPr>
                        <a:t> </a:t>
                      </a:r>
                      <a:endParaRPr lang="es-GT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 </a:t>
                      </a: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1100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 200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11,000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2,400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0 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4,800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902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12-01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Ventas 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 1000</a:t>
                      </a: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11,000 </a:t>
                      </a: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88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endParaRPr lang="es-GT" sz="1600" b="1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 200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 2,600</a:t>
                      </a: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3,900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17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15-01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Venta C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 </a:t>
                      </a: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900  </a:t>
                      </a: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8,100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529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>
                          <a:effectLst/>
                        </a:rPr>
                        <a:t> </a:t>
                      </a:r>
                      <a:endParaRPr lang="es-GT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>
                          <a:effectLst/>
                        </a:rPr>
                        <a:t> </a:t>
                      </a:r>
                      <a:endParaRPr lang="es-GT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>
                          <a:effectLst/>
                        </a:rPr>
                        <a:t> </a:t>
                      </a:r>
                      <a:endParaRPr lang="es-GT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 </a:t>
                      </a:r>
                      <a:endParaRPr lang="es-GT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200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+mn-cs"/>
                        </a:rPr>
                        <a:t>2,000 </a:t>
                      </a:r>
                      <a:endParaRPr lang="es-GT" sz="16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200 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2,000 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9" name="1 Conector recto de flecha"/>
          <p:cNvCxnSpPr/>
          <p:nvPr/>
        </p:nvCxnSpPr>
        <p:spPr>
          <a:xfrm>
            <a:off x="8132763" y="10342563"/>
            <a:ext cx="0" cy="180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477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CC45DDD5-2619-4ED8-BC84-FEA5C97DF716}"/>
              </a:ext>
            </a:extLst>
          </p:cNvPr>
          <p:cNvSpPr/>
          <p:nvPr/>
        </p:nvSpPr>
        <p:spPr>
          <a:xfrm>
            <a:off x="-2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GT" dirty="0"/>
              <a:t>      </a:t>
            </a:r>
            <a:endParaRPr lang="es-ES" dirty="0"/>
          </a:p>
        </p:txBody>
      </p:sp>
      <p:graphicFrame>
        <p:nvGraphicFramePr>
          <p:cNvPr id="8" name="Marcador de contenido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959942"/>
              </p:ext>
            </p:extLst>
          </p:nvPr>
        </p:nvGraphicFramePr>
        <p:xfrm>
          <a:off x="99127" y="105085"/>
          <a:ext cx="11800113" cy="664782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136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7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66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76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18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432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0353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Fecha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Concepto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P/T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P/T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P/U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s-GT" sz="1600" dirty="0">
                          <a:effectLst/>
                        </a:rPr>
                        <a:t>P/T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59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18-01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19-01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20-01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Compra A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Compra B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Compra 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300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13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14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3,900 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5,600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7,500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5,600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7,500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25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03-01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23-01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27-01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Ventas A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Ventas B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Ventas C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400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r>
                        <a:rPr lang="es-GT" sz="1600" b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4,800 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1,300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3,900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4,200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2,000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4,500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  <a:p>
                      <a:pPr marL="0" algn="ctr" defTabSz="457200" rtl="0" eaLnBrk="1" latinLnBrk="0" hangingPunct="1">
                        <a:lnSpc>
                          <a:spcPct val="200000"/>
                        </a:lnSpc>
                      </a:pPr>
                      <a:r>
                        <a:rPr lang="es-GT" sz="16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2,600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1,400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3,000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28-01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Compra 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200 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14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2,800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GT" sz="1600" dirty="0">
                          <a:effectLst/>
                        </a:rPr>
                        <a:t>200 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GT" sz="1600" dirty="0">
                          <a:effectLst/>
                        </a:rPr>
                        <a:t> 14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GT" sz="1600" dirty="0">
                          <a:effectLst/>
                        </a:rPr>
                        <a:t>2,800 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GT" sz="1600" dirty="0">
                          <a:effectLst/>
                        </a:rPr>
                        <a:t> 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23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30-01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Compra B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b="1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Costo de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100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b="1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Ventas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1,500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 </a:t>
                      </a: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>
                          <a:effectLst/>
                        </a:rPr>
                        <a:t> </a:t>
                      </a:r>
                      <a:endParaRPr lang="es-GT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es-GT" sz="1600" b="0" dirty="0">
                        <a:effectLst/>
                      </a:endParaRP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2000" b="1" dirty="0">
                          <a:solidFill>
                            <a:srgbClr val="7030A0"/>
                          </a:solidFill>
                          <a:effectLst/>
                        </a:rPr>
                        <a:t>57,800 </a:t>
                      </a:r>
                      <a:endParaRPr lang="es-GT" sz="2000" b="1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GT" sz="1600" dirty="0">
                          <a:effectLst/>
                        </a:rPr>
                        <a:t>1,500 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s-GT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9" name="1 Conector recto de flecha"/>
          <p:cNvCxnSpPr/>
          <p:nvPr/>
        </p:nvCxnSpPr>
        <p:spPr>
          <a:xfrm>
            <a:off x="8132763" y="10342563"/>
            <a:ext cx="0" cy="180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16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7DD0C1-DDDE-4868-BA8B-0E1CEE949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132114"/>
            <a:ext cx="9601196" cy="4743754"/>
          </a:xfrm>
        </p:spPr>
        <p:txBody>
          <a:bodyPr/>
          <a:lstStyle/>
          <a:p>
            <a:pPr marL="0" indent="0" algn="just">
              <a:buNone/>
            </a:pPr>
            <a:r>
              <a:rPr lang="es-GT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Debe Determinar lo siguiente:</a:t>
            </a:r>
            <a:endParaRPr lang="es-E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GT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E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s-GT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Ventas Totales</a:t>
            </a:r>
            <a:endParaRPr lang="es-ES" sz="18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s-GT" sz="18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Costo de Ventas</a:t>
            </a:r>
            <a:endParaRPr lang="es-ES" sz="18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s-GT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Utilidad Bruta</a:t>
            </a:r>
            <a:endParaRPr lang="es-E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s-GT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ISR y Reserva Legal</a:t>
            </a:r>
            <a:endParaRPr lang="es-E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s-GT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Utilidad Neta</a:t>
            </a:r>
            <a:endParaRPr lang="es-E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 descr="imagen png - imagen transparente descarga gratuita">
            <a:extLst>
              <a:ext uri="{FF2B5EF4-FFF2-40B4-BE49-F238E27FC236}">
                <a16:creationId xmlns:a16="http://schemas.microsoft.com/office/drawing/2014/main" id="{1BEC7DF3-B1E2-4AED-B2A5-959B7CB369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315" y="2543854"/>
            <a:ext cx="3171825" cy="2466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3235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481536-EB43-481E-B14C-4F5423698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108710"/>
            <a:ext cx="9601196" cy="4767158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>
                <a:solidFill>
                  <a:schemeClr val="tx1"/>
                </a:solidFill>
              </a:rPr>
              <a:t>La empresa debe realizar el Estado de Resultados, agregando los siguientes datos: </a:t>
            </a:r>
          </a:p>
          <a:p>
            <a:pPr marL="0" indent="0" algn="just">
              <a:buNone/>
            </a:pPr>
            <a:endParaRPr lang="es-ES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tx1"/>
                </a:solidFill>
              </a:rPr>
              <a:t>Gastos Generales				Q     625.00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tx1"/>
                </a:solidFill>
              </a:rPr>
              <a:t>Gastos Administrativos		Q  1,840.00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tx1"/>
                </a:solidFill>
              </a:rPr>
              <a:t>Gastos Operativos				Q     770.00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tx1"/>
                </a:solidFill>
              </a:rPr>
              <a:t>Otros Ingresos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tx1"/>
                </a:solidFill>
              </a:rPr>
              <a:t>Intereses recibidos				Q     830.00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tx1"/>
                </a:solidFill>
              </a:rPr>
              <a:t>Determinar el ISR					   25%</a:t>
            </a:r>
            <a:endParaRPr lang="es-G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10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3876EE-97C4-4CDA-AD12-1C288A8FA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478971"/>
            <a:ext cx="10447020" cy="6191993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buNone/>
            </a:pPr>
            <a:r>
              <a:rPr lang="es-ES" sz="5500" b="1" dirty="0">
                <a:solidFill>
                  <a:schemeClr val="tx1"/>
                </a:solidFill>
              </a:rPr>
              <a:t>Estado de Resultados</a:t>
            </a:r>
          </a:p>
          <a:p>
            <a:pPr marL="0" indent="0" algn="ctr">
              <a:buNone/>
            </a:pPr>
            <a:r>
              <a:rPr lang="es-ES" sz="6400" dirty="0">
                <a:solidFill>
                  <a:schemeClr val="tx1"/>
                </a:solidFill>
              </a:rPr>
              <a:t>Empresa “El Sol”</a:t>
            </a:r>
          </a:p>
          <a:p>
            <a:pPr marL="0" indent="0" algn="ctr">
              <a:buNone/>
            </a:pPr>
            <a:r>
              <a:rPr lang="es-ES" sz="5500" dirty="0">
                <a:solidFill>
                  <a:schemeClr val="tx1"/>
                </a:solidFill>
              </a:rPr>
              <a:t>(Expresados en Q)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Ventas										             115,800.00  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-)Consto de Ventas									</a:t>
            </a:r>
            <a:r>
              <a:rPr lang="es-ES" sz="6000" u="sng" dirty="0">
                <a:solidFill>
                  <a:schemeClr val="tx1"/>
                </a:solidFill>
              </a:rPr>
              <a:t>57,800.00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Utilidad Bruta										58,000.00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Gastos Operativos 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Gastos Operativos                         770.00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Gastos Generales				    625.00			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Gatos Administrativos			 </a:t>
            </a:r>
            <a:r>
              <a:rPr lang="es-ES" sz="6000" u="sng" dirty="0">
                <a:solidFill>
                  <a:schemeClr val="tx1"/>
                </a:solidFill>
              </a:rPr>
              <a:t>1,840.00			                3,235.00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Utilidad antes de otros ingresos					              54,765.00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Intereses recibidos								      </a:t>
            </a:r>
            <a:r>
              <a:rPr lang="es-ES" sz="6000" u="sng" dirty="0">
                <a:solidFill>
                  <a:schemeClr val="tx1"/>
                </a:solidFill>
              </a:rPr>
              <a:t>     830.00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Utilidad antes del ISR						                     55,595.00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ISR 25%						                                           </a:t>
            </a:r>
            <a:r>
              <a:rPr lang="es-ES" sz="6000" u="sng" dirty="0">
                <a:solidFill>
                  <a:schemeClr val="tx1"/>
                </a:solidFill>
              </a:rPr>
              <a:t>13,898.75</a:t>
            </a:r>
          </a:p>
          <a:p>
            <a:pPr marL="0" indent="0" algn="just">
              <a:buNone/>
            </a:pPr>
            <a:r>
              <a:rPr lang="es-ES" sz="6000" dirty="0">
                <a:solidFill>
                  <a:schemeClr val="tx1"/>
                </a:solidFill>
              </a:rPr>
              <a:t>Utilidad Neta										      </a:t>
            </a:r>
            <a:r>
              <a:rPr lang="es-ES" sz="6200" b="1" u="sng" dirty="0">
                <a:solidFill>
                  <a:schemeClr val="tx1"/>
                </a:solidFill>
              </a:rPr>
              <a:t> 41,696.25</a:t>
            </a:r>
          </a:p>
          <a:p>
            <a:pPr marL="0" indent="0" algn="just">
              <a:buNone/>
            </a:pPr>
            <a:r>
              <a:rPr lang="es-ES" dirty="0"/>
              <a:t>					</a:t>
            </a:r>
          </a:p>
          <a:p>
            <a:pPr marL="0" indent="0" algn="just">
              <a:buNone/>
            </a:pPr>
            <a:r>
              <a:rPr lang="es-ES" dirty="0"/>
              <a:t>						</a:t>
            </a:r>
          </a:p>
          <a:p>
            <a:pPr marL="0" indent="0"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571755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DAD264-F9E7-4FF2-94F5-6AC6ABFE7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979714"/>
            <a:ext cx="9601196" cy="4896154"/>
          </a:xfrm>
        </p:spPr>
        <p:txBody>
          <a:bodyPr/>
          <a:lstStyle/>
          <a:p>
            <a:pPr marL="0" indent="0" algn="ctr">
              <a:buNone/>
            </a:pPr>
            <a:r>
              <a:rPr lang="es-MX" b="1" dirty="0"/>
              <a:t>Porcentaje de Rentabilidad</a:t>
            </a:r>
          </a:p>
          <a:p>
            <a:pPr marL="0" indent="0" algn="just">
              <a:buNone/>
            </a:pPr>
            <a:r>
              <a:rPr lang="es-MX" b="1" dirty="0"/>
              <a:t>Ventas         115,800.00	 --------         100                36.00 %     </a:t>
            </a:r>
          </a:p>
          <a:p>
            <a:pPr marL="0" indent="0" algn="just">
              <a:buNone/>
            </a:pPr>
            <a:r>
              <a:rPr lang="es-MX" b="1" dirty="0"/>
              <a:t>Utilidad       41,696.25      ----------          X</a:t>
            </a:r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Laboratorio en el Portal</a:t>
            </a:r>
          </a:p>
        </p:txBody>
      </p:sp>
      <p:sp>
        <p:nvSpPr>
          <p:cNvPr id="4" name="Cerrar corchete 3">
            <a:extLst>
              <a:ext uri="{FF2B5EF4-FFF2-40B4-BE49-F238E27FC236}">
                <a16:creationId xmlns:a16="http://schemas.microsoft.com/office/drawing/2014/main" id="{E1E67FB3-C35D-432D-93E1-43613506DFCA}"/>
              </a:ext>
            </a:extLst>
          </p:cNvPr>
          <p:cNvSpPr/>
          <p:nvPr/>
        </p:nvSpPr>
        <p:spPr>
          <a:xfrm>
            <a:off x="7021286" y="1502229"/>
            <a:ext cx="413657" cy="805542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8730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24C32612ABDD94ABD0A2B80C9343CF5" ma:contentTypeVersion="6" ma:contentTypeDescription="Crear nuevo documento." ma:contentTypeScope="" ma:versionID="3be6bd09fef2ebe13cc5d7a52f229525">
  <xsd:schema xmlns:xsd="http://www.w3.org/2001/XMLSchema" xmlns:xs="http://www.w3.org/2001/XMLSchema" xmlns:p="http://schemas.microsoft.com/office/2006/metadata/properties" xmlns:ns2="5b53b8c2-a1f0-4427-ac21-4f04553b8eef" targetNamespace="http://schemas.microsoft.com/office/2006/metadata/properties" ma:root="true" ma:fieldsID="f7f1bbbdfa0d348033d8f156026b26bf" ns2:_="">
    <xsd:import namespace="5b53b8c2-a1f0-4427-ac21-4f04553b8e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53b8c2-a1f0-4427-ac21-4f04553b8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5801ED-99A6-4F4D-9624-BCB787A9C8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C9046C-2B86-4188-871F-10A97ED6A8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365850-87CD-47E7-953C-2E7950EF1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53b8c2-a1f0-4427-ac21-4f04553b8e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651</TotalTime>
  <Words>1133</Words>
  <Application>Microsoft Office PowerPoint</Application>
  <PresentationFormat>Panorámica</PresentationFormat>
  <Paragraphs>306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Garamond</vt:lpstr>
      <vt:lpstr>Times New Roman</vt:lpstr>
      <vt:lpstr>Wingdings</vt:lpstr>
      <vt:lpstr>Orgánico</vt:lpstr>
      <vt:lpstr> MÉTODO PEPS Resolución del Laboratorio Producto A – B - C    </vt:lpstr>
      <vt:lpstr> Cómo funciona el método PEPS </vt:lpstr>
      <vt:lpstr>Aplicación en empresas</vt:lpstr>
      <vt:lpstr>Presentación de PowerPoint</vt:lpstr>
      <vt:lpstr>Resolución del Laboratorio Método PEPS    </vt:lpstr>
      <vt:lpstr>Presentación de PowerPoint</vt:lpstr>
      <vt:lpstr>Presentación de PowerPoint</vt:lpstr>
      <vt:lpstr>Cedula    </vt:lpstr>
      <vt:lpstr>Presentación de PowerPoint</vt:lpstr>
      <vt:lpstr>           Entradas                Salidas               Saldo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 PEPS</dc:title>
  <dc:creator>Invitado</dc:creator>
  <cp:lastModifiedBy>Gladys Rossana Fernández</cp:lastModifiedBy>
  <cp:revision>58</cp:revision>
  <dcterms:created xsi:type="dcterms:W3CDTF">2020-03-19T01:38:18Z</dcterms:created>
  <dcterms:modified xsi:type="dcterms:W3CDTF">2024-05-14T18:50:12Z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0x010100E24C32612ABDD94ABD0A2B80C9343CF5</vt:lpwstr>
  </property>
</Properties>
</file>