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</p:sldMasterIdLst>
  <p:sldIdLst>
    <p:sldId id="256" r:id="rId5"/>
    <p:sldId id="268" r:id="rId6"/>
    <p:sldId id="269" r:id="rId7"/>
    <p:sldId id="270" r:id="rId8"/>
    <p:sldId id="257" r:id="rId9"/>
    <p:sldId id="271" r:id="rId10"/>
    <p:sldId id="258" r:id="rId11"/>
    <p:sldId id="272" r:id="rId12"/>
    <p:sldId id="259" r:id="rId13"/>
    <p:sldId id="260" r:id="rId14"/>
    <p:sldId id="273" r:id="rId15"/>
    <p:sldId id="261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90" autoAdjust="0"/>
    <p:restoredTop sz="94660"/>
  </p:normalViewPr>
  <p:slideViewPr>
    <p:cSldViewPr snapToGrid="0">
      <p:cViewPr varScale="1">
        <p:scale>
          <a:sx n="81" d="100"/>
          <a:sy n="81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5832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39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13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47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32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926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83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22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74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55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0463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493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3144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4450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732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90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C7BA6-A888-446C-B61A-A0A5ED5E19A2}" type="datetimeFigureOut">
              <a:rPr lang="es-ES" smtClean="0"/>
              <a:t>02/04/2024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3F21C5F-EFC0-477A-8644-2BE7545CA6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58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2A189B2-F506-45B3-A62F-EBD287BCD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885" y="502275"/>
            <a:ext cx="8411117" cy="5499279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>
                <a:solidFill>
                  <a:schemeClr val="tx1"/>
                </a:solidFill>
              </a:rPr>
              <a:t> CASO INDUSTRIAL </a:t>
            </a:r>
          </a:p>
          <a:p>
            <a:pPr algn="ctr"/>
            <a:r>
              <a:rPr lang="es-ES" sz="3200" b="1" dirty="0">
                <a:solidFill>
                  <a:schemeClr val="tx1"/>
                </a:solidFill>
              </a:rPr>
              <a:t>UNO</a:t>
            </a:r>
          </a:p>
        </p:txBody>
      </p:sp>
      <p:pic>
        <p:nvPicPr>
          <p:cNvPr id="1026" name="Picture 2" descr="COSTOS INDUSTRIALES: COSTOS INDUSTRIALES">
            <a:extLst>
              <a:ext uri="{FF2B5EF4-FFF2-40B4-BE49-F238E27FC236}">
                <a16:creationId xmlns:a16="http://schemas.microsoft.com/office/drawing/2014/main" id="{6E2AF067-B70A-4738-B357-FB05ED2D5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40" y="2302098"/>
            <a:ext cx="4108360" cy="251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65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2995BB-328F-445B-BC44-18E04883C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425" y="162370"/>
            <a:ext cx="9388699" cy="58789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b="1" dirty="0">
                <a:solidFill>
                  <a:schemeClr val="tx1"/>
                </a:solidFill>
              </a:rPr>
              <a:t>CASO INDUSTRIAL I</a:t>
            </a: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En esté caso se puede tener el precio rea de la venta, el cual agrega el precio de costo con el porcentaje de rentabilidad.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Debe tomarse en cuenta los costos fijos, como los costos variables, ya que es fundamental saber con exactitud, el precio real de la inversión.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Posteriormente a ello, se debe agregar la rentabilidad que se desea ganar, pero debe realizarse un estudio de mercado, para no quedarse lejos de la competencia.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El precio de venta debe incluir los gastos fijos, variables y porcentaje de rentabilidad. </a:t>
            </a:r>
            <a:endParaRPr lang="es-GT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10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F83CE9-9E5A-4848-92EB-1EB6444B1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82062"/>
            <a:ext cx="8759743" cy="5959301"/>
          </a:xfrm>
        </p:spPr>
        <p:txBody>
          <a:bodyPr/>
          <a:lstStyle/>
          <a:p>
            <a:pPr marL="0" indent="0">
              <a:buNone/>
            </a:pPr>
            <a:endParaRPr lang="es-E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ES" sz="2400" b="1" dirty="0">
                <a:solidFill>
                  <a:schemeClr val="tx1"/>
                </a:solidFill>
              </a:rPr>
              <a:t>Gastos Fijos:</a:t>
            </a: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Son todos aquellos que se pagan mensualmente, independientemente si se vende o no, al igual que si hay servicio o no lo hay.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Ejemplo: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Luz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Agua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Teléfono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Renta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Entre otros.</a:t>
            </a:r>
          </a:p>
          <a:p>
            <a:pPr marL="0" indent="0">
              <a:buNone/>
            </a:pPr>
            <a:endParaRPr lang="es-GT" dirty="0"/>
          </a:p>
        </p:txBody>
      </p:sp>
      <p:pic>
        <p:nvPicPr>
          <p:cNvPr id="4" name="Imagen 3" descr="Costo fijo: son aquellos costos que no son sensibles a pequeños ...">
            <a:extLst>
              <a:ext uri="{FF2B5EF4-FFF2-40B4-BE49-F238E27FC236}">
                <a16:creationId xmlns:a16="http://schemas.microsoft.com/office/drawing/2014/main" id="{CC6D86E9-9D3E-4B9A-AC51-4DEB20EFD5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061" y="2486836"/>
            <a:ext cx="3338704" cy="18843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140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732D99-EA30-4676-9B36-B4943F8B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78564"/>
            <a:ext cx="8814396" cy="5562799"/>
          </a:xfrm>
        </p:spPr>
        <p:txBody>
          <a:bodyPr/>
          <a:lstStyle/>
          <a:p>
            <a:pPr marL="0" indent="0">
              <a:buNone/>
            </a:pPr>
            <a:r>
              <a:rPr lang="es-ES" sz="2400" b="1" dirty="0">
                <a:solidFill>
                  <a:schemeClr val="tx1"/>
                </a:solidFill>
              </a:rPr>
              <a:t>Gastos Variables</a:t>
            </a: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Son todos aquellos gastos que dependen directamente de la producción o del servicio, tales como: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Suministros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Materia prima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Mano de obra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Empaques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tx1"/>
                </a:solidFill>
              </a:rPr>
              <a:t>Entre otros </a:t>
            </a:r>
          </a:p>
          <a:p>
            <a:pPr marL="0" indent="0"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313727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4F8DD6-B3AD-4670-B4A6-9C5F9A08F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23" y="246185"/>
            <a:ext cx="9460523" cy="5795177"/>
          </a:xfrm>
        </p:spPr>
        <p:txBody>
          <a:bodyPr/>
          <a:lstStyle/>
          <a:p>
            <a:pPr marL="0" indent="0" algn="ctr">
              <a:buNone/>
            </a:pPr>
            <a:r>
              <a:rPr lang="es-ES" b="1" dirty="0">
                <a:solidFill>
                  <a:schemeClr val="tx1"/>
                </a:solidFill>
              </a:rPr>
              <a:t>COSTO INDUSTRIAL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b="1" dirty="0">
                <a:solidFill>
                  <a:schemeClr val="tx1"/>
                </a:solidFill>
              </a:rPr>
              <a:t>UNO</a:t>
            </a:r>
          </a:p>
          <a:p>
            <a:pPr marL="0" indent="0" algn="ctr">
              <a:buNone/>
            </a:pPr>
            <a:endParaRPr lang="es-ES" dirty="0">
              <a:solidFill>
                <a:schemeClr val="tx1"/>
              </a:solidFill>
            </a:endParaRPr>
          </a:p>
          <a:p>
            <a:pPr algn="just"/>
            <a:r>
              <a:rPr lang="es-ES" sz="2000" dirty="0">
                <a:solidFill>
                  <a:schemeClr val="tx1"/>
                </a:solidFill>
              </a:rPr>
              <a:t>Es un sistema intermedio entre el </a:t>
            </a:r>
            <a:r>
              <a:rPr lang="es-ES" sz="2000" b="1" dirty="0">
                <a:solidFill>
                  <a:schemeClr val="tx1"/>
                </a:solidFill>
              </a:rPr>
              <a:t>Costo Directo</a:t>
            </a:r>
            <a:r>
              <a:rPr lang="es-ES" sz="2000" dirty="0">
                <a:solidFill>
                  <a:schemeClr val="tx1"/>
                </a:solidFill>
              </a:rPr>
              <a:t> (Direct </a:t>
            </a:r>
            <a:r>
              <a:rPr lang="es-ES" sz="2000" dirty="0" err="1">
                <a:solidFill>
                  <a:schemeClr val="tx1"/>
                </a:solidFill>
              </a:rPr>
              <a:t>Costing</a:t>
            </a:r>
            <a:r>
              <a:rPr lang="es-ES" sz="2000" dirty="0">
                <a:solidFill>
                  <a:schemeClr val="tx1"/>
                </a:solidFill>
              </a:rPr>
              <a:t>) y el </a:t>
            </a:r>
            <a:r>
              <a:rPr lang="es-ES" sz="2000" b="1" dirty="0">
                <a:solidFill>
                  <a:schemeClr val="tx1"/>
                </a:solidFill>
              </a:rPr>
              <a:t>Costo total</a:t>
            </a:r>
            <a:r>
              <a:rPr lang="es-ES" sz="2000" dirty="0">
                <a:solidFill>
                  <a:schemeClr val="tx1"/>
                </a:solidFill>
              </a:rPr>
              <a:t> (Full-</a:t>
            </a:r>
            <a:r>
              <a:rPr lang="es-ES" sz="2000" dirty="0" err="1">
                <a:solidFill>
                  <a:schemeClr val="tx1"/>
                </a:solidFill>
              </a:rPr>
              <a:t>Cost</a:t>
            </a:r>
            <a:r>
              <a:rPr lang="es-ES" sz="2000" dirty="0">
                <a:solidFill>
                  <a:schemeClr val="tx1"/>
                </a:solidFill>
              </a:rPr>
              <a:t>). Consiste en imputar a los productos lo que cuesta su fabricación, llevando todos los demás costos de la empresa, contra la cuenta de resultados, sin entrar a formar parte del valor de los productos.</a:t>
            </a:r>
          </a:p>
          <a:p>
            <a:pPr algn="just"/>
            <a:endParaRPr lang="es-ES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ES" sz="2000" b="1" dirty="0">
                <a:solidFill>
                  <a:schemeClr val="tx1"/>
                </a:solidFill>
              </a:rPr>
              <a:t>               Costos variables de Fabricación + Costos fijos de Fabricación = </a:t>
            </a:r>
          </a:p>
          <a:p>
            <a:pPr marL="0" indent="0" algn="ctr">
              <a:buNone/>
            </a:pPr>
            <a:r>
              <a:rPr lang="es-ES" sz="2000" b="1" dirty="0">
                <a:solidFill>
                  <a:schemeClr val="tx1"/>
                </a:solidFill>
              </a:rPr>
              <a:t>Costo industrial</a:t>
            </a:r>
          </a:p>
          <a:p>
            <a:pPr marL="0" indent="0" algn="just">
              <a:buNone/>
            </a:pPr>
            <a:br>
              <a:rPr lang="es-ES" sz="2000" dirty="0">
                <a:solidFill>
                  <a:schemeClr val="tx1"/>
                </a:solidFill>
              </a:rPr>
            </a:br>
            <a:r>
              <a:rPr lang="es-ES" sz="2000" dirty="0">
                <a:solidFill>
                  <a:schemeClr val="tx1"/>
                </a:solidFill>
              </a:rPr>
              <a:t>Si al costo industrial le añadimos el resto de costos: Comerciales, administración (que nunca se incorporarán al producto) obtenemos el </a:t>
            </a:r>
            <a:r>
              <a:rPr lang="es-ES" sz="2000" b="1" dirty="0">
                <a:solidFill>
                  <a:schemeClr val="tx1"/>
                </a:solidFill>
              </a:rPr>
              <a:t>costo completo</a:t>
            </a:r>
            <a:r>
              <a:rPr lang="es-ES" sz="2000" dirty="0">
                <a:solidFill>
                  <a:schemeClr val="tx1"/>
                </a:solidFill>
              </a:rPr>
              <a:t>.</a:t>
            </a:r>
          </a:p>
          <a:p>
            <a:pPr marL="0" indent="0" algn="just">
              <a:buNone/>
            </a:pPr>
            <a:br>
              <a:rPr lang="es-ES" dirty="0">
                <a:solidFill>
                  <a:schemeClr val="tx1"/>
                </a:solidFill>
              </a:rPr>
            </a:br>
            <a:br>
              <a:rPr lang="es-ES" dirty="0">
                <a:solidFill>
                  <a:schemeClr val="tx1"/>
                </a:solidFill>
              </a:rPr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166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C52471-913A-4AF7-A36F-E0AF4975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67469"/>
            <a:ext cx="9425354" cy="5673894"/>
          </a:xfrm>
        </p:spPr>
        <p:txBody>
          <a:bodyPr/>
          <a:lstStyle/>
          <a:p>
            <a:pPr marL="0" indent="0" algn="ctr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ES" sz="2000" b="1" dirty="0">
                <a:solidFill>
                  <a:schemeClr val="tx1"/>
                </a:solidFill>
              </a:rPr>
              <a:t>Costo industrial + Costo comercial + Costo de administración = </a:t>
            </a:r>
          </a:p>
          <a:p>
            <a:pPr marL="0" indent="0" algn="ctr">
              <a:buNone/>
            </a:pPr>
            <a:r>
              <a:rPr lang="es-ES" sz="2000" b="1" dirty="0">
                <a:solidFill>
                  <a:schemeClr val="tx1"/>
                </a:solidFill>
              </a:rPr>
              <a:t>Costo completo</a:t>
            </a:r>
          </a:p>
          <a:p>
            <a:pPr marL="0" indent="0" algn="ctr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Función que cumple cada costo: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algn="just"/>
            <a:r>
              <a:rPr lang="es-ES" sz="2000" dirty="0">
                <a:solidFill>
                  <a:schemeClr val="tx1"/>
                </a:solidFill>
              </a:rPr>
              <a:t>-El cálculo del </a:t>
            </a:r>
            <a:r>
              <a:rPr lang="es-ES" sz="2000" b="1" dirty="0">
                <a:solidFill>
                  <a:schemeClr val="tx1"/>
                </a:solidFill>
              </a:rPr>
              <a:t>costo industrial</a:t>
            </a:r>
            <a:r>
              <a:rPr lang="es-ES" sz="2000" dirty="0">
                <a:solidFill>
                  <a:schemeClr val="tx1"/>
                </a:solidFill>
              </a:rPr>
              <a:t> nos va a servir para </a:t>
            </a:r>
            <a:r>
              <a:rPr lang="es-ES" sz="2000" b="1" dirty="0">
                <a:solidFill>
                  <a:schemeClr val="tx1"/>
                </a:solidFill>
              </a:rPr>
              <a:t>valorar los inventarios</a:t>
            </a:r>
            <a:r>
              <a:rPr lang="es-ES" sz="2000" dirty="0">
                <a:solidFill>
                  <a:schemeClr val="tx1"/>
                </a:solidFill>
              </a:rPr>
              <a:t>.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algn="just"/>
            <a:r>
              <a:rPr lang="es-ES" sz="2000" dirty="0">
                <a:solidFill>
                  <a:schemeClr val="tx1"/>
                </a:solidFill>
              </a:rPr>
              <a:t>-El cálculo del </a:t>
            </a:r>
            <a:r>
              <a:rPr lang="es-ES" sz="2000" b="1" dirty="0">
                <a:solidFill>
                  <a:schemeClr val="tx1"/>
                </a:solidFill>
              </a:rPr>
              <a:t>costo completo</a:t>
            </a:r>
            <a:r>
              <a:rPr lang="es-ES" sz="2000" dirty="0">
                <a:solidFill>
                  <a:schemeClr val="tx1"/>
                </a:solidFill>
              </a:rPr>
              <a:t> nos permite fijar el </a:t>
            </a:r>
            <a:r>
              <a:rPr lang="es-ES" sz="2000" b="1" dirty="0">
                <a:solidFill>
                  <a:schemeClr val="tx1"/>
                </a:solidFill>
              </a:rPr>
              <a:t>precio de venta</a:t>
            </a:r>
            <a:endParaRPr lang="es-ES" sz="2000" dirty="0">
              <a:solidFill>
                <a:schemeClr val="tx1"/>
              </a:solidFill>
            </a:endParaRP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723168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F1CF0-0261-4665-9542-396D11EA0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908" y="175846"/>
            <a:ext cx="9401907" cy="5865518"/>
          </a:xfrm>
        </p:spPr>
        <p:txBody>
          <a:bodyPr/>
          <a:lstStyle/>
          <a:p>
            <a:pPr marL="0" indent="0" algn="ctr">
              <a:buNone/>
            </a:pPr>
            <a:r>
              <a:rPr lang="es-ES" sz="2000" b="1" dirty="0">
                <a:solidFill>
                  <a:schemeClr val="tx1"/>
                </a:solidFill>
              </a:rPr>
              <a:t>CASO PRÁCTICO UNO</a:t>
            </a:r>
            <a:r>
              <a:rPr lang="es-ES" sz="2000" dirty="0">
                <a:solidFill>
                  <a:schemeClr val="tx1"/>
                </a:solidFill>
              </a:rPr>
              <a:t> </a:t>
            </a:r>
          </a:p>
          <a:p>
            <a:pPr algn="just"/>
            <a:r>
              <a:rPr lang="es-ES" sz="2000" dirty="0">
                <a:solidFill>
                  <a:schemeClr val="tx1"/>
                </a:solidFill>
              </a:rPr>
              <a:t>La empresa “FAL”, fabrica un solo modelo de persiana metálica. </a:t>
            </a:r>
          </a:p>
          <a:p>
            <a:pPr algn="just"/>
            <a:endParaRPr lang="es-ES" sz="2000" dirty="0">
              <a:solidFill>
                <a:schemeClr val="tx1"/>
              </a:solidFill>
            </a:endParaRPr>
          </a:p>
          <a:p>
            <a:pPr algn="just"/>
            <a:r>
              <a:rPr lang="es-ES" sz="2000" dirty="0">
                <a:solidFill>
                  <a:schemeClr val="tx1"/>
                </a:solidFill>
              </a:rPr>
              <a:t>Durante el mes ha fabricado 80 completas y 20 con un grado de elaboración del 40%. </a:t>
            </a:r>
          </a:p>
          <a:p>
            <a:pPr algn="just"/>
            <a:endParaRPr lang="es-ES" sz="2000" dirty="0">
              <a:solidFill>
                <a:schemeClr val="tx1"/>
              </a:solidFill>
            </a:endParaRPr>
          </a:p>
          <a:p>
            <a:pPr algn="just"/>
            <a:r>
              <a:rPr lang="es-ES" sz="2000" dirty="0">
                <a:solidFill>
                  <a:schemeClr val="tx1"/>
                </a:solidFill>
              </a:rPr>
              <a:t>Los costos de fabricación han sido de Q 44,000.00 y el resto de costos (comerciales, administración, entre otros) han supuesto Q 3,080.00 </a:t>
            </a:r>
          </a:p>
          <a:p>
            <a:pPr algn="just"/>
            <a:endParaRPr lang="es-ES" sz="2000" dirty="0">
              <a:solidFill>
                <a:schemeClr val="tx1"/>
              </a:solidFill>
            </a:endParaRPr>
          </a:p>
          <a:p>
            <a:pPr algn="just"/>
            <a:r>
              <a:rPr lang="es-GT" sz="2000" dirty="0">
                <a:solidFill>
                  <a:schemeClr val="tx1"/>
                </a:solidFill>
              </a:rPr>
              <a:t>Si la empresa fija el precio de venta aplicando un margen del 30% sobre el costo completo, vamos a calcular.</a:t>
            </a:r>
          </a:p>
          <a:p>
            <a:pPr algn="just"/>
            <a:endParaRPr lang="es-E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3528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5E337-B3F7-4D8D-B72A-DDF7A0D03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9462"/>
            <a:ext cx="8783189" cy="5861901"/>
          </a:xfrm>
        </p:spPr>
        <p:txBody>
          <a:bodyPr/>
          <a:lstStyle/>
          <a:p>
            <a:pPr marL="0" indent="0">
              <a:buNone/>
            </a:pPr>
            <a:r>
              <a:rPr lang="es-GT" sz="2000" dirty="0">
                <a:solidFill>
                  <a:schemeClr val="tx1"/>
                </a:solidFill>
              </a:rPr>
              <a:t>Se pide determinar en el caso:</a:t>
            </a:r>
          </a:p>
          <a:p>
            <a:pPr marL="0" indent="0">
              <a:buNone/>
            </a:pPr>
            <a:br>
              <a:rPr lang="es-GT" sz="2000" dirty="0">
                <a:solidFill>
                  <a:schemeClr val="tx1"/>
                </a:solidFill>
              </a:rPr>
            </a:br>
            <a:r>
              <a:rPr lang="es-GT" sz="2000" dirty="0">
                <a:solidFill>
                  <a:schemeClr val="tx1"/>
                </a:solidFill>
              </a:rPr>
              <a:t>      a) El </a:t>
            </a:r>
            <a:r>
              <a:rPr lang="es-GT" sz="2000" b="1" dirty="0">
                <a:solidFill>
                  <a:srgbClr val="002060"/>
                </a:solidFill>
              </a:rPr>
              <a:t>costo total </a:t>
            </a:r>
            <a:r>
              <a:rPr lang="es-GT" sz="2000" dirty="0">
                <a:solidFill>
                  <a:schemeClr val="tx1"/>
                </a:solidFill>
              </a:rPr>
              <a:t>de cada persiana</a:t>
            </a:r>
          </a:p>
          <a:p>
            <a:pPr marL="0" indent="0">
              <a:buNone/>
            </a:pPr>
            <a:br>
              <a:rPr lang="es-GT" sz="2000" dirty="0">
                <a:solidFill>
                  <a:schemeClr val="tx1"/>
                </a:solidFill>
              </a:rPr>
            </a:br>
            <a:r>
              <a:rPr lang="es-GT" sz="2000" dirty="0">
                <a:solidFill>
                  <a:schemeClr val="tx1"/>
                </a:solidFill>
              </a:rPr>
              <a:t>      b) El </a:t>
            </a:r>
            <a:r>
              <a:rPr lang="es-GT" sz="2000" b="1" dirty="0">
                <a:solidFill>
                  <a:srgbClr val="002060"/>
                </a:solidFill>
              </a:rPr>
              <a:t>precio de venta </a:t>
            </a:r>
            <a:r>
              <a:rPr lang="es-GT" sz="2000" dirty="0">
                <a:solidFill>
                  <a:schemeClr val="tx1"/>
                </a:solidFill>
              </a:rPr>
              <a:t>de cada persiana</a:t>
            </a:r>
          </a:p>
          <a:p>
            <a:pPr marL="0" indent="0">
              <a:buNone/>
            </a:pPr>
            <a:endParaRPr lang="es-GT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GT" sz="2000" dirty="0">
                <a:solidFill>
                  <a:schemeClr val="tx1"/>
                </a:solidFill>
              </a:rPr>
              <a:t>      c) El precio</a:t>
            </a:r>
            <a:r>
              <a:rPr lang="es-GT" sz="2000" b="1" dirty="0">
                <a:solidFill>
                  <a:srgbClr val="002060"/>
                </a:solidFill>
              </a:rPr>
              <a:t> total de ventas</a:t>
            </a:r>
          </a:p>
          <a:p>
            <a:pPr marL="0" indent="0">
              <a:buNone/>
            </a:pPr>
            <a:endParaRPr lang="es-GT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GT" sz="2000" dirty="0">
                <a:solidFill>
                  <a:schemeClr val="tx1"/>
                </a:solidFill>
              </a:rPr>
              <a:t>      d) El precio </a:t>
            </a:r>
            <a:r>
              <a:rPr lang="es-GT" sz="2000" b="1" dirty="0">
                <a:solidFill>
                  <a:srgbClr val="002060"/>
                </a:solidFill>
              </a:rPr>
              <a:t>total de la ganancia</a:t>
            </a:r>
            <a:r>
              <a:rPr lang="es-GT" sz="20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s-GT" sz="2000" dirty="0">
                <a:solidFill>
                  <a:schemeClr val="tx1"/>
                </a:solidFill>
              </a:rPr>
              <a:t> 	</a:t>
            </a:r>
          </a:p>
          <a:p>
            <a:pPr marL="0" indent="0">
              <a:buNone/>
            </a:pPr>
            <a:r>
              <a:rPr lang="es-GT" sz="2000" dirty="0">
                <a:solidFill>
                  <a:schemeClr val="tx1"/>
                </a:solidFill>
              </a:rPr>
              <a:t>	e) El costo </a:t>
            </a:r>
            <a:r>
              <a:rPr lang="es-GT" sz="2000" b="1" dirty="0">
                <a:solidFill>
                  <a:srgbClr val="002060"/>
                </a:solidFill>
              </a:rPr>
              <a:t>total de las persianas</a:t>
            </a:r>
          </a:p>
          <a:p>
            <a:pPr marL="0" indent="0"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106315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0E696B-EC53-4E35-BD4D-9C3F1FF24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73465"/>
            <a:ext cx="8759743" cy="5767897"/>
          </a:xfrm>
        </p:spPr>
        <p:txBody>
          <a:bodyPr/>
          <a:lstStyle/>
          <a:p>
            <a:pPr marL="0" indent="0" algn="ctr">
              <a:buNone/>
            </a:pPr>
            <a:r>
              <a:rPr lang="es-GT" sz="2000" b="1" dirty="0">
                <a:solidFill>
                  <a:schemeClr val="tx1"/>
                </a:solidFill>
              </a:rPr>
              <a:t>SOLUCIÓN</a:t>
            </a:r>
            <a:endParaRPr lang="en-US" sz="20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s-ES" sz="2000" dirty="0">
              <a:solidFill>
                <a:schemeClr val="tx1"/>
              </a:solidFill>
            </a:endParaRPr>
          </a:p>
          <a:p>
            <a:pPr lvl="0" algn="just"/>
            <a:r>
              <a:rPr lang="es-GT" sz="2000" b="1" dirty="0">
                <a:solidFill>
                  <a:schemeClr val="tx1"/>
                </a:solidFill>
              </a:rPr>
              <a:t> Total de unidades terminadas: </a:t>
            </a:r>
            <a:r>
              <a:rPr lang="es-GT" sz="2000" dirty="0">
                <a:solidFill>
                  <a:schemeClr val="tx1"/>
                </a:solidFill>
              </a:rPr>
              <a:t>Unidades fabricadas: </a:t>
            </a:r>
          </a:p>
          <a:p>
            <a:pPr marL="0" lvl="0" indent="0" algn="just">
              <a:buNone/>
            </a:pPr>
            <a:r>
              <a:rPr lang="es-GT" sz="2000" dirty="0">
                <a:solidFill>
                  <a:schemeClr val="tx1"/>
                </a:solidFill>
              </a:rPr>
              <a:t>          80 + (20 x 0.40) =  80 + 8 =  88 unidades terminadas.</a:t>
            </a:r>
            <a:endParaRPr lang="es-ES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GT" sz="2000" dirty="0">
                <a:solidFill>
                  <a:schemeClr val="tx1"/>
                </a:solidFill>
              </a:rPr>
              <a:t> </a:t>
            </a:r>
            <a:r>
              <a:rPr lang="es-ES" sz="2000" b="1" dirty="0">
                <a:solidFill>
                  <a:schemeClr val="tx1"/>
                </a:solidFill>
              </a:rPr>
              <a:t> 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tx1"/>
              </a:solidFill>
            </a:endParaRPr>
          </a:p>
          <a:p>
            <a:pPr algn="just"/>
            <a:r>
              <a:rPr lang="es-ES" sz="2000" b="1" dirty="0">
                <a:solidFill>
                  <a:schemeClr val="tx1"/>
                </a:solidFill>
              </a:rPr>
              <a:t>Costo completo:</a:t>
            </a:r>
            <a:r>
              <a:rPr lang="es-ES" sz="2000" dirty="0">
                <a:solidFill>
                  <a:schemeClr val="tx1"/>
                </a:solidFill>
              </a:rPr>
              <a:t> Q 44,000.00 + Q 3,080.00 =     Q 47,080.00 </a:t>
            </a:r>
          </a:p>
          <a:p>
            <a:pPr algn="just"/>
            <a:endParaRPr lang="es-ES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GT" sz="2000" dirty="0">
                <a:solidFill>
                  <a:schemeClr val="tx1"/>
                </a:solidFill>
              </a:rPr>
              <a:t>      Costo total de cada persiana =    </a:t>
            </a:r>
            <a:r>
              <a:rPr lang="es-GT" sz="2000" u="sng" dirty="0">
                <a:solidFill>
                  <a:schemeClr val="tx1"/>
                </a:solidFill>
              </a:rPr>
              <a:t>Q 47,080.00  =</a:t>
            </a:r>
            <a:r>
              <a:rPr lang="es-GT" sz="2000" dirty="0">
                <a:solidFill>
                  <a:schemeClr val="tx1"/>
                </a:solidFill>
              </a:rPr>
              <a:t>    </a:t>
            </a:r>
            <a:r>
              <a:rPr lang="es-GT" sz="2000" u="sng" dirty="0">
                <a:solidFill>
                  <a:schemeClr val="tx1"/>
                </a:solidFill>
              </a:rPr>
              <a:t>Q 535.00</a:t>
            </a:r>
            <a:endParaRPr lang="es-ES" sz="2000" u="sng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s-GT" sz="2000" dirty="0">
                <a:solidFill>
                  <a:schemeClr val="tx1"/>
                </a:solidFill>
              </a:rPr>
              <a:t>                           		                             88</a:t>
            </a:r>
            <a:endParaRPr lang="es-E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747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8AF95B-B2A7-4E0C-9121-731EC7457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3" y="188007"/>
            <a:ext cx="9612511" cy="5853355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sz="2000" b="1" dirty="0">
                <a:solidFill>
                  <a:schemeClr val="tx1"/>
                </a:solidFill>
              </a:rPr>
              <a:t>Precio de venta</a:t>
            </a:r>
            <a:r>
              <a:rPr lang="es-ES" sz="2000" dirty="0">
                <a:solidFill>
                  <a:schemeClr val="tx1"/>
                </a:solidFill>
              </a:rPr>
              <a:t> = Q 535.00 + (Q.535.00 x 0.30) = Q 535.00 + 160.50 = Q </a:t>
            </a:r>
            <a:r>
              <a:rPr lang="es-ES" sz="2000" b="1" u="sng" dirty="0">
                <a:solidFill>
                  <a:schemeClr val="tx1"/>
                </a:solidFill>
              </a:rPr>
              <a:t>695.50</a:t>
            </a:r>
            <a:r>
              <a:rPr lang="es-ES" sz="2000" b="1" dirty="0">
                <a:solidFill>
                  <a:schemeClr val="tx1"/>
                </a:solidFill>
              </a:rPr>
              <a:t> </a:t>
            </a:r>
            <a:endParaRPr lang="es-E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 </a:t>
            </a:r>
            <a:r>
              <a:rPr lang="es-ES" sz="2000" b="1" dirty="0">
                <a:solidFill>
                  <a:schemeClr val="tx1"/>
                </a:solidFill>
              </a:rPr>
              <a:t>Por unidad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tx1"/>
                </a:solidFill>
              </a:rPr>
              <a:t>                                      </a:t>
            </a:r>
            <a:r>
              <a:rPr lang="es-GT" sz="2000" b="1" dirty="0">
                <a:solidFill>
                  <a:schemeClr val="tx1"/>
                </a:solidFill>
              </a:rPr>
              <a:t>Precio de costo.	            Margen de utilidad   P. Venta</a:t>
            </a:r>
            <a:endParaRPr lang="es-E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GT" b="1" dirty="0">
                <a:solidFill>
                  <a:schemeClr val="tx1"/>
                </a:solidFill>
              </a:rPr>
              <a:t>								</a:t>
            </a:r>
            <a:endParaRPr lang="es-E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GT" sz="2000" b="1" dirty="0">
                <a:solidFill>
                  <a:schemeClr val="tx1"/>
                </a:solidFill>
              </a:rPr>
              <a:t>                Ingreso total de Venta:   88 x Q 695.50 = </a:t>
            </a:r>
            <a:r>
              <a:rPr lang="es-GT" sz="2000" b="1" u="sng" dirty="0">
                <a:solidFill>
                  <a:schemeClr val="tx1"/>
                </a:solidFill>
              </a:rPr>
              <a:t>Q 61,204.00</a:t>
            </a:r>
            <a:endParaRPr lang="es-ES" sz="20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GT" b="1" dirty="0">
                <a:solidFill>
                  <a:schemeClr val="tx1"/>
                </a:solidFill>
              </a:rPr>
              <a:t> </a:t>
            </a:r>
            <a:endParaRPr lang="es-ES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GT" sz="2000" b="1" dirty="0">
                <a:solidFill>
                  <a:schemeClr val="tx1"/>
                </a:solidFill>
              </a:rPr>
              <a:t>Margen de utilidad por todas las persianas 88 x Q 160.50 = </a:t>
            </a:r>
          </a:p>
          <a:p>
            <a:pPr marL="0" indent="0" algn="ctr">
              <a:buNone/>
            </a:pPr>
            <a:r>
              <a:rPr lang="es-GT" sz="2000" b="1" dirty="0">
                <a:solidFill>
                  <a:schemeClr val="tx1"/>
                </a:solidFill>
              </a:rPr>
              <a:t>Utilidad total = </a:t>
            </a:r>
            <a:r>
              <a:rPr lang="es-GT" sz="2000" b="1" u="sng" dirty="0">
                <a:solidFill>
                  <a:schemeClr val="tx1"/>
                </a:solidFill>
              </a:rPr>
              <a:t>Q 14,124 </a:t>
            </a:r>
          </a:p>
          <a:p>
            <a:pPr marL="0" indent="0" algn="ctr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                              </a:t>
            </a:r>
            <a:r>
              <a:rPr lang="es-ES" sz="2000" dirty="0">
                <a:solidFill>
                  <a:schemeClr val="tx1"/>
                </a:solidFill>
              </a:rPr>
              <a:t>Costo total del producto 88 x 535 = </a:t>
            </a:r>
            <a:r>
              <a:rPr lang="es-ES" sz="2000" b="1" u="sng" dirty="0">
                <a:solidFill>
                  <a:schemeClr val="tx1"/>
                </a:solidFill>
              </a:rPr>
              <a:t>Q 47,080.00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03FA8426-AF98-4C3C-9E71-CC873C5C7BDB}"/>
              </a:ext>
            </a:extLst>
          </p:cNvPr>
          <p:cNvCxnSpPr>
            <a:cxnSpLocks/>
          </p:cNvCxnSpPr>
          <p:nvPr/>
        </p:nvCxnSpPr>
        <p:spPr>
          <a:xfrm flipH="1">
            <a:off x="4733364" y="999215"/>
            <a:ext cx="1592553" cy="451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B3C5BD9-CDA5-4A43-95B9-55A4C27963B0}"/>
              </a:ext>
            </a:extLst>
          </p:cNvPr>
          <p:cNvCxnSpPr>
            <a:cxnSpLocks/>
          </p:cNvCxnSpPr>
          <p:nvPr/>
        </p:nvCxnSpPr>
        <p:spPr>
          <a:xfrm flipH="1">
            <a:off x="7021957" y="1005446"/>
            <a:ext cx="660208" cy="468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E008D8E-AF87-4D39-958F-A28338F57998}"/>
              </a:ext>
            </a:extLst>
          </p:cNvPr>
          <p:cNvCxnSpPr>
            <a:cxnSpLocks/>
          </p:cNvCxnSpPr>
          <p:nvPr/>
        </p:nvCxnSpPr>
        <p:spPr>
          <a:xfrm flipH="1">
            <a:off x="8378205" y="1005446"/>
            <a:ext cx="633503" cy="445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061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A35613-BC9A-4173-A242-C2753993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82011"/>
            <a:ext cx="8596668" cy="5759352"/>
          </a:xfrm>
        </p:spPr>
        <p:txBody>
          <a:bodyPr/>
          <a:lstStyle/>
          <a:p>
            <a:pPr marL="0" indent="0" algn="ctr">
              <a:buNone/>
            </a:pPr>
            <a:r>
              <a:rPr lang="es-ES" dirty="0">
                <a:solidFill>
                  <a:schemeClr val="tx1"/>
                </a:solidFill>
              </a:rPr>
              <a:t>Realice los Estados de Resultados con los resultados del Caso Industrial I</a:t>
            </a:r>
          </a:p>
          <a:p>
            <a:pPr marL="0" indent="0" algn="ctr">
              <a:buNone/>
            </a:pPr>
            <a:r>
              <a:rPr lang="es-ES" dirty="0">
                <a:solidFill>
                  <a:schemeClr val="tx1"/>
                </a:solidFill>
              </a:rPr>
              <a:t>Además, debe agregar los siguientes Gastos operacionales.</a:t>
            </a: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Gastos Generales				Q    300.00</a:t>
            </a: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Gastos Administrativos		   1,350.00</a:t>
            </a: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Gastos Financieros</a:t>
            </a: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Intereses Pagados					500.00</a:t>
            </a: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Calcule el ISR </a:t>
            </a: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Determine la utilidad neta. </a:t>
            </a: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		</a:t>
            </a:r>
          </a:p>
          <a:p>
            <a:pPr marL="0" indent="0">
              <a:buNone/>
            </a:pPr>
            <a:endParaRPr lang="es-ES" dirty="0"/>
          </a:p>
          <a:p>
            <a:pPr>
              <a:buFont typeface="Wingdings" panose="05000000000000000000" pitchFamily="2" charset="2"/>
              <a:buChar char="Ø"/>
            </a:pPr>
            <a:endParaRPr lang="es-ES" dirty="0"/>
          </a:p>
          <a:p>
            <a:pPr marL="0" indent="0">
              <a:buNone/>
            </a:pP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AD1CBE-164B-4DE6-AA44-DF21CA351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955" y="2991029"/>
            <a:ext cx="3108724" cy="199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61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94082-99FE-4DCA-AE79-EBF5E1DA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-76912"/>
            <a:ext cx="9027105" cy="66055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2000" dirty="0">
                <a:solidFill>
                  <a:schemeClr val="tx1"/>
                </a:solidFill>
              </a:rPr>
              <a:t>ESTADO DE RESULTADOS</a:t>
            </a:r>
          </a:p>
          <a:p>
            <a:pPr marL="0" indent="0" algn="ctr">
              <a:buNone/>
            </a:pPr>
            <a:r>
              <a:rPr lang="es-MX" sz="2000" dirty="0">
                <a:solidFill>
                  <a:schemeClr val="tx1"/>
                </a:solidFill>
              </a:rPr>
              <a:t>Empresa “FAL”</a:t>
            </a:r>
          </a:p>
          <a:p>
            <a:pPr marL="0" indent="0" algn="ctr">
              <a:buNone/>
            </a:pPr>
            <a:r>
              <a:rPr lang="es-MX" sz="2000" dirty="0">
                <a:solidFill>
                  <a:schemeClr val="tx1"/>
                </a:solidFill>
              </a:rPr>
              <a:t>(Expresado en Q)</a:t>
            </a:r>
          </a:p>
          <a:p>
            <a:pPr marL="0" indent="0" algn="just">
              <a:buNone/>
            </a:pPr>
            <a:r>
              <a:rPr lang="es-MX" sz="2000" dirty="0">
                <a:solidFill>
                  <a:schemeClr val="tx1"/>
                </a:solidFill>
              </a:rPr>
              <a:t>Ventas							     			61,204.00</a:t>
            </a:r>
          </a:p>
          <a:p>
            <a:pPr marL="0" indent="0" algn="just">
              <a:buNone/>
            </a:pPr>
            <a:r>
              <a:rPr lang="es-MX" sz="2000" dirty="0">
                <a:solidFill>
                  <a:schemeClr val="tx1"/>
                </a:solidFill>
              </a:rPr>
              <a:t>- Costo de Ventas                            			</a:t>
            </a:r>
            <a:r>
              <a:rPr lang="es-MX" sz="2000" u="sng" dirty="0">
                <a:solidFill>
                  <a:schemeClr val="tx1"/>
                </a:solidFill>
              </a:rPr>
              <a:t>47,080.00</a:t>
            </a:r>
          </a:p>
          <a:p>
            <a:pPr algn="just">
              <a:buFontTx/>
              <a:buChar char="-"/>
            </a:pPr>
            <a:r>
              <a:rPr lang="es-ES" sz="2000" dirty="0">
                <a:solidFill>
                  <a:schemeClr val="tx1"/>
                </a:solidFill>
              </a:rPr>
              <a:t>Utilidad Bruta                            			14,124.00</a:t>
            </a:r>
          </a:p>
          <a:p>
            <a:pPr algn="just">
              <a:buFontTx/>
              <a:buChar char="-"/>
            </a:pPr>
            <a:r>
              <a:rPr lang="es-ES" sz="2000" dirty="0">
                <a:solidFill>
                  <a:schemeClr val="tx1"/>
                </a:solidFill>
              </a:rPr>
              <a:t>Gastos operacionales</a:t>
            </a:r>
          </a:p>
          <a:p>
            <a:pPr algn="just">
              <a:buFontTx/>
              <a:buChar char="-"/>
            </a:pPr>
            <a:r>
              <a:rPr lang="es-ES" sz="2000" dirty="0">
                <a:solidFill>
                  <a:schemeClr val="tx1"/>
                </a:solidFill>
              </a:rPr>
              <a:t>Gastos Generales       	    300.00</a:t>
            </a:r>
          </a:p>
          <a:p>
            <a:pPr algn="just">
              <a:buFontTx/>
              <a:buChar char="-"/>
            </a:pPr>
            <a:r>
              <a:rPr lang="es-ES" sz="2000" dirty="0">
                <a:solidFill>
                  <a:schemeClr val="tx1"/>
                </a:solidFill>
              </a:rPr>
              <a:t>Gastos Administrativos 	 </a:t>
            </a:r>
            <a:r>
              <a:rPr lang="es-ES" sz="2000" u="sng" dirty="0">
                <a:solidFill>
                  <a:schemeClr val="tx1"/>
                </a:solidFill>
              </a:rPr>
              <a:t>1,350.00     </a:t>
            </a:r>
            <a:r>
              <a:rPr lang="es-ES" sz="2000" dirty="0">
                <a:solidFill>
                  <a:schemeClr val="tx1"/>
                </a:solidFill>
              </a:rPr>
              <a:t>       </a:t>
            </a:r>
            <a:r>
              <a:rPr lang="es-ES" sz="2000" u="sng" dirty="0">
                <a:solidFill>
                  <a:schemeClr val="tx1"/>
                </a:solidFill>
              </a:rPr>
              <a:t>1,650.00</a:t>
            </a: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    Utilidad antes de </a:t>
            </a:r>
            <a:r>
              <a:rPr lang="es-ES" sz="2000" dirty="0" err="1">
                <a:solidFill>
                  <a:schemeClr val="tx1"/>
                </a:solidFill>
              </a:rPr>
              <a:t>Gtos</a:t>
            </a:r>
            <a:r>
              <a:rPr lang="es-ES" sz="2000" dirty="0">
                <a:solidFill>
                  <a:schemeClr val="tx1"/>
                </a:solidFill>
              </a:rPr>
              <a:t>. F.                       12,474.00</a:t>
            </a: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    Intereses pagados	                              </a:t>
            </a:r>
            <a:r>
              <a:rPr lang="es-ES" sz="2000" u="sng" dirty="0">
                <a:solidFill>
                  <a:schemeClr val="tx1"/>
                </a:solidFill>
              </a:rPr>
              <a:t>    500.00</a:t>
            </a: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    Utilidad antes del ISR                             11,974.00</a:t>
            </a: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ISR 25%</a:t>
            </a:r>
            <a:r>
              <a:rPr lang="es-ES" sz="2000" dirty="0">
                <a:solidFill>
                  <a:schemeClr val="tx1"/>
                </a:solidFill>
              </a:rPr>
              <a:t>                                                  </a:t>
            </a:r>
            <a:r>
              <a:rPr lang="es-ES" sz="2000" u="sng" dirty="0">
                <a:solidFill>
                  <a:schemeClr val="tx1"/>
                </a:solidFill>
              </a:rPr>
              <a:t>2,993.50</a:t>
            </a:r>
          </a:p>
          <a:p>
            <a:pPr marL="0" indent="0" algn="just">
              <a:buNone/>
            </a:pPr>
            <a:r>
              <a:rPr lang="es-ES" sz="2000" dirty="0">
                <a:solidFill>
                  <a:schemeClr val="tx1"/>
                </a:solidFill>
              </a:rPr>
              <a:t>Utilidad Neta                                               </a:t>
            </a:r>
            <a:r>
              <a:rPr lang="es-ES" sz="2000" u="sng" dirty="0">
                <a:solidFill>
                  <a:schemeClr val="tx1"/>
                </a:solidFill>
              </a:rPr>
              <a:t>8,980.50</a:t>
            </a:r>
          </a:p>
        </p:txBody>
      </p:sp>
    </p:spTree>
    <p:extLst>
      <p:ext uri="{BB962C8B-B14F-4D97-AF65-F5344CB8AC3E}">
        <p14:creationId xmlns:p14="http://schemas.microsoft.com/office/powerpoint/2010/main" val="354855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743FBD-A457-B0D0-AA81-696315418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81135"/>
            <a:ext cx="8596668" cy="5360227"/>
          </a:xfrm>
        </p:spPr>
        <p:txBody>
          <a:bodyPr/>
          <a:lstStyle/>
          <a:p>
            <a:pPr marL="0" indent="0" algn="ctr">
              <a:buNone/>
            </a:pPr>
            <a:r>
              <a:rPr lang="es-MX" b="1" dirty="0"/>
              <a:t>Porcentaje de utilidad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Ventas ------ 100</a:t>
            </a:r>
          </a:p>
          <a:p>
            <a:pPr marL="0" indent="0">
              <a:buNone/>
            </a:pPr>
            <a:r>
              <a:rPr lang="es-MX" dirty="0"/>
              <a:t>Utilidad -----  X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sz="1800" dirty="0">
                <a:solidFill>
                  <a:schemeClr val="tx1"/>
                </a:solidFill>
              </a:rPr>
              <a:t>Q 61,204.00  ----   100</a:t>
            </a:r>
          </a:p>
          <a:p>
            <a:pPr marL="0" indent="0">
              <a:buNone/>
            </a:pPr>
            <a:r>
              <a:rPr lang="es-ES" dirty="0">
                <a:solidFill>
                  <a:schemeClr val="tx1"/>
                </a:solidFill>
              </a:rPr>
              <a:t>Q  8,980.50   ----    X                </a:t>
            </a:r>
            <a:r>
              <a:rPr lang="es-ES" b="1" dirty="0">
                <a:solidFill>
                  <a:srgbClr val="FF0000"/>
                </a:solidFill>
              </a:rPr>
              <a:t>14.67 %             </a:t>
            </a:r>
            <a:endParaRPr lang="es-MX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MX" dirty="0"/>
              <a:t>    </a:t>
            </a:r>
          </a:p>
          <a:p>
            <a:pPr marL="0" indent="0">
              <a:buNone/>
            </a:pPr>
            <a:r>
              <a:rPr lang="es-MX" dirty="0"/>
              <a:t> </a:t>
            </a:r>
          </a:p>
        </p:txBody>
      </p:sp>
      <p:sp>
        <p:nvSpPr>
          <p:cNvPr id="4" name="Cerrar llave 3">
            <a:extLst>
              <a:ext uri="{FF2B5EF4-FFF2-40B4-BE49-F238E27FC236}">
                <a16:creationId xmlns:a16="http://schemas.microsoft.com/office/drawing/2014/main" id="{A182E595-3638-6591-E0B6-AEDB2D2B1825}"/>
              </a:ext>
            </a:extLst>
          </p:cNvPr>
          <p:cNvSpPr/>
          <p:nvPr/>
        </p:nvSpPr>
        <p:spPr>
          <a:xfrm>
            <a:off x="3153747" y="2593910"/>
            <a:ext cx="653143" cy="121298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25179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2D5F068556504E8BDCA5496F36771F" ma:contentTypeVersion="2" ma:contentTypeDescription="Crear nuevo documento." ma:contentTypeScope="" ma:versionID="8fadbc29697505ad4b6ef4ba8693ab95">
  <xsd:schema xmlns:xsd="http://www.w3.org/2001/XMLSchema" xmlns:xs="http://www.w3.org/2001/XMLSchema" xmlns:p="http://schemas.microsoft.com/office/2006/metadata/properties" xmlns:ns2="aba91432-4c18-4f98-84da-4d3de15a50cb" targetNamespace="http://schemas.microsoft.com/office/2006/metadata/properties" ma:root="true" ma:fieldsID="90d381197d086c7964d51de632ec1497" ns2:_="">
    <xsd:import namespace="aba91432-4c18-4f98-84da-4d3de15a50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a91432-4c18-4f98-84da-4d3de15a50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408270-CA77-47EA-BBC4-917D779ABEA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23D4E2A-6261-4330-B9E8-C7567B47A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a91432-4c18-4f98-84da-4d3de15a50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52B48B-81EA-4325-B7EA-1FEBAA2FF9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239</TotalTime>
  <Words>763</Words>
  <Application>Microsoft Office PowerPoint</Application>
  <PresentationFormat>Panorámica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Trebuchet MS</vt:lpstr>
      <vt:lpstr>Wingdings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Gladys Rossana Fernández de García</dc:creator>
  <cp:lastModifiedBy>Gladys Rossana Fernández</cp:lastModifiedBy>
  <cp:revision>21</cp:revision>
  <dcterms:created xsi:type="dcterms:W3CDTF">2020-04-14T02:08:38Z</dcterms:created>
  <dcterms:modified xsi:type="dcterms:W3CDTF">2024-04-02T18:44:55Z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0x010100782D5F068556504E8BDCA5496F36771F</vt:lpwstr>
  </property>
</Properties>
</file>