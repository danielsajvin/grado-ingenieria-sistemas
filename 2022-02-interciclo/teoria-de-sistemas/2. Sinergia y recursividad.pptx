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64" r:id="rId3"/>
    <p:sldId id="273" r:id="rId4"/>
    <p:sldId id="257" r:id="rId5"/>
    <p:sldId id="258" r:id="rId6"/>
    <p:sldId id="259" r:id="rId7"/>
    <p:sldId id="260" r:id="rId8"/>
    <p:sldId id="261" r:id="rId9"/>
    <p:sldId id="262" r:id="rId10"/>
    <p:sldId id="263" r:id="rId11"/>
    <p:sldId id="265" r:id="rId12"/>
    <p:sldId id="272" r:id="rId13"/>
    <p:sldId id="266" r:id="rId14"/>
    <p:sldId id="267" r:id="rId15"/>
    <p:sldId id="268" r:id="rId16"/>
    <p:sldId id="269" r:id="rId17"/>
    <p:sldId id="270" r:id="rId18"/>
    <p:sldId id="271"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FB2070AA-C3A7-4D24-A0A4-6F2801BA5ECE}" type="datetimeFigureOut">
              <a:rPr lang="es-GT" smtClean="0"/>
              <a:t>2/06/2020</a:t>
            </a:fld>
            <a:endParaRPr lang="es-GT"/>
          </a:p>
        </p:txBody>
      </p:sp>
      <p:sp>
        <p:nvSpPr>
          <p:cNvPr id="5" name="Footer Placeholder 4"/>
          <p:cNvSpPr>
            <a:spLocks noGrp="1"/>
          </p:cNvSpPr>
          <p:nvPr>
            <p:ph type="ftr" sz="quarter" idx="11"/>
          </p:nvPr>
        </p:nvSpPr>
        <p:spPr/>
        <p:txBody>
          <a:bodyPr/>
          <a:lstStyle/>
          <a:p>
            <a:endParaRPr lang="es-GT"/>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506391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B2070AA-C3A7-4D24-A0A4-6F2801BA5ECE}" type="datetimeFigureOut">
              <a:rPr lang="es-GT" smtClean="0"/>
              <a:t>2/06/2020</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1897501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FB2070AA-C3A7-4D24-A0A4-6F2801BA5ECE}" type="datetimeFigureOut">
              <a:rPr lang="es-GT" smtClean="0"/>
              <a:t>2/06/2020</a:t>
            </a:fld>
            <a:endParaRPr lang="es-GT"/>
          </a:p>
        </p:txBody>
      </p:sp>
      <p:sp>
        <p:nvSpPr>
          <p:cNvPr id="5" name="Footer Placeholder 4"/>
          <p:cNvSpPr>
            <a:spLocks noGrp="1"/>
          </p:cNvSpPr>
          <p:nvPr>
            <p:ph type="ftr" sz="quarter" idx="11"/>
          </p:nvPr>
        </p:nvSpPr>
        <p:spPr/>
        <p:txBody>
          <a:bodyPr/>
          <a:lstStyle/>
          <a:p>
            <a:endParaRPr lang="es-GT"/>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3261583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FB2070AA-C3A7-4D24-A0A4-6F2801BA5ECE}" type="datetimeFigureOut">
              <a:rPr lang="es-GT" smtClean="0"/>
              <a:t>2/06/2020</a:t>
            </a:fld>
            <a:endParaRPr lang="es-GT"/>
          </a:p>
        </p:txBody>
      </p:sp>
      <p:sp>
        <p:nvSpPr>
          <p:cNvPr id="6" name="Footer Placeholder 5"/>
          <p:cNvSpPr>
            <a:spLocks noGrp="1"/>
          </p:cNvSpPr>
          <p:nvPr>
            <p:ph type="ftr" sz="quarter" idx="11"/>
          </p:nvPr>
        </p:nvSpPr>
        <p:spPr/>
        <p:txBody>
          <a:bodyPr/>
          <a:lstStyle/>
          <a:p>
            <a:endParaRPr lang="es-GT"/>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936336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B2070AA-C3A7-4D24-A0A4-6F2801BA5ECE}" type="datetimeFigureOut">
              <a:rPr lang="es-GT" smtClean="0"/>
              <a:t>2/06/2020</a:t>
            </a:fld>
            <a:endParaRPr lang="es-GT"/>
          </a:p>
        </p:txBody>
      </p:sp>
      <p:sp>
        <p:nvSpPr>
          <p:cNvPr id="8" name="Footer Placeholder 7"/>
          <p:cNvSpPr>
            <a:spLocks noGrp="1"/>
          </p:cNvSpPr>
          <p:nvPr>
            <p:ph type="ftr" sz="quarter" idx="11"/>
          </p:nvPr>
        </p:nvSpPr>
        <p:spPr/>
        <p:txBody>
          <a:bodyPr/>
          <a:lstStyle/>
          <a:p>
            <a:endParaRPr lang="es-GT"/>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1202647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FB2070AA-C3A7-4D24-A0A4-6F2801BA5ECE}" type="datetimeFigureOut">
              <a:rPr lang="es-GT" smtClean="0"/>
              <a:t>2/06/2020</a:t>
            </a:fld>
            <a:endParaRPr lang="es-GT"/>
          </a:p>
        </p:txBody>
      </p:sp>
      <p:sp>
        <p:nvSpPr>
          <p:cNvPr id="4" name="Footer Placeholder 3"/>
          <p:cNvSpPr>
            <a:spLocks noGrp="1"/>
          </p:cNvSpPr>
          <p:nvPr>
            <p:ph type="ftr" sz="quarter" idx="11"/>
          </p:nvPr>
        </p:nvSpPr>
        <p:spPr/>
        <p:txBody>
          <a:bodyPr/>
          <a:lstStyle/>
          <a:p>
            <a:endParaRPr lang="es-GT"/>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50673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070AA-C3A7-4D24-A0A4-6F2801BA5ECE}" type="datetimeFigureOut">
              <a:rPr lang="es-GT" smtClean="0"/>
              <a:t>2/06/2020</a:t>
            </a:fld>
            <a:endParaRPr lang="es-GT"/>
          </a:p>
        </p:txBody>
      </p:sp>
      <p:sp>
        <p:nvSpPr>
          <p:cNvPr id="3" name="Footer Placeholder 2"/>
          <p:cNvSpPr>
            <a:spLocks noGrp="1"/>
          </p:cNvSpPr>
          <p:nvPr>
            <p:ph type="ftr" sz="quarter" idx="11"/>
          </p:nvPr>
        </p:nvSpPr>
        <p:spPr/>
        <p:txBody>
          <a:bodyPr/>
          <a:lstStyle/>
          <a:p>
            <a:endParaRPr lang="es-GT"/>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102883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FB2070AA-C3A7-4D24-A0A4-6F2801BA5ECE}" type="datetimeFigureOut">
              <a:rPr lang="es-GT" smtClean="0"/>
              <a:t>2/06/2020</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388696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FB2070AA-C3A7-4D24-A0A4-6F2801BA5ECE}" type="datetimeFigureOut">
              <a:rPr lang="es-GT" smtClean="0"/>
              <a:t>2/06/2020</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3071429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FB2070AA-C3A7-4D24-A0A4-6F2801BA5ECE}" type="datetimeFigureOut">
              <a:rPr lang="es-GT" smtClean="0"/>
              <a:t>2/06/2020</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1269925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FB2070AA-C3A7-4D24-A0A4-6F2801BA5ECE}" type="datetimeFigureOut">
              <a:rPr lang="es-GT" smtClean="0"/>
              <a:t>2/06/2020</a:t>
            </a:fld>
            <a:endParaRPr lang="es-GT"/>
          </a:p>
        </p:txBody>
      </p:sp>
      <p:sp>
        <p:nvSpPr>
          <p:cNvPr id="5" name="Footer Placeholder 4"/>
          <p:cNvSpPr>
            <a:spLocks noGrp="1"/>
          </p:cNvSpPr>
          <p:nvPr>
            <p:ph type="ftr" sz="quarter" idx="11"/>
          </p:nvPr>
        </p:nvSpPr>
        <p:spPr/>
        <p:txBody>
          <a:bodyPr/>
          <a:lstStyle/>
          <a:p>
            <a:endParaRPr lang="es-GT"/>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14D315-E3DA-4984-828E-05DD5A05FF35}" type="slidenum">
              <a:rPr lang="es-GT" smtClean="0"/>
              <a:t>‹Nº›</a:t>
            </a:fld>
            <a:endParaRPr lang="es-GT"/>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05945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FB2070AA-C3A7-4D24-A0A4-6F2801BA5ECE}" type="datetimeFigureOut">
              <a:rPr lang="es-GT" smtClean="0"/>
              <a:t>2/06/2020</a:t>
            </a:fld>
            <a:endParaRPr lang="es-GT"/>
          </a:p>
        </p:txBody>
      </p:sp>
      <p:sp>
        <p:nvSpPr>
          <p:cNvPr id="6" name="Footer Placeholder 5"/>
          <p:cNvSpPr>
            <a:spLocks noGrp="1"/>
          </p:cNvSpPr>
          <p:nvPr>
            <p:ph type="ftr" sz="quarter" idx="11"/>
          </p:nvPr>
        </p:nvSpPr>
        <p:spPr/>
        <p:txBody>
          <a:bodyPr/>
          <a:lstStyle/>
          <a:p>
            <a:endParaRPr lang="es-GT"/>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2056591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FB2070AA-C3A7-4D24-A0A4-6F2801BA5ECE}" type="datetimeFigureOut">
              <a:rPr lang="es-GT" smtClean="0"/>
              <a:t>2/06/2020</a:t>
            </a:fld>
            <a:endParaRPr lang="es-GT"/>
          </a:p>
        </p:txBody>
      </p:sp>
      <p:sp>
        <p:nvSpPr>
          <p:cNvPr id="6" name="Footer Placeholder 5"/>
          <p:cNvSpPr>
            <a:spLocks noGrp="1"/>
          </p:cNvSpPr>
          <p:nvPr>
            <p:ph type="ftr" sz="quarter" idx="11"/>
          </p:nvPr>
        </p:nvSpPr>
        <p:spPr/>
        <p:txBody>
          <a:bodyPr/>
          <a:lstStyle/>
          <a:p>
            <a:endParaRPr lang="es-GT"/>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14D315-E3DA-4984-828E-05DD5A05FF35}" type="slidenum">
              <a:rPr lang="es-GT" smtClean="0"/>
              <a:t>‹Nº›</a:t>
            </a:fld>
            <a:endParaRPr lang="es-GT"/>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69713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FB2070AA-C3A7-4D24-A0A4-6F2801BA5ECE}" type="datetimeFigureOut">
              <a:rPr lang="es-GT" smtClean="0"/>
              <a:t>2/06/2020</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3761277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B2070AA-C3A7-4D24-A0A4-6F2801BA5ECE}" type="datetimeFigureOut">
              <a:rPr lang="es-GT" smtClean="0"/>
              <a:t>2/06/2020</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3716025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B2070AA-C3A7-4D24-A0A4-6F2801BA5ECE}" type="datetimeFigureOut">
              <a:rPr lang="es-GT" smtClean="0"/>
              <a:t>2/06/2020</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14D315-E3DA-4984-828E-05DD5A05FF35}" type="slidenum">
              <a:rPr lang="es-GT" smtClean="0"/>
              <a:t>‹Nº›</a:t>
            </a:fld>
            <a:endParaRPr lang="es-GT"/>
          </a:p>
        </p:txBody>
      </p:sp>
    </p:spTree>
    <p:extLst>
      <p:ext uri="{BB962C8B-B14F-4D97-AF65-F5344CB8AC3E}">
        <p14:creationId xmlns:p14="http://schemas.microsoft.com/office/powerpoint/2010/main" val="2830844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FB2070AA-C3A7-4D24-A0A4-6F2801BA5ECE}" type="datetimeFigureOut">
              <a:rPr lang="es-GT" smtClean="0"/>
              <a:t>2/06/2020</a:t>
            </a:fld>
            <a:endParaRPr lang="es-GT"/>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GT"/>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414D315-E3DA-4984-828E-05DD5A05FF35}" type="slidenum">
              <a:rPr lang="es-GT" smtClean="0"/>
              <a:t>‹Nº›</a:t>
            </a:fld>
            <a:endParaRPr lang="es-GT"/>
          </a:p>
        </p:txBody>
      </p:sp>
    </p:spTree>
    <p:extLst>
      <p:ext uri="{BB962C8B-B14F-4D97-AF65-F5344CB8AC3E}">
        <p14:creationId xmlns:p14="http://schemas.microsoft.com/office/powerpoint/2010/main" val="135705020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942415" y="2854322"/>
            <a:ext cx="6600451" cy="2262781"/>
          </a:xfrm>
        </p:spPr>
        <p:txBody>
          <a:bodyPr/>
          <a:lstStyle/>
          <a:p>
            <a:pPr algn="ctr"/>
            <a:r>
              <a:rPr lang="es-GT" dirty="0"/>
              <a:t>Sinergia y recursividad.</a:t>
            </a:r>
          </a:p>
        </p:txBody>
      </p:sp>
      <p:sp>
        <p:nvSpPr>
          <p:cNvPr id="3" name="2 Subtítulo"/>
          <p:cNvSpPr>
            <a:spLocks noGrp="1"/>
          </p:cNvSpPr>
          <p:nvPr>
            <p:ph type="subTitle" idx="1"/>
          </p:nvPr>
        </p:nvSpPr>
        <p:spPr/>
        <p:txBody>
          <a:bodyPr/>
          <a:lstStyle/>
          <a:p>
            <a:endParaRPr lang="es-GT" dirty="0"/>
          </a:p>
        </p:txBody>
      </p:sp>
      <p:pic>
        <p:nvPicPr>
          <p:cNvPr id="4" name="Imagen 3">
            <a:extLst>
              <a:ext uri="{FF2B5EF4-FFF2-40B4-BE49-F238E27FC236}">
                <a16:creationId xmlns:a16="http://schemas.microsoft.com/office/drawing/2014/main" id="{5D6D1C4A-D92E-4155-92A8-A22A6F988D80}"/>
              </a:ext>
            </a:extLst>
          </p:cNvPr>
          <p:cNvPicPr>
            <a:picLocks noChangeAspect="1"/>
          </p:cNvPicPr>
          <p:nvPr/>
        </p:nvPicPr>
        <p:blipFill>
          <a:blip r:embed="rId2"/>
          <a:stretch>
            <a:fillRect/>
          </a:stretch>
        </p:blipFill>
        <p:spPr>
          <a:xfrm>
            <a:off x="467544" y="303874"/>
            <a:ext cx="3702756" cy="3125126"/>
          </a:xfrm>
          <a:prstGeom prst="rect">
            <a:avLst/>
          </a:prstGeom>
        </p:spPr>
      </p:pic>
    </p:spTree>
    <p:extLst>
      <p:ext uri="{BB962C8B-B14F-4D97-AF65-F5344CB8AC3E}">
        <p14:creationId xmlns:p14="http://schemas.microsoft.com/office/powerpoint/2010/main" val="4164172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46856" y="1700808"/>
            <a:ext cx="8229600" cy="3240360"/>
          </a:xfrm>
        </p:spPr>
        <p:txBody>
          <a:bodyPr/>
          <a:lstStyle/>
          <a:p>
            <a:pPr marL="109728" indent="0">
              <a:buNone/>
            </a:pPr>
            <a:r>
              <a:rPr lang="es-GT" dirty="0"/>
              <a:t>H. J. </a:t>
            </a:r>
            <a:r>
              <a:rPr lang="es-GT" dirty="0" err="1"/>
              <a:t>Ansoff</a:t>
            </a:r>
            <a:r>
              <a:rPr lang="es-GT" dirty="0"/>
              <a:t> trata la sinergia como:</a:t>
            </a:r>
          </a:p>
          <a:p>
            <a:pPr marL="109728" indent="0">
              <a:buNone/>
            </a:pPr>
            <a:endParaRPr lang="es-GT" dirty="0"/>
          </a:p>
          <a:p>
            <a:pPr marL="109728" indent="0">
              <a:buNone/>
            </a:pPr>
            <a:r>
              <a:rPr lang="es-GT" dirty="0"/>
              <a:t>Uno de los factores para ser tomados en cuenta para un método de decisión estratégica y la  describe como una medida de los efectos unidos</a:t>
            </a:r>
          </a:p>
          <a:p>
            <a:pPr marL="109728" indent="0">
              <a:buNone/>
            </a:pPr>
            <a:r>
              <a:rPr lang="es-GT" dirty="0"/>
              <a:t>identificándola como el efecto:</a:t>
            </a:r>
          </a:p>
          <a:p>
            <a:pPr marL="109728" indent="0" algn="ctr">
              <a:buNone/>
            </a:pPr>
            <a:r>
              <a:rPr lang="es-GT" dirty="0"/>
              <a:t>2 + 2 = 5</a:t>
            </a:r>
          </a:p>
        </p:txBody>
      </p:sp>
      <p:pic>
        <p:nvPicPr>
          <p:cNvPr id="2" name="Imagen 1">
            <a:extLst>
              <a:ext uri="{FF2B5EF4-FFF2-40B4-BE49-F238E27FC236}">
                <a16:creationId xmlns:a16="http://schemas.microsoft.com/office/drawing/2014/main" id="{FB77CC29-B74A-486C-A19B-D81AEE7FDC43}"/>
              </a:ext>
            </a:extLst>
          </p:cNvPr>
          <p:cNvPicPr>
            <a:picLocks noChangeAspect="1"/>
          </p:cNvPicPr>
          <p:nvPr/>
        </p:nvPicPr>
        <p:blipFill>
          <a:blip r:embed="rId2"/>
          <a:stretch>
            <a:fillRect/>
          </a:stretch>
        </p:blipFill>
        <p:spPr>
          <a:xfrm>
            <a:off x="3641435" y="4203296"/>
            <a:ext cx="5471584" cy="2627871"/>
          </a:xfrm>
          <a:prstGeom prst="rect">
            <a:avLst/>
          </a:prstGeom>
        </p:spPr>
      </p:pic>
      <p:pic>
        <p:nvPicPr>
          <p:cNvPr id="4" name="Imagen 3">
            <a:extLst>
              <a:ext uri="{FF2B5EF4-FFF2-40B4-BE49-F238E27FC236}">
                <a16:creationId xmlns:a16="http://schemas.microsoft.com/office/drawing/2014/main" id="{69E26353-8476-40DC-AA7E-81C179FAEF96}"/>
              </a:ext>
            </a:extLst>
          </p:cNvPr>
          <p:cNvPicPr>
            <a:picLocks noChangeAspect="1"/>
          </p:cNvPicPr>
          <p:nvPr/>
        </p:nvPicPr>
        <p:blipFill>
          <a:blip r:embed="rId3"/>
          <a:stretch>
            <a:fillRect/>
          </a:stretch>
        </p:blipFill>
        <p:spPr>
          <a:xfrm>
            <a:off x="4788024" y="58172"/>
            <a:ext cx="4355976" cy="2255125"/>
          </a:xfrm>
          <a:prstGeom prst="rect">
            <a:avLst/>
          </a:prstGeom>
        </p:spPr>
      </p:pic>
    </p:spTree>
    <p:extLst>
      <p:ext uri="{BB962C8B-B14F-4D97-AF65-F5344CB8AC3E}">
        <p14:creationId xmlns:p14="http://schemas.microsoft.com/office/powerpoint/2010/main" val="2455311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EB65C6-E6EB-4F0D-A349-DC7F19E6B411}"/>
              </a:ext>
            </a:extLst>
          </p:cNvPr>
          <p:cNvSpPr>
            <a:spLocks noGrp="1"/>
          </p:cNvSpPr>
          <p:nvPr>
            <p:ph type="title"/>
          </p:nvPr>
        </p:nvSpPr>
        <p:spPr/>
        <p:txBody>
          <a:bodyPr/>
          <a:lstStyle/>
          <a:p>
            <a:endParaRPr lang="en-US"/>
          </a:p>
        </p:txBody>
      </p:sp>
      <p:sp>
        <p:nvSpPr>
          <p:cNvPr id="3" name="Marcador de contenido 2">
            <a:extLst>
              <a:ext uri="{FF2B5EF4-FFF2-40B4-BE49-F238E27FC236}">
                <a16:creationId xmlns:a16="http://schemas.microsoft.com/office/drawing/2014/main" id="{5C63E2EE-167B-4F15-AEEB-E606D755A7E6}"/>
              </a:ext>
            </a:extLst>
          </p:cNvPr>
          <p:cNvSpPr>
            <a:spLocks noGrp="1"/>
          </p:cNvSpPr>
          <p:nvPr>
            <p:ph idx="1"/>
          </p:nvPr>
        </p:nvSpPr>
        <p:spPr/>
        <p:txBody>
          <a:bodyPr/>
          <a:lstStyle/>
          <a:p>
            <a:endParaRPr lang="en-US"/>
          </a:p>
        </p:txBody>
      </p:sp>
      <p:pic>
        <p:nvPicPr>
          <p:cNvPr id="4" name="Imagen 3">
            <a:extLst>
              <a:ext uri="{FF2B5EF4-FFF2-40B4-BE49-F238E27FC236}">
                <a16:creationId xmlns:a16="http://schemas.microsoft.com/office/drawing/2014/main" id="{23F6B0B2-3444-4F51-AC44-32E9345CB427}"/>
              </a:ext>
            </a:extLst>
          </p:cNvPr>
          <p:cNvPicPr>
            <a:picLocks noChangeAspect="1"/>
          </p:cNvPicPr>
          <p:nvPr/>
        </p:nvPicPr>
        <p:blipFill>
          <a:blip r:embed="rId2"/>
          <a:stretch>
            <a:fillRect/>
          </a:stretch>
        </p:blipFill>
        <p:spPr>
          <a:xfrm>
            <a:off x="1475656" y="1517914"/>
            <a:ext cx="6808242" cy="3822171"/>
          </a:xfrm>
          <a:prstGeom prst="rect">
            <a:avLst/>
          </a:prstGeom>
        </p:spPr>
      </p:pic>
    </p:spTree>
    <p:extLst>
      <p:ext uri="{BB962C8B-B14F-4D97-AF65-F5344CB8AC3E}">
        <p14:creationId xmlns:p14="http://schemas.microsoft.com/office/powerpoint/2010/main" val="3517999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GT"/>
          </a:p>
        </p:txBody>
      </p:sp>
      <p:sp>
        <p:nvSpPr>
          <p:cNvPr id="3" name="2 Marcador de contenido"/>
          <p:cNvSpPr>
            <a:spLocks noGrp="1"/>
          </p:cNvSpPr>
          <p:nvPr>
            <p:ph idx="1"/>
          </p:nvPr>
        </p:nvSpPr>
        <p:spPr/>
        <p:txBody>
          <a:bodyPr/>
          <a:lstStyle/>
          <a:p>
            <a:pPr marL="109728" indent="0">
              <a:buNone/>
            </a:pPr>
            <a:r>
              <a:rPr lang="es-GT" dirty="0"/>
              <a:t>Existen diferentes definiciones de</a:t>
            </a:r>
          </a:p>
          <a:p>
            <a:pPr marL="109728" indent="0">
              <a:buNone/>
            </a:pPr>
            <a:r>
              <a:rPr lang="es-GT" dirty="0"/>
              <a:t>Sinergia.</a:t>
            </a:r>
          </a:p>
          <a:p>
            <a:pPr marL="109728" indent="0">
              <a:buNone/>
            </a:pPr>
            <a:r>
              <a:rPr lang="es-GT" dirty="0"/>
              <a:t>“Un objeto posee sinergia cuando el examen de una o alguna de sus partes (incluso a cada una de sus partes) en forma aislada, no puede explicar o predecir la conducta del todo”</a:t>
            </a:r>
          </a:p>
          <a:p>
            <a:pPr marL="109728" indent="0">
              <a:buNone/>
            </a:pPr>
            <a:endParaRPr lang="es-GT" dirty="0"/>
          </a:p>
          <a:p>
            <a:pPr marL="109728" indent="0">
              <a:buNone/>
            </a:pPr>
            <a:r>
              <a:rPr lang="es-GT" dirty="0" err="1"/>
              <a:t>Fuller</a:t>
            </a:r>
            <a:endParaRPr lang="es-GT" dirty="0"/>
          </a:p>
        </p:txBody>
      </p:sp>
    </p:spTree>
    <p:extLst>
      <p:ext uri="{BB962C8B-B14F-4D97-AF65-F5344CB8AC3E}">
        <p14:creationId xmlns:p14="http://schemas.microsoft.com/office/powerpoint/2010/main" val="1033898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1412776"/>
            <a:ext cx="8064896" cy="5328592"/>
          </a:xfrm>
        </p:spPr>
        <p:txBody>
          <a:bodyPr>
            <a:normAutofit/>
          </a:bodyPr>
          <a:lstStyle/>
          <a:p>
            <a:pPr marL="109728" indent="0" algn="just">
              <a:buNone/>
            </a:pPr>
            <a:r>
              <a:rPr lang="es-GT" dirty="0"/>
              <a:t> La anterior definición implica que las partes forman parte de un organización, y tienen una configuración que implica una ubicación y relación entre sus partes, y hace suponer que existen objetos que poseen como característica la existencia de sinergia y otros no.</a:t>
            </a:r>
          </a:p>
          <a:p>
            <a:pPr marL="109728" indent="0" algn="just">
              <a:buNone/>
            </a:pPr>
            <a:endParaRPr lang="es-GT" dirty="0"/>
          </a:p>
          <a:p>
            <a:pPr marL="109728" indent="0" algn="just">
              <a:buNone/>
            </a:pPr>
            <a:r>
              <a:rPr lang="es-GT" dirty="0"/>
              <a:t>En general, a la totalidades desprovistas de sinergia se conoce como conglomerados.</a:t>
            </a:r>
          </a:p>
        </p:txBody>
      </p:sp>
      <p:pic>
        <p:nvPicPr>
          <p:cNvPr id="2" name="Imagen 1">
            <a:extLst>
              <a:ext uri="{FF2B5EF4-FFF2-40B4-BE49-F238E27FC236}">
                <a16:creationId xmlns:a16="http://schemas.microsoft.com/office/drawing/2014/main" id="{0B94036E-B745-4213-9AD1-791E1048FDD5}"/>
              </a:ext>
            </a:extLst>
          </p:cNvPr>
          <p:cNvPicPr>
            <a:picLocks noChangeAspect="1"/>
          </p:cNvPicPr>
          <p:nvPr/>
        </p:nvPicPr>
        <p:blipFill rotWithShape="1">
          <a:blip r:embed="rId2"/>
          <a:srcRect t="30508"/>
          <a:stretch/>
        </p:blipFill>
        <p:spPr>
          <a:xfrm>
            <a:off x="2915816" y="4077072"/>
            <a:ext cx="6076950" cy="2376264"/>
          </a:xfrm>
          <a:prstGeom prst="rect">
            <a:avLst/>
          </a:prstGeom>
        </p:spPr>
      </p:pic>
    </p:spTree>
    <p:extLst>
      <p:ext uri="{BB962C8B-B14F-4D97-AF65-F5344CB8AC3E}">
        <p14:creationId xmlns:p14="http://schemas.microsoft.com/office/powerpoint/2010/main" val="708349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79732" y="1268760"/>
            <a:ext cx="8229600" cy="1066800"/>
          </a:xfrm>
        </p:spPr>
        <p:txBody>
          <a:bodyPr/>
          <a:lstStyle/>
          <a:p>
            <a:r>
              <a:rPr lang="es-GT" b="1" dirty="0"/>
              <a:t>Conglomerados </a:t>
            </a:r>
            <a:endParaRPr lang="es-GT" dirty="0"/>
          </a:p>
        </p:txBody>
      </p:sp>
      <p:sp>
        <p:nvSpPr>
          <p:cNvPr id="3" name="2 Marcador de contenido"/>
          <p:cNvSpPr>
            <a:spLocks noGrp="1"/>
          </p:cNvSpPr>
          <p:nvPr>
            <p:ph idx="1"/>
          </p:nvPr>
        </p:nvSpPr>
        <p:spPr>
          <a:xfrm>
            <a:off x="467544" y="2532888"/>
            <a:ext cx="8229600" cy="4325112"/>
          </a:xfrm>
        </p:spPr>
        <p:txBody>
          <a:bodyPr/>
          <a:lstStyle/>
          <a:p>
            <a:pPr marL="109728" indent="0" algn="just">
              <a:buNone/>
            </a:pPr>
            <a:r>
              <a:rPr lang="es-GT" dirty="0"/>
              <a:t>Es un conjunto de </a:t>
            </a:r>
            <a:r>
              <a:rPr lang="es-GT" u="sng" dirty="0"/>
              <a:t>objetos</a:t>
            </a:r>
            <a:r>
              <a:rPr lang="es-GT" dirty="0"/>
              <a:t> de los cuales  abstraemos ciertas características, eliminamos aquellos factores ajenos al estudio y luego observamos el comportamiento de las variables que nos interesan, en donde las posibles relaciones que entre ellos se desarrollan no afectan la conducta de cada una de las partes.</a:t>
            </a:r>
          </a:p>
        </p:txBody>
      </p:sp>
    </p:spTree>
    <p:extLst>
      <p:ext uri="{BB962C8B-B14F-4D97-AF65-F5344CB8AC3E}">
        <p14:creationId xmlns:p14="http://schemas.microsoft.com/office/powerpoint/2010/main" val="3123999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1628800"/>
            <a:ext cx="8301608" cy="5400600"/>
          </a:xfrm>
        </p:spPr>
        <p:txBody>
          <a:bodyPr>
            <a:normAutofit/>
          </a:bodyPr>
          <a:lstStyle/>
          <a:p>
            <a:pPr marL="109728" indent="0" algn="just">
              <a:buNone/>
            </a:pPr>
            <a:r>
              <a:rPr lang="es-GT" dirty="0"/>
              <a:t>¿ qué debemos entender por </a:t>
            </a:r>
            <a:r>
              <a:rPr lang="es-GT" b="1" u="sng" dirty="0"/>
              <a:t>objeto</a:t>
            </a:r>
            <a:r>
              <a:rPr lang="es-GT" dirty="0"/>
              <a:t> y por qué es importante la sinergia?</a:t>
            </a:r>
          </a:p>
          <a:p>
            <a:pPr marL="109728" indent="0" algn="just">
              <a:buNone/>
            </a:pPr>
            <a:r>
              <a:rPr lang="es-GT" dirty="0"/>
              <a:t>Un objeto es todo aquello que ocupa un lugar en el espacio y /o en el tiempo, pudiendo ser éste tangible o intangible, pudiendo ser relaciones entre los miembros de un grupo, pensamientos.</a:t>
            </a:r>
          </a:p>
          <a:p>
            <a:pPr marL="109728" indent="0" algn="just">
              <a:buNone/>
            </a:pPr>
            <a:endParaRPr lang="es-GT" dirty="0"/>
          </a:p>
          <a:p>
            <a:pPr marL="109728" indent="0" algn="just">
              <a:buNone/>
            </a:pPr>
            <a:r>
              <a:rPr lang="es-GT" dirty="0"/>
              <a:t>Al conocer que existen objetos que tienen sinergia, es factible eliminar como herramienta de análisis el sistema reduccionista como método de estudio y usar TGS. (Teoría general de sistemas).</a:t>
            </a:r>
          </a:p>
        </p:txBody>
      </p:sp>
    </p:spTree>
    <p:extLst>
      <p:ext uri="{BB962C8B-B14F-4D97-AF65-F5344CB8AC3E}">
        <p14:creationId xmlns:p14="http://schemas.microsoft.com/office/powerpoint/2010/main" val="2334533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11560" y="1412776"/>
            <a:ext cx="8136904" cy="5328592"/>
          </a:xfrm>
        </p:spPr>
        <p:txBody>
          <a:bodyPr>
            <a:normAutofit/>
          </a:bodyPr>
          <a:lstStyle/>
          <a:p>
            <a:pPr marL="109728" indent="0" algn="just">
              <a:buNone/>
            </a:pPr>
            <a:r>
              <a:rPr lang="es-GT" dirty="0"/>
              <a:t>Ejemplo. Problema planteado por el profesor </a:t>
            </a:r>
            <a:r>
              <a:rPr lang="es-GT" dirty="0" err="1"/>
              <a:t>Maruyama</a:t>
            </a:r>
            <a:r>
              <a:rPr lang="es-GT" dirty="0"/>
              <a:t> a propósito de la retroalimentación positiva en un objeto en que existen relaciones causales mutuas. </a:t>
            </a:r>
          </a:p>
          <a:p>
            <a:pPr marL="109728" indent="0" algn="just">
              <a:buNone/>
            </a:pPr>
            <a:endParaRPr lang="es-GT" dirty="0"/>
          </a:p>
          <a:p>
            <a:pPr marL="109728" indent="0" algn="just">
              <a:buNone/>
            </a:pPr>
            <a:r>
              <a:rPr lang="es-GT" dirty="0"/>
              <a:t>Las flechas indican la dirección de la influencia:</a:t>
            </a:r>
          </a:p>
          <a:p>
            <a:pPr algn="just"/>
            <a:r>
              <a:rPr lang="es-GT" dirty="0"/>
              <a:t>el signo ( + ) señala que el cambio ocurre en la misma dirección (relación directa) , pero no es necesariamente positivo</a:t>
            </a:r>
          </a:p>
          <a:p>
            <a:pPr algn="just"/>
            <a:r>
              <a:rPr lang="es-GT" dirty="0"/>
              <a:t>el signo ( - ) indica un cambio en la dirección (relación inversa)</a:t>
            </a:r>
          </a:p>
        </p:txBody>
      </p:sp>
    </p:spTree>
    <p:extLst>
      <p:ext uri="{BB962C8B-B14F-4D97-AF65-F5344CB8AC3E}">
        <p14:creationId xmlns:p14="http://schemas.microsoft.com/office/powerpoint/2010/main" val="2321988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7965" t="30682" r="25201" b="18293"/>
          <a:stretch/>
        </p:blipFill>
        <p:spPr bwMode="auto">
          <a:xfrm>
            <a:off x="611560" y="1052736"/>
            <a:ext cx="7920880" cy="4843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3993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11560" y="1556792"/>
            <a:ext cx="8229600" cy="4325112"/>
          </a:xfrm>
        </p:spPr>
        <p:txBody>
          <a:bodyPr>
            <a:normAutofit/>
          </a:bodyPr>
          <a:lstStyle/>
          <a:p>
            <a:pPr marL="109728" indent="0">
              <a:buNone/>
            </a:pPr>
            <a:r>
              <a:rPr lang="es-GT" dirty="0"/>
              <a:t>Otra aplicación  donde enfatiza la sinergia es la empresa.</a:t>
            </a:r>
          </a:p>
          <a:p>
            <a:pPr marL="109728" indent="0">
              <a:buNone/>
            </a:pPr>
            <a:r>
              <a:rPr lang="es-GT" dirty="0"/>
              <a:t>según </a:t>
            </a:r>
            <a:r>
              <a:rPr lang="es-GT" u="sng" dirty="0"/>
              <a:t>Peter F. Drucker</a:t>
            </a:r>
          </a:p>
          <a:p>
            <a:pPr marL="109728" indent="0">
              <a:buNone/>
            </a:pPr>
            <a:r>
              <a:rPr lang="es-GT" dirty="0"/>
              <a:t>“La empresa debe ser capaz, por definición, de producir más o mejor que todos los recursos que comprende. </a:t>
            </a:r>
          </a:p>
          <a:p>
            <a:pPr marL="109728" indent="0">
              <a:buNone/>
            </a:pPr>
            <a:r>
              <a:rPr lang="es-GT" dirty="0"/>
              <a:t>Debe ser un verdadero todo: mayor que la suma de sus partes, o por lo menos,  diferente a ella, con un rendimiento mayor a la suma de los insumos</a:t>
            </a:r>
            <a:r>
              <a:rPr lang="es-GT" b="1" dirty="0"/>
              <a:t>”</a:t>
            </a:r>
            <a:endParaRPr lang="es-GT" dirty="0"/>
          </a:p>
        </p:txBody>
      </p:sp>
    </p:spTree>
    <p:extLst>
      <p:ext uri="{BB962C8B-B14F-4D97-AF65-F5344CB8AC3E}">
        <p14:creationId xmlns:p14="http://schemas.microsoft.com/office/powerpoint/2010/main" val="4045391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39552" y="1484784"/>
            <a:ext cx="8229600" cy="4325112"/>
          </a:xfrm>
        </p:spPr>
        <p:txBody>
          <a:bodyPr>
            <a:normAutofit/>
          </a:bodyPr>
          <a:lstStyle/>
          <a:p>
            <a:pPr marL="109728" indent="0">
              <a:buNone/>
            </a:pPr>
            <a:r>
              <a:rPr lang="es-GT" dirty="0"/>
              <a:t>En resumen Sinergia es:</a:t>
            </a:r>
          </a:p>
          <a:p>
            <a:pPr marL="109728" indent="0">
              <a:buNone/>
            </a:pPr>
            <a:endParaRPr lang="es-GT" dirty="0"/>
          </a:p>
          <a:p>
            <a:r>
              <a:rPr lang="es-GT" dirty="0"/>
              <a:t>Una forma de trabajar, fomentando la colaboración entre todos los que forman un equipo.</a:t>
            </a:r>
          </a:p>
          <a:p>
            <a:endParaRPr lang="es-GT" dirty="0"/>
          </a:p>
          <a:p>
            <a:r>
              <a:rPr lang="es-GT" dirty="0"/>
              <a:t>Es una filosofía de trabajo que sostiene la prioridad del equipo ante los intereses de los individuos.</a:t>
            </a:r>
          </a:p>
          <a:p>
            <a:pPr marL="109728" indent="0">
              <a:buNone/>
            </a:pPr>
            <a:endParaRPr lang="es-GT" dirty="0"/>
          </a:p>
          <a:p>
            <a:r>
              <a:rPr lang="es-GT" dirty="0"/>
              <a:t>Es una búsqueda global del todo a través de</a:t>
            </a:r>
          </a:p>
          <a:p>
            <a:pPr marL="109728" indent="0">
              <a:buNone/>
            </a:pPr>
            <a:r>
              <a:rPr lang="es-GT" dirty="0"/>
              <a:t>la máxima contribución de cada una de las partes.</a:t>
            </a:r>
          </a:p>
        </p:txBody>
      </p:sp>
    </p:spTree>
    <p:extLst>
      <p:ext uri="{BB962C8B-B14F-4D97-AF65-F5344CB8AC3E}">
        <p14:creationId xmlns:p14="http://schemas.microsoft.com/office/powerpoint/2010/main" val="1992654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GT"/>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188640"/>
            <a:ext cx="5472608" cy="4108745"/>
          </a:xfrm>
        </p:spPr>
      </p:pic>
      <p:pic>
        <p:nvPicPr>
          <p:cNvPr id="5" name="Imagen 4"/>
          <p:cNvPicPr>
            <a:picLocks noChangeAspect="1"/>
          </p:cNvPicPr>
          <p:nvPr/>
        </p:nvPicPr>
        <p:blipFill rotWithShape="1">
          <a:blip r:embed="rId3">
            <a:extLst>
              <a:ext uri="{28A0092B-C50C-407E-A947-70E740481C1C}">
                <a14:useLocalDpi xmlns:a14="http://schemas.microsoft.com/office/drawing/2010/main" val="0"/>
              </a:ext>
            </a:extLst>
          </a:blip>
          <a:srcRect l="3269" t="7077" r="4308" b="45846"/>
          <a:stretch/>
        </p:blipFill>
        <p:spPr>
          <a:xfrm>
            <a:off x="1979712" y="4077072"/>
            <a:ext cx="6408712" cy="2448273"/>
          </a:xfrm>
          <a:prstGeom prst="rect">
            <a:avLst/>
          </a:prstGeom>
        </p:spPr>
      </p:pic>
    </p:spTree>
    <p:extLst>
      <p:ext uri="{BB962C8B-B14F-4D97-AF65-F5344CB8AC3E}">
        <p14:creationId xmlns:p14="http://schemas.microsoft.com/office/powerpoint/2010/main" val="57839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1340768"/>
            <a:ext cx="8229600" cy="1066800"/>
          </a:xfrm>
        </p:spPr>
        <p:txBody>
          <a:bodyPr>
            <a:normAutofit fontScale="90000"/>
          </a:bodyPr>
          <a:lstStyle/>
          <a:p>
            <a:r>
              <a:rPr lang="es-GT" b="1" dirty="0"/>
              <a:t>Recursividad</a:t>
            </a:r>
            <a:br>
              <a:rPr lang="es-GT" b="1" dirty="0"/>
            </a:br>
            <a:endParaRPr lang="es-GT" dirty="0"/>
          </a:p>
        </p:txBody>
      </p:sp>
      <p:sp>
        <p:nvSpPr>
          <p:cNvPr id="3" name="2 Marcador de contenido"/>
          <p:cNvSpPr>
            <a:spLocks noGrp="1"/>
          </p:cNvSpPr>
          <p:nvPr>
            <p:ph idx="1"/>
          </p:nvPr>
        </p:nvSpPr>
        <p:spPr>
          <a:xfrm>
            <a:off x="1835696" y="2564904"/>
            <a:ext cx="6591985" cy="3777622"/>
          </a:xfrm>
        </p:spPr>
        <p:txBody>
          <a:bodyPr/>
          <a:lstStyle/>
          <a:p>
            <a:pPr marL="109728" indent="0" algn="just">
              <a:buNone/>
            </a:pPr>
            <a:r>
              <a:rPr lang="es-GT" dirty="0"/>
              <a:t> “es el hecho de que un objeto sinérgico, un sistema, esté compuesto de partes con características tales que son a su vez objetos sinérgicos”</a:t>
            </a:r>
          </a:p>
          <a:p>
            <a:pPr marL="109728" indent="0" algn="just">
              <a:buNone/>
            </a:pPr>
            <a:endParaRPr lang="es-GT" dirty="0"/>
          </a:p>
          <a:p>
            <a:pPr marL="109728" indent="0" algn="just">
              <a:buNone/>
            </a:pPr>
            <a:r>
              <a:rPr lang="es-GT" dirty="0"/>
              <a:t>Lo importante de esto es que cada uno de los objetos, no importando su tamaño, tiene propiedades que lo convierten en una totalidad.</a:t>
            </a:r>
          </a:p>
        </p:txBody>
      </p:sp>
    </p:spTree>
    <p:extLst>
      <p:ext uri="{BB962C8B-B14F-4D97-AF65-F5344CB8AC3E}">
        <p14:creationId xmlns:p14="http://schemas.microsoft.com/office/powerpoint/2010/main" val="4186844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1412776"/>
            <a:ext cx="8229600" cy="4325112"/>
          </a:xfrm>
        </p:spPr>
        <p:txBody>
          <a:bodyPr/>
          <a:lstStyle/>
          <a:p>
            <a:pPr marL="109728" indent="0" algn="just">
              <a:buNone/>
            </a:pPr>
            <a:r>
              <a:rPr lang="es-GT" dirty="0"/>
              <a:t>Aparentemente en el proceso parece ser reduccionista, sin embargo,  se analizan las partes en función de un todo, siendo en este sentido un proceso integrador de partes que en sí forman una totalidad dentro de una totalidad mayor, es decir,</a:t>
            </a:r>
          </a:p>
          <a:p>
            <a:pPr marL="109728" indent="0">
              <a:buNone/>
            </a:pPr>
            <a:r>
              <a:rPr lang="es-GT" dirty="0"/>
              <a:t>un sistema dentro de otro sistema.</a:t>
            </a:r>
          </a:p>
        </p:txBody>
      </p:sp>
    </p:spTree>
    <p:extLst>
      <p:ext uri="{BB962C8B-B14F-4D97-AF65-F5344CB8AC3E}">
        <p14:creationId xmlns:p14="http://schemas.microsoft.com/office/powerpoint/2010/main" val="1803996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1484784"/>
            <a:ext cx="8229600" cy="4325112"/>
          </a:xfrm>
        </p:spPr>
        <p:txBody>
          <a:bodyPr>
            <a:normAutofit/>
          </a:bodyPr>
          <a:lstStyle/>
          <a:p>
            <a:pPr marL="109728" indent="0" algn="just">
              <a:buNone/>
            </a:pPr>
            <a:r>
              <a:rPr lang="es-GT" dirty="0"/>
              <a:t>Bajo este enfoque  se puede concluir:</a:t>
            </a:r>
          </a:p>
          <a:p>
            <a:pPr marL="109728" indent="0" algn="just">
              <a:buNone/>
            </a:pPr>
            <a:endParaRPr lang="es-GT" dirty="0"/>
          </a:p>
          <a:p>
            <a:pPr marL="109728" indent="0" algn="just">
              <a:buNone/>
            </a:pPr>
            <a:r>
              <a:rPr lang="es-GT" dirty="0"/>
              <a:t>El problema más difícil bajo este criterio es la definición de la frontera del sistema.</a:t>
            </a:r>
          </a:p>
          <a:p>
            <a:pPr marL="109728" indent="0" algn="just">
              <a:buNone/>
            </a:pPr>
            <a:endParaRPr lang="es-GT" dirty="0"/>
          </a:p>
          <a:p>
            <a:pPr marL="109728" indent="0" algn="just">
              <a:buNone/>
            </a:pPr>
            <a:r>
              <a:rPr lang="es-GT" dirty="0"/>
              <a:t>Los sistemas consisten en individualidades, por lo tanto son indivisibles como sistemas, es decir aunque formados por individuos, su agregación y desarrollo conducen a una creciente individualización de las partes del sistema cada vez más diferenciadas y menos independientes.</a:t>
            </a:r>
          </a:p>
        </p:txBody>
      </p:sp>
    </p:spTree>
    <p:extLst>
      <p:ext uri="{BB962C8B-B14F-4D97-AF65-F5344CB8AC3E}">
        <p14:creationId xmlns:p14="http://schemas.microsoft.com/office/powerpoint/2010/main" val="4022034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GT" b="1" dirty="0"/>
              <a:t>Sinergia y recursividad</a:t>
            </a:r>
            <a:br>
              <a:rPr lang="es-GT" b="1" dirty="0"/>
            </a:br>
            <a:endParaRPr lang="es-GT" dirty="0"/>
          </a:p>
        </p:txBody>
      </p:sp>
      <p:sp>
        <p:nvSpPr>
          <p:cNvPr id="3" name="2 Marcador de contenido"/>
          <p:cNvSpPr>
            <a:spLocks noGrp="1"/>
          </p:cNvSpPr>
          <p:nvPr>
            <p:ph idx="1"/>
          </p:nvPr>
        </p:nvSpPr>
        <p:spPr/>
        <p:txBody>
          <a:bodyPr/>
          <a:lstStyle/>
          <a:p>
            <a:pPr marL="109728" indent="0" algn="just">
              <a:buNone/>
            </a:pPr>
            <a:r>
              <a:rPr lang="es-GT" dirty="0"/>
              <a:t>El establecer interacciones entre diferentes sistemas aislados y más o menos independientes, llevan a pensar y ubicar descubrimientos parciales como partes de un todo superior, de un sistema de uno o más grados superior en nivel de recursividad del cual se partió.</a:t>
            </a:r>
          </a:p>
          <a:p>
            <a:pPr marL="109728" indent="0" algn="just">
              <a:buNone/>
            </a:pPr>
            <a:r>
              <a:rPr lang="es-GT" dirty="0"/>
              <a:t>(</a:t>
            </a:r>
            <a:r>
              <a:rPr lang="es-GT" dirty="0" err="1"/>
              <a:t>Metasistemas</a:t>
            </a:r>
            <a:r>
              <a:rPr lang="es-GT" dirty="0"/>
              <a:t>)</a:t>
            </a:r>
          </a:p>
        </p:txBody>
      </p:sp>
    </p:spTree>
    <p:extLst>
      <p:ext uri="{BB962C8B-B14F-4D97-AF65-F5344CB8AC3E}">
        <p14:creationId xmlns:p14="http://schemas.microsoft.com/office/powerpoint/2010/main" val="3853047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8912" t="35106" r="27153" b="19737"/>
          <a:stretch/>
        </p:blipFill>
        <p:spPr bwMode="auto">
          <a:xfrm>
            <a:off x="1098601" y="1196752"/>
            <a:ext cx="7227357"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3325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GT" dirty="0"/>
              <a:t> </a:t>
            </a:r>
            <a:r>
              <a:rPr lang="es-GT" b="1" dirty="0"/>
              <a:t>En resumen:</a:t>
            </a:r>
            <a:br>
              <a:rPr lang="es-GT" b="1" dirty="0"/>
            </a:br>
            <a:endParaRPr lang="es-GT" dirty="0"/>
          </a:p>
        </p:txBody>
      </p:sp>
      <p:sp>
        <p:nvSpPr>
          <p:cNvPr id="3" name="2 Marcador de contenido"/>
          <p:cNvSpPr>
            <a:spLocks noGrp="1"/>
          </p:cNvSpPr>
          <p:nvPr>
            <p:ph idx="1"/>
          </p:nvPr>
        </p:nvSpPr>
        <p:spPr/>
        <p:txBody>
          <a:bodyPr>
            <a:normAutofit/>
          </a:bodyPr>
          <a:lstStyle/>
          <a:p>
            <a:pPr algn="just"/>
            <a:r>
              <a:rPr lang="es-GT" dirty="0"/>
              <a:t>La idea de sinergia es inherente al concepto de sistemas y especifica que el todo supera o iguala al mejor de sus sistemas.</a:t>
            </a:r>
          </a:p>
          <a:p>
            <a:pPr marL="109728" indent="0" algn="just">
              <a:buNone/>
            </a:pPr>
            <a:endParaRPr lang="es-GT" dirty="0"/>
          </a:p>
          <a:p>
            <a:pPr algn="just"/>
            <a:r>
              <a:rPr lang="es-GT" dirty="0"/>
              <a:t>La recursividad expresa la jerarquización de los sistemas, siendo el concepto unificador de la realidad y de los objetos  Son dos herramientas en el enfoque de sistemas</a:t>
            </a:r>
          </a:p>
        </p:txBody>
      </p:sp>
    </p:spTree>
    <p:extLst>
      <p:ext uri="{BB962C8B-B14F-4D97-AF65-F5344CB8AC3E}">
        <p14:creationId xmlns:p14="http://schemas.microsoft.com/office/powerpoint/2010/main" val="3860061147"/>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189</TotalTime>
  <Words>776</Words>
  <Application>Microsoft Office PowerPoint</Application>
  <PresentationFormat>Presentación en pantalla (4:3)</PresentationFormat>
  <Paragraphs>55</Paragraphs>
  <Slides>18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Century Gothic</vt:lpstr>
      <vt:lpstr>Wingdings 3</vt:lpstr>
      <vt:lpstr>Espiral</vt:lpstr>
      <vt:lpstr>Sinergia y recursividad.</vt:lpstr>
      <vt:lpstr>Presentación de PowerPoint</vt:lpstr>
      <vt:lpstr>Presentación de PowerPoint</vt:lpstr>
      <vt:lpstr>Presentación de PowerPoint</vt:lpstr>
      <vt:lpstr>Presentación de PowerPoint</vt:lpstr>
      <vt:lpstr>Conglomerados </vt:lpstr>
      <vt:lpstr>Presentación de PowerPoint</vt:lpstr>
      <vt:lpstr>Presentación de PowerPoint</vt:lpstr>
      <vt:lpstr>Presentación de PowerPoint</vt:lpstr>
      <vt:lpstr>Presentación de PowerPoint</vt:lpstr>
      <vt:lpstr>Presentación de PowerPoint</vt:lpstr>
      <vt:lpstr>Presentación de PowerPoint</vt:lpstr>
      <vt:lpstr>Recursividad </vt:lpstr>
      <vt:lpstr>Presentación de PowerPoint</vt:lpstr>
      <vt:lpstr>Presentación de PowerPoint</vt:lpstr>
      <vt:lpstr>Sinergia y recursividad </vt:lpstr>
      <vt:lpstr>Presentación de PowerPoint</vt:lpstr>
      <vt:lpstr> En resumen: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Sinergia y recursividad.</dc:title>
  <dc:creator>David García</dc:creator>
  <cp:lastModifiedBy>Edwin David Garcia</cp:lastModifiedBy>
  <cp:revision>21</cp:revision>
  <dcterms:created xsi:type="dcterms:W3CDTF">2012-06-03T16:52:54Z</dcterms:created>
  <dcterms:modified xsi:type="dcterms:W3CDTF">2020-06-02T16:08:44Z</dcterms:modified>
</cp:coreProperties>
</file>