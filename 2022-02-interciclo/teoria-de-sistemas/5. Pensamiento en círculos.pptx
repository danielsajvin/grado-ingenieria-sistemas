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76"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B180F1BC-7E5A-4272-91F1-C9F956026584}" type="datetimeFigureOut">
              <a:rPr lang="es-GT" smtClean="0"/>
              <a:t>26/06/2020</a:t>
            </a:fld>
            <a:endParaRPr lang="es-GT"/>
          </a:p>
        </p:txBody>
      </p:sp>
      <p:sp>
        <p:nvSpPr>
          <p:cNvPr id="5" name="Footer Placeholder 4"/>
          <p:cNvSpPr>
            <a:spLocks noGrp="1"/>
          </p:cNvSpPr>
          <p:nvPr>
            <p:ph type="ftr" sz="quarter" idx="11"/>
          </p:nvPr>
        </p:nvSpPr>
        <p:spPr/>
        <p:txBody>
          <a:bodyPr/>
          <a:lstStyle/>
          <a:p>
            <a:endParaRPr lang="es-GT"/>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3882156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180F1BC-7E5A-4272-91F1-C9F956026584}" type="datetimeFigureOut">
              <a:rPr lang="es-GT" smtClean="0"/>
              <a:t>26/06/2020</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3341818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180F1BC-7E5A-4272-91F1-C9F956026584}" type="datetimeFigureOut">
              <a:rPr lang="es-GT" smtClean="0"/>
              <a:t>26/06/2020</a:t>
            </a:fld>
            <a:endParaRPr lang="es-GT"/>
          </a:p>
        </p:txBody>
      </p:sp>
      <p:sp>
        <p:nvSpPr>
          <p:cNvPr id="5" name="Footer Placeholder 4"/>
          <p:cNvSpPr>
            <a:spLocks noGrp="1"/>
          </p:cNvSpPr>
          <p:nvPr>
            <p:ph type="ftr" sz="quarter" idx="11"/>
          </p:nvPr>
        </p:nvSpPr>
        <p:spPr/>
        <p:txBody>
          <a:bodyPr/>
          <a:lstStyle/>
          <a:p>
            <a:endParaRPr lang="es-GT"/>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1969089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180F1BC-7E5A-4272-91F1-C9F956026584}" type="datetimeFigureOut">
              <a:rPr lang="es-GT" smtClean="0"/>
              <a:t>26/06/2020</a:t>
            </a:fld>
            <a:endParaRPr lang="es-GT"/>
          </a:p>
        </p:txBody>
      </p:sp>
      <p:sp>
        <p:nvSpPr>
          <p:cNvPr id="6" name="Footer Placeholder 5"/>
          <p:cNvSpPr>
            <a:spLocks noGrp="1"/>
          </p:cNvSpPr>
          <p:nvPr>
            <p:ph type="ftr" sz="quarter" idx="11"/>
          </p:nvPr>
        </p:nvSpPr>
        <p:spPr/>
        <p:txBody>
          <a:bodyPr/>
          <a:lstStyle/>
          <a:p>
            <a:endParaRPr lang="es-GT"/>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3174447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180F1BC-7E5A-4272-91F1-C9F956026584}" type="datetimeFigureOut">
              <a:rPr lang="es-GT" smtClean="0"/>
              <a:t>26/06/2020</a:t>
            </a:fld>
            <a:endParaRPr lang="es-GT"/>
          </a:p>
        </p:txBody>
      </p:sp>
      <p:sp>
        <p:nvSpPr>
          <p:cNvPr id="8" name="Footer Placeholder 7"/>
          <p:cNvSpPr>
            <a:spLocks noGrp="1"/>
          </p:cNvSpPr>
          <p:nvPr>
            <p:ph type="ftr" sz="quarter" idx="11"/>
          </p:nvPr>
        </p:nvSpPr>
        <p:spPr/>
        <p:txBody>
          <a:bodyPr/>
          <a:lstStyle/>
          <a:p>
            <a:endParaRPr lang="es-GT"/>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1678567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180F1BC-7E5A-4272-91F1-C9F956026584}" type="datetimeFigureOut">
              <a:rPr lang="es-GT" smtClean="0"/>
              <a:t>26/06/2020</a:t>
            </a:fld>
            <a:endParaRPr lang="es-GT"/>
          </a:p>
        </p:txBody>
      </p:sp>
      <p:sp>
        <p:nvSpPr>
          <p:cNvPr id="4" name="Footer Placeholder 3"/>
          <p:cNvSpPr>
            <a:spLocks noGrp="1"/>
          </p:cNvSpPr>
          <p:nvPr>
            <p:ph type="ftr" sz="quarter" idx="11"/>
          </p:nvPr>
        </p:nvSpPr>
        <p:spPr/>
        <p:txBody>
          <a:bodyPr/>
          <a:lstStyle/>
          <a:p>
            <a:endParaRPr lang="es-GT"/>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2894084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80F1BC-7E5A-4272-91F1-C9F956026584}" type="datetimeFigureOut">
              <a:rPr lang="es-GT" smtClean="0"/>
              <a:t>26/06/2020</a:t>
            </a:fld>
            <a:endParaRPr lang="es-GT"/>
          </a:p>
        </p:txBody>
      </p:sp>
      <p:sp>
        <p:nvSpPr>
          <p:cNvPr id="3" name="Footer Placeholder 2"/>
          <p:cNvSpPr>
            <a:spLocks noGrp="1"/>
          </p:cNvSpPr>
          <p:nvPr>
            <p:ph type="ftr" sz="quarter" idx="11"/>
          </p:nvPr>
        </p:nvSpPr>
        <p:spPr/>
        <p:txBody>
          <a:bodyPr/>
          <a:lstStyle/>
          <a:p>
            <a:endParaRPr lang="es-GT"/>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2103600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180F1BC-7E5A-4272-91F1-C9F956026584}" type="datetimeFigureOut">
              <a:rPr lang="es-GT" smtClean="0"/>
              <a:t>26/06/2020</a:t>
            </a:fld>
            <a:endParaRPr lang="es-GT"/>
          </a:p>
        </p:txBody>
      </p:sp>
      <p:sp>
        <p:nvSpPr>
          <p:cNvPr id="6" name="Footer Placeholder 5"/>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2308527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180F1BC-7E5A-4272-91F1-C9F956026584}" type="datetimeFigureOut">
              <a:rPr lang="es-GT" smtClean="0"/>
              <a:t>26/06/2020</a:t>
            </a:fld>
            <a:endParaRPr lang="es-GT"/>
          </a:p>
        </p:txBody>
      </p:sp>
      <p:sp>
        <p:nvSpPr>
          <p:cNvPr id="6" name="Footer Placeholder 5"/>
          <p:cNvSpPr>
            <a:spLocks noGrp="1"/>
          </p:cNvSpPr>
          <p:nvPr>
            <p:ph type="ftr" sz="quarter" idx="11"/>
          </p:nvPr>
        </p:nvSpPr>
        <p:spPr/>
        <p:txBody>
          <a:bodyPr/>
          <a:lstStyle/>
          <a:p>
            <a:endParaRPr lang="es-GT"/>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3571748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180F1BC-7E5A-4272-91F1-C9F956026584}" type="datetimeFigureOut">
              <a:rPr lang="es-GT" smtClean="0"/>
              <a:t>26/06/2020</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3653951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180F1BC-7E5A-4272-91F1-C9F956026584}" type="datetimeFigureOut">
              <a:rPr lang="es-GT" smtClean="0"/>
              <a:t>26/06/2020</a:t>
            </a:fld>
            <a:endParaRPr lang="es-GT"/>
          </a:p>
        </p:txBody>
      </p:sp>
      <p:sp>
        <p:nvSpPr>
          <p:cNvPr id="5" name="Footer Placeholder 4"/>
          <p:cNvSpPr>
            <a:spLocks noGrp="1"/>
          </p:cNvSpPr>
          <p:nvPr>
            <p:ph type="ftr" sz="quarter" idx="11"/>
          </p:nvPr>
        </p:nvSpPr>
        <p:spPr/>
        <p:txBody>
          <a:bodyPr/>
          <a:lstStyle/>
          <a:p>
            <a:endParaRPr lang="es-GT"/>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43581BBE-049F-4B52-9EE7-3E49727C5C28}" type="slidenum">
              <a:rPr lang="es-GT" smtClean="0"/>
              <a:t>‹Nº›</a:t>
            </a:fld>
            <a:endParaRPr lang="es-GT"/>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82674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B180F1BC-7E5A-4272-91F1-C9F956026584}" type="datetimeFigureOut">
              <a:rPr lang="es-GT" smtClean="0"/>
              <a:t>26/06/2020</a:t>
            </a:fld>
            <a:endParaRPr lang="es-GT"/>
          </a:p>
        </p:txBody>
      </p:sp>
      <p:sp>
        <p:nvSpPr>
          <p:cNvPr id="6" name="Footer Placeholder 5"/>
          <p:cNvSpPr>
            <a:spLocks noGrp="1"/>
          </p:cNvSpPr>
          <p:nvPr>
            <p:ph type="ftr" sz="quarter" idx="11"/>
          </p:nvPr>
        </p:nvSpPr>
        <p:spPr/>
        <p:txBody>
          <a:bodyPr/>
          <a:lstStyle/>
          <a:p>
            <a:endParaRPr lang="es-GT"/>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726121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B180F1BC-7E5A-4272-91F1-C9F956026584}" type="datetimeFigureOut">
              <a:rPr lang="es-GT" smtClean="0"/>
              <a:t>26/06/2020</a:t>
            </a:fld>
            <a:endParaRPr lang="es-GT"/>
          </a:p>
        </p:txBody>
      </p:sp>
      <p:sp>
        <p:nvSpPr>
          <p:cNvPr id="6" name="Footer Placeholder 5"/>
          <p:cNvSpPr>
            <a:spLocks noGrp="1"/>
          </p:cNvSpPr>
          <p:nvPr>
            <p:ph type="ftr" sz="quarter" idx="11"/>
          </p:nvPr>
        </p:nvSpPr>
        <p:spPr/>
        <p:txBody>
          <a:bodyPr/>
          <a:lstStyle/>
          <a:p>
            <a:endParaRPr lang="es-GT"/>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43581BBE-049F-4B52-9EE7-3E49727C5C28}" type="slidenum">
              <a:rPr lang="es-GT" smtClean="0"/>
              <a:t>‹Nº›</a:t>
            </a:fld>
            <a:endParaRPr lang="es-GT"/>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9049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B180F1BC-7E5A-4272-91F1-C9F956026584}" type="datetimeFigureOut">
              <a:rPr lang="es-GT" smtClean="0"/>
              <a:t>26/06/2020</a:t>
            </a:fld>
            <a:endParaRPr lang="es-GT"/>
          </a:p>
        </p:txBody>
      </p:sp>
      <p:sp>
        <p:nvSpPr>
          <p:cNvPr id="6" name="Footer Placeholder 5"/>
          <p:cNvSpPr>
            <a:spLocks noGrp="1"/>
          </p:cNvSpPr>
          <p:nvPr>
            <p:ph type="ftr" sz="quarter" idx="11"/>
          </p:nvPr>
        </p:nvSpPr>
        <p:spPr/>
        <p:txBody>
          <a:bodyPr/>
          <a:lstStyle/>
          <a:p>
            <a:endParaRPr lang="es-GT"/>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3005058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180F1BC-7E5A-4272-91F1-C9F956026584}" type="datetimeFigureOut">
              <a:rPr lang="es-GT" smtClean="0"/>
              <a:t>26/06/2020</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10120711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180F1BC-7E5A-4272-91F1-C9F956026584}" type="datetimeFigureOut">
              <a:rPr lang="es-GT" smtClean="0"/>
              <a:t>26/06/2020</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3581BBE-049F-4B52-9EE7-3E49727C5C28}" type="slidenum">
              <a:rPr lang="es-GT" smtClean="0"/>
              <a:t>‹Nº›</a:t>
            </a:fld>
            <a:endParaRPr lang="es-GT"/>
          </a:p>
        </p:txBody>
      </p:sp>
    </p:spTree>
    <p:extLst>
      <p:ext uri="{BB962C8B-B14F-4D97-AF65-F5344CB8AC3E}">
        <p14:creationId xmlns:p14="http://schemas.microsoft.com/office/powerpoint/2010/main" val="3875146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B180F1BC-7E5A-4272-91F1-C9F956026584}" type="datetimeFigureOut">
              <a:rPr lang="es-GT" smtClean="0"/>
              <a:t>26/06/2020</a:t>
            </a:fld>
            <a:endParaRPr lang="es-GT"/>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GT"/>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43581BBE-049F-4B52-9EE7-3E49727C5C28}" type="slidenum">
              <a:rPr lang="es-GT" smtClean="0"/>
              <a:t>‹Nº›</a:t>
            </a:fld>
            <a:endParaRPr lang="es-GT"/>
          </a:p>
        </p:txBody>
      </p:sp>
    </p:spTree>
    <p:extLst>
      <p:ext uri="{BB962C8B-B14F-4D97-AF65-F5344CB8AC3E}">
        <p14:creationId xmlns:p14="http://schemas.microsoft.com/office/powerpoint/2010/main" val="3402263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899592" y="4454917"/>
            <a:ext cx="8458200" cy="1470025"/>
          </a:xfrm>
        </p:spPr>
        <p:txBody>
          <a:bodyPr>
            <a:normAutofit fontScale="90000"/>
          </a:bodyPr>
          <a:lstStyle/>
          <a:p>
            <a:pPr algn="ctr"/>
            <a:r>
              <a:rPr lang="es-GT" b="1" dirty="0"/>
              <a:t>Pensamiento en círculos.</a:t>
            </a:r>
            <a:endParaRPr lang="es-GT" dirty="0"/>
          </a:p>
        </p:txBody>
      </p:sp>
      <p:sp>
        <p:nvSpPr>
          <p:cNvPr id="3" name="2 Subtítulo"/>
          <p:cNvSpPr>
            <a:spLocks noGrp="1"/>
          </p:cNvSpPr>
          <p:nvPr>
            <p:ph type="subTitle" idx="1"/>
          </p:nvPr>
        </p:nvSpPr>
        <p:spPr/>
        <p:txBody>
          <a:bodyPr/>
          <a:lstStyle/>
          <a:p>
            <a:endParaRPr lang="es-GT" dirty="0"/>
          </a:p>
        </p:txBody>
      </p:sp>
      <p:pic>
        <p:nvPicPr>
          <p:cNvPr id="1026" name="Picture 2" descr="Nube de pensamiento sobre círculos de colores | Vector Gratis">
            <a:extLst>
              <a:ext uri="{FF2B5EF4-FFF2-40B4-BE49-F238E27FC236}">
                <a16:creationId xmlns:a16="http://schemas.microsoft.com/office/drawing/2014/main" id="{96FA5560-2C3C-470C-80BE-EA36FD8FD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4360" y="18562"/>
            <a:ext cx="4853533" cy="4853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7135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831170" y="2360983"/>
            <a:ext cx="8229600" cy="4325112"/>
          </a:xfrm>
        </p:spPr>
        <p:txBody>
          <a:bodyPr>
            <a:normAutofit/>
          </a:bodyPr>
          <a:lstStyle/>
          <a:p>
            <a:pPr marL="109728" indent="0" algn="just">
              <a:buNone/>
            </a:pPr>
            <a:r>
              <a:rPr lang="es-GT" dirty="0"/>
              <a:t>El pensamiento sistémico es un pensamiento en círculos, más que un pensamiento en línea recta.</a:t>
            </a:r>
          </a:p>
          <a:p>
            <a:pPr marL="109728" indent="0" algn="just">
              <a:buNone/>
            </a:pPr>
            <a:endParaRPr lang="es-GT" dirty="0"/>
          </a:p>
          <a:p>
            <a:pPr marL="109728" indent="0" algn="just">
              <a:buNone/>
            </a:pPr>
            <a:r>
              <a:rPr lang="es-GT" dirty="0"/>
              <a:t>Todas las partes están interconectadas directa o indirectamente, de modo que al cambiar una de las partes el efecto se propaga a todas las demás.</a:t>
            </a:r>
          </a:p>
          <a:p>
            <a:pPr marL="109728" indent="0" algn="just">
              <a:buNone/>
            </a:pPr>
            <a:r>
              <a:rPr lang="es-GT" dirty="0"/>
              <a:t>Experimentan un cambio y, a su vez, terminan afectando la parte original.</a:t>
            </a:r>
          </a:p>
          <a:p>
            <a:pPr marL="109728" indent="0" algn="just">
              <a:buNone/>
            </a:pPr>
            <a:endParaRPr lang="es-GT" dirty="0"/>
          </a:p>
          <a:p>
            <a:pPr marL="109728" indent="0" algn="just">
              <a:buNone/>
            </a:pPr>
            <a:r>
              <a:rPr lang="es-GT" dirty="0"/>
              <a:t>Entonces, la parte original responde a esa nueva influencia.</a:t>
            </a:r>
          </a:p>
          <a:p>
            <a:pPr marL="109728" indent="0" algn="just">
              <a:buNone/>
            </a:pPr>
            <a:r>
              <a:rPr lang="es-GT" dirty="0"/>
              <a:t>Así pues, la influencia vuelve modificada a la parte original, lo que genera un BUCLE, no un canal en una sola dirección.</a:t>
            </a:r>
          </a:p>
        </p:txBody>
      </p:sp>
      <p:pic>
        <p:nvPicPr>
          <p:cNvPr id="4" name="Imagen 3">
            <a:extLst>
              <a:ext uri="{FF2B5EF4-FFF2-40B4-BE49-F238E27FC236}">
                <a16:creationId xmlns:a16="http://schemas.microsoft.com/office/drawing/2014/main" id="{59A84C77-12C3-4554-9F9A-99527CCDB514}"/>
              </a:ext>
            </a:extLst>
          </p:cNvPr>
          <p:cNvPicPr>
            <a:picLocks noChangeAspect="1"/>
          </p:cNvPicPr>
          <p:nvPr/>
        </p:nvPicPr>
        <p:blipFill>
          <a:blip r:embed="rId2"/>
          <a:stretch>
            <a:fillRect/>
          </a:stretch>
        </p:blipFill>
        <p:spPr>
          <a:xfrm>
            <a:off x="5712141" y="431833"/>
            <a:ext cx="3367952" cy="1928479"/>
          </a:xfrm>
          <a:prstGeom prst="rect">
            <a:avLst/>
          </a:prstGeom>
        </p:spPr>
      </p:pic>
    </p:spTree>
    <p:extLst>
      <p:ext uri="{BB962C8B-B14F-4D97-AF65-F5344CB8AC3E}">
        <p14:creationId xmlns:p14="http://schemas.microsoft.com/office/powerpoint/2010/main" val="2929392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1412776"/>
            <a:ext cx="8229600" cy="4325112"/>
          </a:xfrm>
        </p:spPr>
        <p:txBody>
          <a:bodyPr>
            <a:normAutofit lnSpcReduction="10000"/>
          </a:bodyPr>
          <a:lstStyle/>
          <a:p>
            <a:pPr marL="109728" indent="0" algn="just">
              <a:buNone/>
            </a:pPr>
            <a:r>
              <a:rPr lang="es-GT" dirty="0"/>
              <a:t>Cuando dos partes están conectadas, la influencia se transmite en las dos direcciones.</a:t>
            </a:r>
          </a:p>
          <a:p>
            <a:pPr marL="109728" indent="0" algn="just">
              <a:buNone/>
            </a:pPr>
            <a:endParaRPr lang="es-GT" dirty="0"/>
          </a:p>
          <a:p>
            <a:pPr marL="109728" indent="0" algn="just">
              <a:buNone/>
            </a:pPr>
            <a:r>
              <a:rPr lang="es-GT" dirty="0"/>
              <a:t>Ej. línea telefónica : del mismo modo  en que  se llama por teléfono a un persona, esta persona  nos puede llamar a nosotros.</a:t>
            </a:r>
          </a:p>
          <a:p>
            <a:pPr marL="109728" indent="0" algn="just">
              <a:buNone/>
            </a:pPr>
            <a:endParaRPr lang="es-GT" dirty="0"/>
          </a:p>
          <a:p>
            <a:pPr marL="109728" indent="0" algn="just">
              <a:buNone/>
            </a:pPr>
            <a:r>
              <a:rPr lang="es-GT" dirty="0"/>
              <a:t>Se puede decir que la realimentación es, por tanto, una reacción del sistema que se regenera en forma de estimulo o la información devuelta que influye en una paso siguiente.</a:t>
            </a:r>
          </a:p>
          <a:p>
            <a:pPr marL="109728" indent="0" algn="just">
              <a:buNone/>
            </a:pPr>
            <a:endParaRPr lang="es-GT" dirty="0"/>
          </a:p>
          <a:p>
            <a:pPr marL="109728" indent="0" algn="just">
              <a:buNone/>
            </a:pPr>
            <a:r>
              <a:rPr lang="es-GT" dirty="0"/>
              <a:t>Nuestra experiencia esta hecha de bucles de realimentación, a pesar de que generalmente creemos que la influencia tiene una sola dirección.</a:t>
            </a:r>
          </a:p>
        </p:txBody>
      </p:sp>
      <p:sp>
        <p:nvSpPr>
          <p:cNvPr id="4" name="Elipse 3"/>
          <p:cNvSpPr/>
          <p:nvPr/>
        </p:nvSpPr>
        <p:spPr>
          <a:xfrm>
            <a:off x="2123728" y="548680"/>
            <a:ext cx="720080" cy="79208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4053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11560" y="1484784"/>
            <a:ext cx="8229600" cy="4968552"/>
          </a:xfrm>
        </p:spPr>
        <p:txBody>
          <a:bodyPr>
            <a:normAutofit fontScale="92500" lnSpcReduction="20000"/>
          </a:bodyPr>
          <a:lstStyle/>
          <a:p>
            <a:pPr marL="109728" indent="0" algn="just">
              <a:buNone/>
            </a:pPr>
            <a:r>
              <a:rPr lang="es-GT" dirty="0"/>
              <a:t>Ejercicio.</a:t>
            </a:r>
          </a:p>
          <a:p>
            <a:pPr marL="109728" indent="0" algn="just">
              <a:buNone/>
            </a:pPr>
            <a:r>
              <a:rPr lang="es-GT" dirty="0"/>
              <a:t>Ponga lentamente la yema del dedo índice sobre el punto que hay al final de una oración.</a:t>
            </a:r>
          </a:p>
          <a:p>
            <a:pPr marL="109728" indent="0" algn="just">
              <a:buNone/>
            </a:pPr>
            <a:endParaRPr lang="es-GT" dirty="0"/>
          </a:p>
          <a:p>
            <a:pPr marL="109728" indent="0" algn="just">
              <a:buNone/>
            </a:pPr>
            <a:r>
              <a:rPr lang="es-GT" dirty="0"/>
              <a:t>Acaba de demostrar que es un bucle de realimentación.</a:t>
            </a:r>
          </a:p>
          <a:p>
            <a:pPr marL="109728" indent="0" algn="just">
              <a:buNone/>
            </a:pPr>
            <a:endParaRPr lang="es-GT" dirty="0"/>
          </a:p>
          <a:p>
            <a:pPr marL="109728" indent="0" algn="just">
              <a:buNone/>
            </a:pPr>
            <a:r>
              <a:rPr lang="es-GT" dirty="0"/>
              <a:t>¿ Todavía no lo creen?</a:t>
            </a:r>
          </a:p>
          <a:p>
            <a:pPr algn="just"/>
            <a:endParaRPr lang="es-GT" dirty="0"/>
          </a:p>
          <a:p>
            <a:pPr marL="109728" indent="0" algn="just">
              <a:buNone/>
            </a:pPr>
            <a:r>
              <a:rPr lang="es-GT" dirty="0"/>
              <a:t>Hágalo otra vez</a:t>
            </a:r>
          </a:p>
          <a:p>
            <a:pPr marL="109728" indent="0" algn="just">
              <a:buNone/>
            </a:pPr>
            <a:r>
              <a:rPr lang="es-GT" dirty="0"/>
              <a:t>Pero ahora con los ojos cerrados. Imposible. Para acertar necesita que los ojos  den una información constante sobre la posición de la yema del dedo respecto al punto.</a:t>
            </a:r>
          </a:p>
          <a:p>
            <a:pPr marL="109728" indent="0" algn="just">
              <a:buNone/>
            </a:pPr>
            <a:endParaRPr lang="es-GT" dirty="0"/>
          </a:p>
          <a:p>
            <a:pPr marL="109728" indent="0" algn="just">
              <a:buNone/>
            </a:pPr>
            <a:r>
              <a:rPr lang="es-GT" dirty="0"/>
              <a:t>La única forma de recibir la realimentación necesaria para dirigir nuestras acciones </a:t>
            </a:r>
            <a:r>
              <a:rPr lang="es-GT" b="1" dirty="0"/>
              <a:t>es mediante los sentidos </a:t>
            </a:r>
            <a:r>
              <a:rPr lang="es-GT" dirty="0"/>
              <a:t>: la vista, el tacto, el gusto, el olfato y el oído.</a:t>
            </a:r>
          </a:p>
          <a:p>
            <a:pPr marL="109728" indent="0">
              <a:buNone/>
            </a:pPr>
            <a:endParaRPr lang="es-GT" dirty="0"/>
          </a:p>
        </p:txBody>
      </p:sp>
    </p:spTree>
    <p:extLst>
      <p:ext uri="{BB962C8B-B14F-4D97-AF65-F5344CB8AC3E}">
        <p14:creationId xmlns:p14="http://schemas.microsoft.com/office/powerpoint/2010/main" val="1723977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22D3F-33F2-43D6-ADCB-AAB6AF45B52D}"/>
              </a:ext>
            </a:extLst>
          </p:cNvPr>
          <p:cNvSpPr>
            <a:spLocks noGrp="1"/>
          </p:cNvSpPr>
          <p:nvPr>
            <p:ph type="title"/>
          </p:nvPr>
        </p:nvSpPr>
        <p:spPr/>
        <p:txBody>
          <a:bodyPr/>
          <a:lstStyle/>
          <a:p>
            <a:endParaRPr lang="en-US"/>
          </a:p>
        </p:txBody>
      </p:sp>
      <p:sp>
        <p:nvSpPr>
          <p:cNvPr id="3" name="Marcador de contenido 2">
            <a:extLst>
              <a:ext uri="{FF2B5EF4-FFF2-40B4-BE49-F238E27FC236}">
                <a16:creationId xmlns:a16="http://schemas.microsoft.com/office/drawing/2014/main" id="{C1642D89-0F76-413E-9D1E-33CB537DDC5C}"/>
              </a:ext>
            </a:extLst>
          </p:cNvPr>
          <p:cNvSpPr>
            <a:spLocks noGrp="1"/>
          </p:cNvSpPr>
          <p:nvPr>
            <p:ph idx="1"/>
          </p:nvPr>
        </p:nvSpPr>
        <p:spPr/>
        <p:txBody>
          <a:bodyPr/>
          <a:lstStyle/>
          <a:p>
            <a:endParaRPr lang="en-US"/>
          </a:p>
        </p:txBody>
      </p:sp>
      <p:pic>
        <p:nvPicPr>
          <p:cNvPr id="3074" name="Picture 2" descr="Conjunto de organizadores gráficos y rutinas de pensamiento ...">
            <a:extLst>
              <a:ext uri="{FF2B5EF4-FFF2-40B4-BE49-F238E27FC236}">
                <a16:creationId xmlns:a16="http://schemas.microsoft.com/office/drawing/2014/main" id="{7CBA8596-9072-478E-A5CA-B205A761AD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264555"/>
            <a:ext cx="8620634" cy="4666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440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39552" y="1556792"/>
            <a:ext cx="8229600" cy="4325112"/>
          </a:xfrm>
        </p:spPr>
        <p:txBody>
          <a:bodyPr>
            <a:normAutofit/>
          </a:bodyPr>
          <a:lstStyle/>
          <a:p>
            <a:pPr marL="109728" indent="0" algn="just">
              <a:buNone/>
            </a:pPr>
            <a:r>
              <a:rPr lang="es-GT" dirty="0"/>
              <a:t>El termino &lt;realimentación&gt;  (</a:t>
            </a:r>
            <a:r>
              <a:rPr lang="es-GT" dirty="0" err="1"/>
              <a:t>feedback</a:t>
            </a:r>
            <a:r>
              <a:rPr lang="es-GT" dirty="0"/>
              <a:t>)</a:t>
            </a:r>
          </a:p>
          <a:p>
            <a:pPr marL="109728" indent="0" algn="just">
              <a:buNone/>
            </a:pPr>
            <a:r>
              <a:rPr lang="es-GT" dirty="0"/>
              <a:t>suele utilizarse con el significado de &lt;respuesta&gt;, pero lo importante es que se trata de un retorno de los efectos de una acción que influye en un siguiente paso, esto es, un vinculo de dos direcciones.</a:t>
            </a:r>
          </a:p>
          <a:p>
            <a:pPr marL="109728" indent="0" algn="just">
              <a:buNone/>
            </a:pPr>
            <a:endParaRPr lang="es-GT" dirty="0"/>
          </a:p>
          <a:p>
            <a:pPr marL="109728" indent="0" algn="just">
              <a:buNone/>
            </a:pPr>
            <a:r>
              <a:rPr lang="es-GT" dirty="0"/>
              <a:t>La realimentación es un BUCLE, por eso el pensamiento, en función de la realimentación, es un pensamiento en círculos.</a:t>
            </a:r>
          </a:p>
        </p:txBody>
      </p:sp>
      <p:sp>
        <p:nvSpPr>
          <p:cNvPr id="4" name="Elipse 3"/>
          <p:cNvSpPr/>
          <p:nvPr/>
        </p:nvSpPr>
        <p:spPr>
          <a:xfrm>
            <a:off x="2123728" y="548680"/>
            <a:ext cx="720080" cy="79208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8033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39552" y="1412776"/>
            <a:ext cx="8229600" cy="4325112"/>
          </a:xfrm>
        </p:spPr>
        <p:txBody>
          <a:bodyPr>
            <a:normAutofit/>
          </a:bodyPr>
          <a:lstStyle/>
          <a:p>
            <a:pPr marL="109728" indent="0" algn="just">
              <a:buNone/>
            </a:pPr>
            <a:r>
              <a:rPr lang="es-GT" dirty="0"/>
              <a:t>Hay bucles de realimentación en el funcionamiento de las maquinas que  se construyen</a:t>
            </a:r>
          </a:p>
          <a:p>
            <a:pPr marL="109728" indent="0" algn="just">
              <a:buNone/>
            </a:pPr>
            <a:endParaRPr lang="es-GT" dirty="0"/>
          </a:p>
          <a:p>
            <a:pPr marL="109728" indent="0" algn="just">
              <a:buNone/>
            </a:pPr>
            <a:r>
              <a:rPr lang="es-GT" dirty="0"/>
              <a:t>La realimentación es el principio por el cual las maquinas pueden funcionar sin intervención humana.</a:t>
            </a:r>
          </a:p>
          <a:p>
            <a:pPr marL="109728" indent="0" algn="just">
              <a:buNone/>
            </a:pPr>
            <a:endParaRPr lang="es-GT" dirty="0"/>
          </a:p>
          <a:p>
            <a:pPr marL="109728" indent="0" algn="just">
              <a:buNone/>
            </a:pPr>
            <a:r>
              <a:rPr lang="es-GT" dirty="0"/>
              <a:t>Las maquinas cuyo funcionamiento se basa en circuitos de realimentación son más potentes, más fáciles de controlar y no precisan la supervisión constante de un ser humano.</a:t>
            </a:r>
          </a:p>
        </p:txBody>
      </p:sp>
      <p:sp>
        <p:nvSpPr>
          <p:cNvPr id="4" name="Elipse 3"/>
          <p:cNvSpPr/>
          <p:nvPr/>
        </p:nvSpPr>
        <p:spPr>
          <a:xfrm>
            <a:off x="7452320" y="4948326"/>
            <a:ext cx="720080" cy="79208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0399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1196752"/>
            <a:ext cx="8229600" cy="4325112"/>
          </a:xfrm>
        </p:spPr>
        <p:txBody>
          <a:bodyPr>
            <a:normAutofit/>
          </a:bodyPr>
          <a:lstStyle/>
          <a:p>
            <a:pPr marL="109728" indent="0" algn="just">
              <a:buNone/>
            </a:pPr>
            <a:r>
              <a:rPr lang="es-GT" dirty="0"/>
              <a:t>Ej. La maquina a vapor revoluciono la tecnología que existía en su momento, dio un nuevo ímpetu a la tecnología industrial y cambio nuestras vidas y los métodos de trabajo.</a:t>
            </a:r>
          </a:p>
          <a:p>
            <a:pPr marL="109728" indent="0" algn="just">
              <a:buNone/>
            </a:pPr>
            <a:endParaRPr lang="es-GT" dirty="0"/>
          </a:p>
          <a:p>
            <a:pPr marL="109728" indent="0" algn="just">
              <a:buNone/>
            </a:pPr>
            <a:r>
              <a:rPr lang="es-GT" dirty="0"/>
              <a:t>Hoy los circuitos electrónicos de realimentación dominan la revolución de la información, son la fuerza motriz de los computadores y de todos los dispositivos basados en la tecnología de los microchips, desde las lavadoras, misiles hasta juegos electrónicos.</a:t>
            </a:r>
          </a:p>
        </p:txBody>
      </p:sp>
      <p:sp>
        <p:nvSpPr>
          <p:cNvPr id="4" name="Elipse 3"/>
          <p:cNvSpPr/>
          <p:nvPr/>
        </p:nvSpPr>
        <p:spPr>
          <a:xfrm>
            <a:off x="3841095" y="4869160"/>
            <a:ext cx="720080" cy="792088"/>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549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231567"/>
            <a:ext cx="8229600" cy="701824"/>
          </a:xfrm>
        </p:spPr>
        <p:txBody>
          <a:bodyPr>
            <a:normAutofit fontScale="90000"/>
          </a:bodyPr>
          <a:lstStyle/>
          <a:p>
            <a:r>
              <a:rPr lang="es-GT" b="1" dirty="0"/>
              <a:t>Tipos de Bucles de Realimentación</a:t>
            </a:r>
            <a:br>
              <a:rPr lang="es-GT" b="1" dirty="0"/>
            </a:br>
            <a:endParaRPr lang="es-GT" dirty="0"/>
          </a:p>
        </p:txBody>
      </p:sp>
      <p:sp>
        <p:nvSpPr>
          <p:cNvPr id="3" name="2 Marcador de contenido"/>
          <p:cNvSpPr>
            <a:spLocks noGrp="1"/>
          </p:cNvSpPr>
          <p:nvPr>
            <p:ph idx="1"/>
          </p:nvPr>
        </p:nvSpPr>
        <p:spPr>
          <a:xfrm>
            <a:off x="683568" y="1916832"/>
            <a:ext cx="8229600" cy="4325112"/>
          </a:xfrm>
        </p:spPr>
        <p:txBody>
          <a:bodyPr>
            <a:normAutofit lnSpcReduction="10000"/>
          </a:bodyPr>
          <a:lstStyle/>
          <a:p>
            <a:pPr marL="109728" indent="0" algn="just">
              <a:buNone/>
            </a:pPr>
            <a:r>
              <a:rPr lang="es-GT" dirty="0"/>
              <a:t>La realimentación es fundamental en cualquier sistema. Sin realimentación NO HAY sistema.</a:t>
            </a:r>
          </a:p>
          <a:p>
            <a:pPr marL="109728" indent="0" algn="just">
              <a:buNone/>
            </a:pPr>
            <a:endParaRPr lang="es-GT" dirty="0"/>
          </a:p>
          <a:p>
            <a:pPr marL="109728" indent="0" algn="just">
              <a:buNone/>
            </a:pPr>
            <a:r>
              <a:rPr lang="es-GT" dirty="0"/>
              <a:t>Los bucles de realimentación son de dos tipos :</a:t>
            </a:r>
          </a:p>
          <a:p>
            <a:pPr marL="109728" indent="0" algn="just">
              <a:buNone/>
            </a:pPr>
            <a:endParaRPr lang="es-GT" dirty="0"/>
          </a:p>
          <a:p>
            <a:pPr marL="109728" indent="0" algn="just">
              <a:buNone/>
            </a:pPr>
            <a:r>
              <a:rPr lang="es-GT" dirty="0"/>
              <a:t>1. Realimentación de REFUERZO. (Con frecuencia se denomina &lt;positiva&gt;)</a:t>
            </a:r>
          </a:p>
          <a:p>
            <a:pPr marL="109728" indent="0" algn="just">
              <a:buNone/>
            </a:pPr>
            <a:endParaRPr lang="es-GT" dirty="0"/>
          </a:p>
          <a:p>
            <a:pPr marL="109728" indent="0" algn="just">
              <a:buNone/>
            </a:pPr>
            <a:r>
              <a:rPr lang="es-GT" dirty="0"/>
              <a:t>2. Realimentación de COMPENSACION. (Con frecuencia se denomina &lt;negativa&gt;)</a:t>
            </a:r>
          </a:p>
          <a:p>
            <a:pPr marL="109728" indent="0" algn="just">
              <a:buNone/>
            </a:pPr>
            <a:endParaRPr lang="es-GT" dirty="0"/>
          </a:p>
          <a:p>
            <a:pPr marL="109728" indent="0" algn="just">
              <a:buNone/>
            </a:pPr>
            <a:r>
              <a:rPr lang="es-GT" dirty="0"/>
              <a:t>Todos los sistemas por complejos que sean, constan únicamente de estos dos tipos de bucles de realimentación.</a:t>
            </a:r>
          </a:p>
        </p:txBody>
      </p:sp>
    </p:spTree>
    <p:extLst>
      <p:ext uri="{BB962C8B-B14F-4D97-AF65-F5344CB8AC3E}">
        <p14:creationId xmlns:p14="http://schemas.microsoft.com/office/powerpoint/2010/main" val="177028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1196752"/>
            <a:ext cx="8229600" cy="1066800"/>
          </a:xfrm>
        </p:spPr>
        <p:txBody>
          <a:bodyPr/>
          <a:lstStyle/>
          <a:p>
            <a:r>
              <a:rPr lang="es-GT" b="1" dirty="0"/>
              <a:t>Realimentación de REFUERZO</a:t>
            </a:r>
            <a:endParaRPr lang="es-GT" dirty="0"/>
          </a:p>
        </p:txBody>
      </p:sp>
      <p:sp>
        <p:nvSpPr>
          <p:cNvPr id="3" name="2 Marcador de contenido"/>
          <p:cNvSpPr>
            <a:spLocks noGrp="1"/>
          </p:cNvSpPr>
          <p:nvPr>
            <p:ph idx="1"/>
          </p:nvPr>
        </p:nvSpPr>
        <p:spPr>
          <a:xfrm>
            <a:off x="683568" y="2132856"/>
            <a:ext cx="8229600" cy="4325112"/>
          </a:xfrm>
        </p:spPr>
        <p:txBody>
          <a:bodyPr>
            <a:normAutofit lnSpcReduction="10000"/>
          </a:bodyPr>
          <a:lstStyle/>
          <a:p>
            <a:pPr marL="109728" indent="0" algn="just">
              <a:buNone/>
            </a:pPr>
            <a:r>
              <a:rPr lang="es-GT" dirty="0"/>
              <a:t>Es cuando los cambios registrados en todo el sistema SE REALIMENTAN para amplificar el cambio original.</a:t>
            </a:r>
          </a:p>
          <a:p>
            <a:pPr marL="109728" indent="0" algn="just">
              <a:buNone/>
            </a:pPr>
            <a:endParaRPr lang="es-GT" dirty="0"/>
          </a:p>
          <a:p>
            <a:pPr marL="109728" indent="0" algn="just">
              <a:buNone/>
            </a:pPr>
            <a:r>
              <a:rPr lang="es-GT" dirty="0"/>
              <a:t>Dicho de otro modo, el cambio recorre todo el sistema produciendo más cambios en la misma dirección.</a:t>
            </a:r>
          </a:p>
          <a:p>
            <a:pPr marL="109728" indent="0" algn="just">
              <a:buNone/>
            </a:pPr>
            <a:endParaRPr lang="es-GT" dirty="0"/>
          </a:p>
          <a:p>
            <a:pPr marL="109728" indent="0" algn="just">
              <a:buNone/>
            </a:pPr>
            <a:r>
              <a:rPr lang="es-GT" dirty="0"/>
              <a:t>Cuando el cambio inicial lleva a una dirección favorable, se produce un gran beneficio. Esta realimentación puede ser buena » o un desastre si lleva al sistema a una espiral en la que se pierda totalmente el control, según lo que se amplifique con ella.</a:t>
            </a:r>
          </a:p>
          <a:p>
            <a:pPr marL="109728" indent="0" algn="just">
              <a:buNone/>
            </a:pPr>
            <a:endParaRPr lang="es-GT" dirty="0"/>
          </a:p>
          <a:p>
            <a:pPr marL="109728" indent="0" algn="just">
              <a:buNone/>
            </a:pPr>
            <a:r>
              <a:rPr lang="es-GT" dirty="0"/>
              <a:t>La realimentación de refuerzo dirige el sistema en la dirección que lleve.  Puede favorecer su crecimiento o declive, según el estado de partida.</a:t>
            </a:r>
          </a:p>
        </p:txBody>
      </p:sp>
    </p:spTree>
    <p:extLst>
      <p:ext uri="{BB962C8B-B14F-4D97-AF65-F5344CB8AC3E}">
        <p14:creationId xmlns:p14="http://schemas.microsoft.com/office/powerpoint/2010/main" val="385556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55576" y="1484784"/>
            <a:ext cx="8229600" cy="4325112"/>
          </a:xfrm>
        </p:spPr>
        <p:txBody>
          <a:bodyPr>
            <a:normAutofit fontScale="92500" lnSpcReduction="20000"/>
          </a:bodyPr>
          <a:lstStyle/>
          <a:p>
            <a:pPr marL="109728" indent="0" algn="just">
              <a:buNone/>
            </a:pPr>
            <a:r>
              <a:rPr lang="es-GT" dirty="0"/>
              <a:t>La realimentación de refuerzo constante lleva a un crecimiento exponencial, » el incremento es proporcional a lo que ya hay, » y con un tiempo de duplicación constante.</a:t>
            </a:r>
          </a:p>
          <a:p>
            <a:pPr marL="109728" indent="0" algn="just">
              <a:buNone/>
            </a:pPr>
            <a:endParaRPr lang="es-GT" dirty="0"/>
          </a:p>
          <a:p>
            <a:pPr marL="109728" indent="0" algn="just">
              <a:buNone/>
            </a:pPr>
            <a:r>
              <a:rPr lang="es-GT" dirty="0"/>
              <a:t>Ejemplos.</a:t>
            </a:r>
          </a:p>
          <a:p>
            <a:pPr marL="109728" indent="0" algn="just">
              <a:buNone/>
            </a:pPr>
            <a:r>
              <a:rPr lang="es-GT" dirty="0"/>
              <a:t>Una cuenta de ahorros con intereses. </a:t>
            </a:r>
          </a:p>
          <a:p>
            <a:pPr marL="109728" indent="0" algn="just">
              <a:buNone/>
            </a:pPr>
            <a:r>
              <a:rPr lang="es-GT" dirty="0"/>
              <a:t>El crecimiento exponencial de la población.</a:t>
            </a:r>
          </a:p>
          <a:p>
            <a:pPr marL="109728" indent="0" algn="just">
              <a:buNone/>
            </a:pPr>
            <a:r>
              <a:rPr lang="es-GT" dirty="0"/>
              <a:t>El progreso en el aprendizaje y la adquisición de conocimiento.</a:t>
            </a:r>
          </a:p>
          <a:p>
            <a:pPr marL="109728" indent="0" algn="just">
              <a:buNone/>
            </a:pPr>
            <a:endParaRPr lang="es-GT" dirty="0"/>
          </a:p>
          <a:p>
            <a:pPr marL="109728" indent="0" algn="just">
              <a:buNone/>
            </a:pPr>
            <a:r>
              <a:rPr lang="es-GT" dirty="0"/>
              <a:t>ejemplo que desencadena efectos benéficos.</a:t>
            </a:r>
          </a:p>
          <a:p>
            <a:pPr marL="109728" indent="0" algn="just">
              <a:buNone/>
            </a:pPr>
            <a:endParaRPr lang="es-GT" dirty="0"/>
          </a:p>
          <a:p>
            <a:pPr marL="109728" indent="0" algn="just">
              <a:buNone/>
            </a:pPr>
            <a:r>
              <a:rPr lang="es-GT" dirty="0"/>
              <a:t>Cuanto mayor es el conocimiento, más aprendemos, pues podemos establecer más conexiones con lo que ya sabemos y, más ampliamos y profundizamos nuestros conocimientos.</a:t>
            </a:r>
          </a:p>
        </p:txBody>
      </p:sp>
    </p:spTree>
    <p:extLst>
      <p:ext uri="{BB962C8B-B14F-4D97-AF65-F5344CB8AC3E}">
        <p14:creationId xmlns:p14="http://schemas.microsoft.com/office/powerpoint/2010/main" val="285120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187624" y="1556792"/>
            <a:ext cx="8229600" cy="4325112"/>
          </a:xfrm>
        </p:spPr>
        <p:txBody>
          <a:bodyPr>
            <a:normAutofit fontScale="92500" lnSpcReduction="10000"/>
          </a:bodyPr>
          <a:lstStyle/>
          <a:p>
            <a:pPr marL="109728" indent="0">
              <a:buNone/>
            </a:pPr>
            <a:r>
              <a:rPr lang="es-GT" dirty="0"/>
              <a:t>Otros ejemplos :</a:t>
            </a:r>
          </a:p>
          <a:p>
            <a:pPr marL="109728" indent="0">
              <a:buNone/>
            </a:pPr>
            <a:endParaRPr lang="es-GT" dirty="0"/>
          </a:p>
          <a:p>
            <a:r>
              <a:rPr lang="es-GT" dirty="0"/>
              <a:t> Crecimiento de células vivas.</a:t>
            </a:r>
          </a:p>
          <a:p>
            <a:r>
              <a:rPr lang="es-GT" dirty="0"/>
              <a:t> El cáncer.</a:t>
            </a:r>
          </a:p>
          <a:p>
            <a:r>
              <a:rPr lang="es-GT" dirty="0"/>
              <a:t> Deudas bancarias.</a:t>
            </a:r>
          </a:p>
          <a:p>
            <a:r>
              <a:rPr lang="es-GT" dirty="0"/>
              <a:t> Poder.</a:t>
            </a:r>
          </a:p>
          <a:p>
            <a:r>
              <a:rPr lang="es-GT" dirty="0"/>
              <a:t> Rumores.</a:t>
            </a:r>
          </a:p>
          <a:p>
            <a:r>
              <a:rPr lang="es-GT" dirty="0"/>
              <a:t> Confianza en uno mismo.</a:t>
            </a:r>
          </a:p>
          <a:p>
            <a:r>
              <a:rPr lang="es-GT" dirty="0"/>
              <a:t> Epidemias, pandemias.</a:t>
            </a:r>
          </a:p>
          <a:p>
            <a:r>
              <a:rPr lang="es-GT" dirty="0"/>
              <a:t> Reacciones nucleares.</a:t>
            </a:r>
          </a:p>
          <a:p>
            <a:r>
              <a:rPr lang="es-GT" dirty="0"/>
              <a:t> Ataques de pánico.</a:t>
            </a:r>
          </a:p>
          <a:p>
            <a:r>
              <a:rPr lang="es-GT" dirty="0"/>
              <a:t> Arrecifes de coral.</a:t>
            </a:r>
          </a:p>
        </p:txBody>
      </p:sp>
    </p:spTree>
    <p:extLst>
      <p:ext uri="{BB962C8B-B14F-4D97-AF65-F5344CB8AC3E}">
        <p14:creationId xmlns:p14="http://schemas.microsoft.com/office/powerpoint/2010/main" val="3290873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97035" y="1196752"/>
            <a:ext cx="8229600" cy="1066800"/>
          </a:xfrm>
        </p:spPr>
        <p:txBody>
          <a:bodyPr>
            <a:normAutofit fontScale="90000"/>
          </a:bodyPr>
          <a:lstStyle/>
          <a:p>
            <a:r>
              <a:rPr lang="es-GT" b="1" dirty="0"/>
              <a:t>Realimentación de COMPENSACION</a:t>
            </a:r>
            <a:endParaRPr lang="es-GT" dirty="0"/>
          </a:p>
        </p:txBody>
      </p:sp>
      <p:sp>
        <p:nvSpPr>
          <p:cNvPr id="3" name="2 Marcador de contenido"/>
          <p:cNvSpPr>
            <a:spLocks noGrp="1"/>
          </p:cNvSpPr>
          <p:nvPr>
            <p:ph idx="1"/>
          </p:nvPr>
        </p:nvSpPr>
        <p:spPr>
          <a:xfrm>
            <a:off x="496144" y="2060848"/>
            <a:ext cx="8229600" cy="4325112"/>
          </a:xfrm>
        </p:spPr>
        <p:txBody>
          <a:bodyPr>
            <a:normAutofit lnSpcReduction="10000"/>
          </a:bodyPr>
          <a:lstStyle/>
          <a:p>
            <a:pPr marL="109728" indent="0" algn="just">
              <a:buNone/>
            </a:pPr>
            <a:r>
              <a:rPr lang="es-GT" dirty="0"/>
              <a:t>Se da cuando los cambios registrados en todo el sistema SE OPONEN al cambio original para amortiguar el efecto.</a:t>
            </a:r>
          </a:p>
          <a:p>
            <a:pPr marL="109728" indent="0" algn="just">
              <a:buNone/>
            </a:pPr>
            <a:endParaRPr lang="es-GT" dirty="0"/>
          </a:p>
          <a:p>
            <a:pPr marL="109728" indent="0" algn="just">
              <a:buNone/>
            </a:pPr>
            <a:r>
              <a:rPr lang="es-GT" dirty="0"/>
              <a:t>Nada es eterno. Tarde o temprano aparece el segundo tipo de realimentación y FRENA el crecimiento.</a:t>
            </a:r>
          </a:p>
          <a:p>
            <a:pPr marL="109728" indent="0" algn="just">
              <a:buNone/>
            </a:pPr>
            <a:endParaRPr lang="es-GT" dirty="0"/>
          </a:p>
          <a:p>
            <a:pPr marL="109728" indent="0" algn="just">
              <a:buNone/>
            </a:pPr>
            <a:r>
              <a:rPr lang="es-GT" dirty="0"/>
              <a:t>Se produce cuando los cambios en una parte del sistema generan cambios en el resto del sistema:  reducen, limitan o contrarrestan el cambio inicial.</a:t>
            </a:r>
          </a:p>
          <a:p>
            <a:pPr marL="109728" indent="0" algn="just">
              <a:buNone/>
            </a:pPr>
            <a:endParaRPr lang="es-GT" dirty="0"/>
          </a:p>
          <a:p>
            <a:pPr marL="109728" indent="0" algn="just">
              <a:buNone/>
            </a:pPr>
            <a:r>
              <a:rPr lang="es-GT" dirty="0"/>
              <a:t>Son los bucles que presentan resistencia al cambio y mantienen estable al sistema. Sin ellos la realimentación de refuerzo acabaría por romperlo.</a:t>
            </a:r>
          </a:p>
        </p:txBody>
      </p:sp>
    </p:spTree>
    <p:extLst>
      <p:ext uri="{BB962C8B-B14F-4D97-AF65-F5344CB8AC3E}">
        <p14:creationId xmlns:p14="http://schemas.microsoft.com/office/powerpoint/2010/main" val="3348552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11560" y="1340768"/>
            <a:ext cx="8229600" cy="4325112"/>
          </a:xfrm>
        </p:spPr>
        <p:txBody>
          <a:bodyPr>
            <a:normAutofit lnSpcReduction="10000"/>
          </a:bodyPr>
          <a:lstStyle/>
          <a:p>
            <a:pPr marL="109728" indent="0" algn="just">
              <a:buNone/>
            </a:pPr>
            <a:r>
              <a:rPr lang="es-GT" dirty="0"/>
              <a:t>La realimentación de compensación NO es en si mala ni buena, indica simplemente que el sistema se resiste al cambio.</a:t>
            </a:r>
          </a:p>
          <a:p>
            <a:pPr marL="109728" indent="0" algn="just">
              <a:buNone/>
            </a:pPr>
            <a:endParaRPr lang="es-GT" dirty="0"/>
          </a:p>
          <a:p>
            <a:pPr marL="109728" indent="0" algn="just">
              <a:buNone/>
            </a:pPr>
            <a:r>
              <a:rPr lang="es-GT" dirty="0"/>
              <a:t>Esto puede ser un obstáculo o ventaja. (depende de lo queramos hacer)</a:t>
            </a:r>
          </a:p>
          <a:p>
            <a:pPr marL="109728" indent="0" algn="just">
              <a:buNone/>
            </a:pPr>
            <a:endParaRPr lang="es-GT" dirty="0"/>
          </a:p>
          <a:p>
            <a:pPr marL="109728" indent="0" algn="just">
              <a:buNone/>
            </a:pPr>
            <a:r>
              <a:rPr lang="es-GT" dirty="0"/>
              <a:t>Se establece un bucle de realimentación de compensación cuando surge alguna diferencia entre el estado del sistema en un momento dado y lo que el sistema necesita para equilibrarse.</a:t>
            </a:r>
          </a:p>
          <a:p>
            <a:pPr marL="109728" indent="0" algn="just">
              <a:buNone/>
            </a:pPr>
            <a:endParaRPr lang="es-GT" dirty="0"/>
          </a:p>
          <a:p>
            <a:pPr marL="109728" indent="0" algn="just">
              <a:buNone/>
            </a:pPr>
            <a:r>
              <a:rPr lang="es-GT" dirty="0"/>
              <a:t>La realimentación de compensación persigue un objetivo. Todos los sistemas tienen bucles de realimentación de compensación para mantenerse estables, por tanto todos los sistemas tienen un objetivo, aunque solo sea el de seguir como están.</a:t>
            </a:r>
          </a:p>
        </p:txBody>
      </p:sp>
    </p:spTree>
    <p:extLst>
      <p:ext uri="{BB962C8B-B14F-4D97-AF65-F5344CB8AC3E}">
        <p14:creationId xmlns:p14="http://schemas.microsoft.com/office/powerpoint/2010/main" val="484653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116632"/>
            <a:ext cx="8280920" cy="5688632"/>
          </a:xfrm>
        </p:spPr>
        <p:txBody>
          <a:bodyPr>
            <a:noAutofit/>
          </a:bodyPr>
          <a:lstStyle/>
          <a:p>
            <a:pPr marL="109728" indent="0" algn="just">
              <a:buNone/>
            </a:pPr>
            <a:r>
              <a:rPr lang="es-GT" sz="1800" dirty="0"/>
              <a:t>La realimentación de compensación conduce al sistema hacia un objetivo.</a:t>
            </a:r>
          </a:p>
          <a:p>
            <a:pPr marL="109728" indent="0" algn="just">
              <a:buNone/>
            </a:pPr>
            <a:endParaRPr lang="es-GT" sz="1800" dirty="0"/>
          </a:p>
          <a:p>
            <a:pPr marL="109728" indent="0" algn="just">
              <a:buNone/>
            </a:pPr>
            <a:r>
              <a:rPr lang="es-GT" sz="1800" dirty="0"/>
              <a:t>Una vez alcanzado el bucle dejará de funcionar  y el sistema se mantendrá en reposo o en estado de equilibrio.</a:t>
            </a:r>
          </a:p>
          <a:p>
            <a:pPr marL="109728" indent="0" algn="just">
              <a:buNone/>
            </a:pPr>
            <a:endParaRPr lang="es-GT" sz="1800" dirty="0"/>
          </a:p>
          <a:p>
            <a:pPr marL="109728" indent="0" algn="just">
              <a:buNone/>
            </a:pPr>
            <a:r>
              <a:rPr lang="es-GT" sz="1800" dirty="0"/>
              <a:t>La realimentación de compensación sirve también para reducir la diferencia entre donde esta un sistema y donde  debería estar.</a:t>
            </a:r>
          </a:p>
          <a:p>
            <a:pPr marL="109728" indent="0" algn="just">
              <a:buNone/>
            </a:pPr>
            <a:endParaRPr lang="es-GT" sz="1800" dirty="0"/>
          </a:p>
          <a:p>
            <a:pPr marL="109728" indent="0" algn="just">
              <a:buNone/>
            </a:pPr>
            <a:r>
              <a:rPr lang="es-GT" sz="1800" dirty="0"/>
              <a:t>Siempre que haya diferencia entre el estado actual del sistema y el estado deseado, la realimentación de compensación desplazará el sistema en la dirección del estado deseado.</a:t>
            </a:r>
          </a:p>
          <a:p>
            <a:pPr marL="109728" indent="0" algn="just">
              <a:buNone/>
            </a:pPr>
            <a:endParaRPr lang="es-GT" sz="1800" dirty="0"/>
          </a:p>
          <a:p>
            <a:pPr marL="109728" indent="0" algn="just">
              <a:buNone/>
            </a:pPr>
            <a:r>
              <a:rPr lang="es-GT" sz="1800" dirty="0"/>
              <a:t>En consecuencia, todo sistema necesita una forma de medición; de lo contrario, no habrá manera de saber la diferencia entre donde está y dónde debería estar.</a:t>
            </a:r>
          </a:p>
          <a:p>
            <a:pPr marL="109728" indent="0" algn="just">
              <a:buNone/>
            </a:pPr>
            <a:endParaRPr lang="es-GT" sz="1800" dirty="0"/>
          </a:p>
          <a:p>
            <a:pPr marL="109728" indent="0" algn="just">
              <a:buNone/>
            </a:pPr>
            <a:r>
              <a:rPr lang="es-GT" sz="1800" dirty="0"/>
              <a:t>Todo sistema necesita medir esa diferencia con exactitud, sino se correría el riesgo de activar los bucles de realimentación cuando no fuera necesario.</a:t>
            </a:r>
          </a:p>
        </p:txBody>
      </p:sp>
    </p:spTree>
    <p:extLst>
      <p:ext uri="{BB962C8B-B14F-4D97-AF65-F5344CB8AC3E}">
        <p14:creationId xmlns:p14="http://schemas.microsoft.com/office/powerpoint/2010/main" val="4249822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55576" y="1484784"/>
            <a:ext cx="8229600" cy="4325112"/>
          </a:xfrm>
        </p:spPr>
        <p:txBody>
          <a:bodyPr>
            <a:normAutofit/>
          </a:bodyPr>
          <a:lstStyle/>
          <a:p>
            <a:pPr marL="109728" indent="0" algn="just">
              <a:buNone/>
            </a:pPr>
            <a:r>
              <a:rPr lang="es-GT" dirty="0"/>
              <a:t>Ejemplo.</a:t>
            </a:r>
          </a:p>
          <a:p>
            <a:pPr marL="109728" indent="0" algn="just">
              <a:buNone/>
            </a:pPr>
            <a:r>
              <a:rPr lang="es-GT" dirty="0"/>
              <a:t>Llevar el inventario de un negocio también genera un bucle de realimentación de compensación.</a:t>
            </a:r>
          </a:p>
          <a:p>
            <a:pPr marL="109728" indent="0" algn="just">
              <a:buNone/>
            </a:pPr>
            <a:endParaRPr lang="es-GT" dirty="0"/>
          </a:p>
          <a:p>
            <a:pPr marL="109728" indent="0" algn="just">
              <a:buNone/>
            </a:pPr>
            <a:r>
              <a:rPr lang="es-GT" dirty="0"/>
              <a:t>Debe haber suficiente mercancía almacenada para satisfacer la demanda y que los clientes no tengan que esperar, pero no tanta que ocupe demasiado espacio y haya que pagar mucho en gastos de almacenamiento.</a:t>
            </a:r>
          </a:p>
        </p:txBody>
      </p:sp>
    </p:spTree>
    <p:extLst>
      <p:ext uri="{BB962C8B-B14F-4D97-AF65-F5344CB8AC3E}">
        <p14:creationId xmlns:p14="http://schemas.microsoft.com/office/powerpoint/2010/main" val="1314475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1412776"/>
            <a:ext cx="8229600" cy="4325112"/>
          </a:xfrm>
        </p:spPr>
        <p:txBody>
          <a:bodyPr>
            <a:normAutofit/>
          </a:bodyPr>
          <a:lstStyle/>
          <a:p>
            <a:pPr marL="109728" indent="0" algn="just">
              <a:buNone/>
            </a:pPr>
            <a:r>
              <a:rPr lang="es-GT" dirty="0"/>
              <a:t>Ejemplo</a:t>
            </a:r>
          </a:p>
          <a:p>
            <a:pPr marL="109728" indent="0" algn="just">
              <a:buNone/>
            </a:pPr>
            <a:r>
              <a:rPr lang="es-GT" dirty="0"/>
              <a:t>La oferta y la demanda forman un bucle de realimentación de</a:t>
            </a:r>
          </a:p>
          <a:p>
            <a:pPr marL="109728" indent="0" algn="just">
              <a:buNone/>
            </a:pPr>
            <a:r>
              <a:rPr lang="es-GT" dirty="0"/>
              <a:t>compensación.</a:t>
            </a:r>
          </a:p>
          <a:p>
            <a:pPr marL="109728" indent="0" algn="just">
              <a:buNone/>
            </a:pPr>
            <a:endParaRPr lang="es-GT" dirty="0"/>
          </a:p>
          <a:p>
            <a:pPr marL="109728" indent="0" algn="just">
              <a:buNone/>
            </a:pPr>
            <a:r>
              <a:rPr lang="es-GT" dirty="0"/>
              <a:t>Cuando los bienes son escasos y la demanda es superior a la oferta, la realimentación reduce la demanda en dos sentidos:  aumentando los precios o aumentando la oferta mediante las ventas y el marketing.</a:t>
            </a:r>
          </a:p>
          <a:p>
            <a:pPr marL="109728" indent="0" algn="just">
              <a:buNone/>
            </a:pPr>
            <a:endParaRPr lang="es-GT" dirty="0"/>
          </a:p>
          <a:p>
            <a:pPr marL="109728" indent="0" algn="just">
              <a:buNone/>
            </a:pPr>
            <a:r>
              <a:rPr lang="es-GT" dirty="0"/>
              <a:t>Cuando la oferta es superior a la demanda, el bucle se activa y aumenta la demanda mediante la reducción de los precios o disminuye la oferta mediante la acumulación de reservas o las restricciones de fabricación.</a:t>
            </a:r>
          </a:p>
        </p:txBody>
      </p:sp>
    </p:spTree>
    <p:extLst>
      <p:ext uri="{BB962C8B-B14F-4D97-AF65-F5344CB8AC3E}">
        <p14:creationId xmlns:p14="http://schemas.microsoft.com/office/powerpoint/2010/main" val="1865027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1340768"/>
            <a:ext cx="8229600" cy="4325112"/>
          </a:xfrm>
        </p:spPr>
        <p:txBody>
          <a:bodyPr/>
          <a:lstStyle/>
          <a:p>
            <a:pPr marL="109728" indent="0" algn="just">
              <a:buNone/>
            </a:pPr>
            <a:r>
              <a:rPr lang="es-GT" dirty="0"/>
              <a:t>Sin los bucles de realimentación de compensación los seres vivos NO podríamos sobrevivir</a:t>
            </a:r>
          </a:p>
          <a:p>
            <a:pPr marL="109728" indent="0" algn="just">
              <a:buNone/>
            </a:pPr>
            <a:endParaRPr lang="es-GT" dirty="0"/>
          </a:p>
          <a:p>
            <a:pPr marL="109728" indent="0" algn="just">
              <a:buNone/>
            </a:pPr>
            <a:r>
              <a:rPr lang="es-GT" dirty="0"/>
              <a:t>Ni funcionarían las sociedades. Ni los ecosistemas.</a:t>
            </a:r>
          </a:p>
          <a:p>
            <a:pPr marL="109728" indent="0" algn="just">
              <a:buNone/>
            </a:pPr>
            <a:endParaRPr lang="es-GT" dirty="0"/>
          </a:p>
          <a:p>
            <a:pPr marL="109728" indent="0" algn="just">
              <a:buNone/>
            </a:pPr>
            <a:r>
              <a:rPr lang="es-GT" dirty="0"/>
              <a:t>Son el PEGAMENTO que impide que nos  rompamos en pedazos.</a:t>
            </a:r>
          </a:p>
        </p:txBody>
      </p:sp>
    </p:spTree>
    <p:extLst>
      <p:ext uri="{BB962C8B-B14F-4D97-AF65-F5344CB8AC3E}">
        <p14:creationId xmlns:p14="http://schemas.microsoft.com/office/powerpoint/2010/main" val="3151120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331640" y="1340768"/>
            <a:ext cx="8229600" cy="4325112"/>
          </a:xfrm>
        </p:spPr>
        <p:txBody>
          <a:bodyPr>
            <a:normAutofit fontScale="70000" lnSpcReduction="20000"/>
          </a:bodyPr>
          <a:lstStyle/>
          <a:p>
            <a:pPr marL="109728" indent="0">
              <a:buNone/>
            </a:pPr>
            <a:r>
              <a:rPr lang="es-GT" dirty="0"/>
              <a:t>Otros ejemplos :</a:t>
            </a:r>
          </a:p>
          <a:p>
            <a:r>
              <a:rPr lang="es-GT" dirty="0"/>
              <a:t> Sistemas mecánicos.</a:t>
            </a:r>
          </a:p>
          <a:p>
            <a:r>
              <a:rPr lang="es-GT" dirty="0"/>
              <a:t> El cambio de marchas de un carro automático.</a:t>
            </a:r>
          </a:p>
          <a:p>
            <a:r>
              <a:rPr lang="es-GT" dirty="0"/>
              <a:t> El regulador de una maquina de vapor.</a:t>
            </a:r>
          </a:p>
          <a:p>
            <a:r>
              <a:rPr lang="es-GT" dirty="0"/>
              <a:t> El aire acondicionado.</a:t>
            </a:r>
          </a:p>
          <a:p>
            <a:pPr marL="109728" indent="0">
              <a:buNone/>
            </a:pPr>
            <a:endParaRPr lang="es-GT" dirty="0"/>
          </a:p>
          <a:p>
            <a:pPr marL="109728" indent="0">
              <a:buNone/>
            </a:pPr>
            <a:r>
              <a:rPr lang="es-GT" dirty="0"/>
              <a:t>Sistema humanos.</a:t>
            </a:r>
          </a:p>
          <a:p>
            <a:r>
              <a:rPr lang="es-GT" dirty="0"/>
              <a:t> La temperatura corporal.</a:t>
            </a:r>
          </a:p>
          <a:p>
            <a:r>
              <a:rPr lang="es-GT" dirty="0"/>
              <a:t> El dolor.</a:t>
            </a:r>
          </a:p>
          <a:p>
            <a:r>
              <a:rPr lang="es-GT" dirty="0"/>
              <a:t> El nivel de azúcar en la sangre.</a:t>
            </a:r>
          </a:p>
          <a:p>
            <a:r>
              <a:rPr lang="es-GT" dirty="0"/>
              <a:t> La presión sanguínea.</a:t>
            </a:r>
          </a:p>
          <a:p>
            <a:r>
              <a:rPr lang="es-GT" dirty="0"/>
              <a:t> La tos.</a:t>
            </a:r>
          </a:p>
          <a:p>
            <a:r>
              <a:rPr lang="es-GT" dirty="0"/>
              <a:t> El sueño.</a:t>
            </a:r>
          </a:p>
          <a:p>
            <a:r>
              <a:rPr lang="es-GT" dirty="0"/>
              <a:t> Escribir.</a:t>
            </a:r>
          </a:p>
          <a:p>
            <a:r>
              <a:rPr lang="es-GT" dirty="0"/>
              <a:t> Montar en bicicleta.</a:t>
            </a:r>
          </a:p>
        </p:txBody>
      </p:sp>
    </p:spTree>
    <p:extLst>
      <p:ext uri="{BB962C8B-B14F-4D97-AF65-F5344CB8AC3E}">
        <p14:creationId xmlns:p14="http://schemas.microsoft.com/office/powerpoint/2010/main" val="3795857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901436" y="1340768"/>
            <a:ext cx="8229600" cy="4325112"/>
          </a:xfrm>
        </p:spPr>
        <p:txBody>
          <a:bodyPr>
            <a:normAutofit fontScale="92500" lnSpcReduction="20000"/>
          </a:bodyPr>
          <a:lstStyle/>
          <a:p>
            <a:pPr marL="109728" indent="0">
              <a:buNone/>
            </a:pPr>
            <a:r>
              <a:rPr lang="es-GT" dirty="0"/>
              <a:t>Ecosistemas.</a:t>
            </a:r>
          </a:p>
          <a:p>
            <a:r>
              <a:rPr lang="es-GT" dirty="0"/>
              <a:t> Depredadores y presas.</a:t>
            </a:r>
          </a:p>
          <a:p>
            <a:r>
              <a:rPr lang="es-GT" dirty="0"/>
              <a:t> Equilibrio entre alimento y población</a:t>
            </a:r>
          </a:p>
          <a:p>
            <a:pPr marL="109728" indent="0">
              <a:buNone/>
            </a:pPr>
            <a:endParaRPr lang="es-GT" dirty="0"/>
          </a:p>
          <a:p>
            <a:pPr marL="109728" indent="0">
              <a:buNone/>
            </a:pPr>
            <a:r>
              <a:rPr lang="es-GT" dirty="0"/>
              <a:t>Sistemas sociales.</a:t>
            </a:r>
          </a:p>
          <a:p>
            <a:r>
              <a:rPr lang="es-GT" dirty="0"/>
              <a:t> Elecciones.</a:t>
            </a:r>
          </a:p>
          <a:p>
            <a:r>
              <a:rPr lang="es-GT" dirty="0"/>
              <a:t> Impuestos.</a:t>
            </a:r>
          </a:p>
          <a:p>
            <a:pPr marL="109728" indent="0">
              <a:buNone/>
            </a:pPr>
            <a:endParaRPr lang="es-GT" dirty="0"/>
          </a:p>
          <a:p>
            <a:pPr marL="109728" indent="0">
              <a:buNone/>
            </a:pPr>
            <a:r>
              <a:rPr lang="es-GT" dirty="0"/>
              <a:t>Negocios.</a:t>
            </a:r>
          </a:p>
          <a:p>
            <a:r>
              <a:rPr lang="es-GT" dirty="0"/>
              <a:t> Atención al cliente.</a:t>
            </a:r>
          </a:p>
          <a:p>
            <a:r>
              <a:rPr lang="es-GT" dirty="0"/>
              <a:t> Creación de equipos.</a:t>
            </a:r>
          </a:p>
          <a:p>
            <a:r>
              <a:rPr lang="es-GT" dirty="0"/>
              <a:t> Estrategias de marketing.</a:t>
            </a:r>
          </a:p>
          <a:p>
            <a:r>
              <a:rPr lang="es-GT" dirty="0"/>
              <a:t> Liderazgo</a:t>
            </a:r>
          </a:p>
        </p:txBody>
      </p:sp>
    </p:spTree>
    <p:extLst>
      <p:ext uri="{BB962C8B-B14F-4D97-AF65-F5344CB8AC3E}">
        <p14:creationId xmlns:p14="http://schemas.microsoft.com/office/powerpoint/2010/main" val="2954817530"/>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224</TotalTime>
  <Words>1456</Words>
  <Application>Microsoft Office PowerPoint</Application>
  <PresentationFormat>Presentación en pantalla (4:3)</PresentationFormat>
  <Paragraphs>148</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Century Gothic</vt:lpstr>
      <vt:lpstr>Wingdings 3</vt:lpstr>
      <vt:lpstr>Espiral</vt:lpstr>
      <vt:lpstr>Pensamiento en círculos.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Tipos de Bucles de Realimentación </vt:lpstr>
      <vt:lpstr>Realimentación de REFUERZO</vt:lpstr>
      <vt:lpstr>Presentación de PowerPoint</vt:lpstr>
      <vt:lpstr>Presentación de PowerPoint</vt:lpstr>
      <vt:lpstr>Realimentación de COMPENSACION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Pensamiento en círculos.</dc:title>
  <dc:creator>David García</dc:creator>
  <cp:lastModifiedBy>Edwin David Garcia</cp:lastModifiedBy>
  <cp:revision>29</cp:revision>
  <dcterms:created xsi:type="dcterms:W3CDTF">2012-06-24T02:04:19Z</dcterms:created>
  <dcterms:modified xsi:type="dcterms:W3CDTF">2020-06-26T19:08:22Z</dcterms:modified>
</cp:coreProperties>
</file>