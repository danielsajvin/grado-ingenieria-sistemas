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6" r:id="rId1"/>
  </p:sldMasterIdLst>
  <p:sldIdLst>
    <p:sldId id="256" r:id="rId2"/>
    <p:sldId id="274" r:id="rId3"/>
    <p:sldId id="257" r:id="rId4"/>
    <p:sldId id="264" r:id="rId5"/>
    <p:sldId id="265" r:id="rId6"/>
    <p:sldId id="259" r:id="rId7"/>
    <p:sldId id="260" r:id="rId8"/>
    <p:sldId id="261" r:id="rId9"/>
    <p:sldId id="262" r:id="rId10"/>
    <p:sldId id="263" r:id="rId11"/>
    <p:sldId id="266" r:id="rId12"/>
    <p:sldId id="258" r:id="rId13"/>
    <p:sldId id="267" r:id="rId14"/>
    <p:sldId id="268" r:id="rId15"/>
    <p:sldId id="269" r:id="rId16"/>
    <p:sldId id="270" r:id="rId17"/>
    <p:sldId id="271" r:id="rId18"/>
    <p:sldId id="272" r:id="rId19"/>
    <p:sldId id="273"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6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EDF8BACE-AE4E-44D2-B7F4-323FF0F1A1AF}" type="datetimeFigureOut">
              <a:rPr lang="es-GT" smtClean="0"/>
              <a:t>11/05/2022</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2879496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DF8BACE-AE4E-44D2-B7F4-323FF0F1A1AF}" type="datetimeFigureOut">
              <a:rPr lang="es-GT" smtClean="0"/>
              <a:t>11/05/2022</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3824121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DF8BACE-AE4E-44D2-B7F4-323FF0F1A1AF}" type="datetimeFigureOut">
              <a:rPr lang="es-GT" smtClean="0"/>
              <a:t>11/05/2022</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2630683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DF8BACE-AE4E-44D2-B7F4-323FF0F1A1AF}" type="datetimeFigureOut">
              <a:rPr lang="es-GT" smtClean="0"/>
              <a:t>11/05/2022</a:t>
            </a:fld>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1451279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DF8BACE-AE4E-44D2-B7F4-323FF0F1A1AF}" type="datetimeFigureOut">
              <a:rPr lang="es-GT" smtClean="0"/>
              <a:t>11/05/2022</a:t>
            </a:fld>
            <a:endParaRPr lang="es-GT"/>
          </a:p>
        </p:txBody>
      </p:sp>
      <p:sp>
        <p:nvSpPr>
          <p:cNvPr id="8" name="Footer Placeholder 7"/>
          <p:cNvSpPr>
            <a:spLocks noGrp="1"/>
          </p:cNvSpPr>
          <p:nvPr>
            <p:ph type="ftr" sz="quarter" idx="11"/>
          </p:nvPr>
        </p:nvSpPr>
        <p:spPr/>
        <p:txBody>
          <a:bodyPr/>
          <a:lstStyle/>
          <a:p>
            <a:endParaRPr lang="es-GT"/>
          </a:p>
        </p:txBody>
      </p:sp>
      <p:sp>
        <p:nvSpPr>
          <p:cNvPr id="9" name="Slide Number Placeholder 8"/>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6314034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DF8BACE-AE4E-44D2-B7F4-323FF0F1A1AF}" type="datetimeFigureOut">
              <a:rPr lang="es-GT" smtClean="0"/>
              <a:t>11/05/2022</a:t>
            </a:fld>
            <a:endParaRPr lang="es-GT"/>
          </a:p>
        </p:txBody>
      </p:sp>
      <p:sp>
        <p:nvSpPr>
          <p:cNvPr id="4" name="Footer Placeholder 3"/>
          <p:cNvSpPr>
            <a:spLocks noGrp="1"/>
          </p:cNvSpPr>
          <p:nvPr>
            <p:ph type="ftr" sz="quarter" idx="11"/>
          </p:nvPr>
        </p:nvSpPr>
        <p:spPr/>
        <p:txBody>
          <a:bodyPr/>
          <a:lstStyle/>
          <a:p>
            <a:endParaRPr lang="es-GT"/>
          </a:p>
        </p:txBody>
      </p:sp>
      <p:sp>
        <p:nvSpPr>
          <p:cNvPr id="5" name="Slide Number Placeholder 4"/>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3232801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DF8BACE-AE4E-44D2-B7F4-323FF0F1A1AF}" type="datetimeFigureOut">
              <a:rPr lang="es-GT" smtClean="0"/>
              <a:t>11/05/2022</a:t>
            </a:fld>
            <a:endParaRPr lang="es-GT"/>
          </a:p>
        </p:txBody>
      </p:sp>
      <p:sp>
        <p:nvSpPr>
          <p:cNvPr id="3" name="Footer Placeholder 2"/>
          <p:cNvSpPr>
            <a:spLocks noGrp="1"/>
          </p:cNvSpPr>
          <p:nvPr>
            <p:ph type="ftr" sz="quarter" idx="11"/>
          </p:nvPr>
        </p:nvSpPr>
        <p:spPr/>
        <p:txBody>
          <a:bodyPr/>
          <a:lstStyle/>
          <a:p>
            <a:endParaRPr lang="es-GT"/>
          </a:p>
        </p:txBody>
      </p:sp>
      <p:sp>
        <p:nvSpPr>
          <p:cNvPr id="4" name="Slide Number Placeholder 3"/>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2381032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DF8BACE-AE4E-44D2-B7F4-323FF0F1A1AF}" type="datetimeFigureOut">
              <a:rPr lang="es-GT" smtClean="0"/>
              <a:t>11/05/2022</a:t>
            </a:fld>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40381470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EDF8BACE-AE4E-44D2-B7F4-323FF0F1A1AF}" type="datetimeFigureOut">
              <a:rPr lang="es-GT" smtClean="0"/>
              <a:t>11/05/2022</a:t>
            </a:fld>
            <a:endParaRPr lang="es-GT"/>
          </a:p>
        </p:txBody>
      </p:sp>
      <p:sp>
        <p:nvSpPr>
          <p:cNvPr id="6" name="Footer Placeholder 5"/>
          <p:cNvSpPr>
            <a:spLocks noGrp="1"/>
          </p:cNvSpPr>
          <p:nvPr>
            <p:ph type="ftr" sz="quarter" idx="11"/>
          </p:nvPr>
        </p:nvSpPr>
        <p:spPr/>
        <p:txBody>
          <a:bodyPr/>
          <a:lstStyle/>
          <a:p>
            <a:endParaRPr lang="es-GT"/>
          </a:p>
        </p:txBody>
      </p:sp>
      <p:sp>
        <p:nvSpPr>
          <p:cNvPr id="7" name="Slide Number Placeholder 6"/>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15457583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DF8BACE-AE4E-44D2-B7F4-323FF0F1A1AF}" type="datetimeFigureOut">
              <a:rPr lang="es-GT" smtClean="0"/>
              <a:t>11/05/2022</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33581664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DF8BACE-AE4E-44D2-B7F4-323FF0F1A1AF}" type="datetimeFigureOut">
              <a:rPr lang="es-GT" smtClean="0"/>
              <a:t>11/05/2022</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5F2C6B8A-40D2-4A0B-838C-90C03673D876}" type="slidenum">
              <a:rPr lang="es-GT" smtClean="0"/>
              <a:t>‹Nº›</a:t>
            </a:fld>
            <a:endParaRPr lang="es-GT"/>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415348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DF8BACE-AE4E-44D2-B7F4-323FF0F1A1AF}" type="datetimeFigureOut">
              <a:rPr lang="es-GT" smtClean="0"/>
              <a:t>11/05/2022</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30545156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DF8BACE-AE4E-44D2-B7F4-323FF0F1A1AF}" type="datetimeFigureOut">
              <a:rPr lang="es-GT" smtClean="0"/>
              <a:t>11/05/2022</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5F2C6B8A-40D2-4A0B-838C-90C03673D876}" type="slidenum">
              <a:rPr lang="es-GT" smtClean="0"/>
              <a:t>‹Nº›</a:t>
            </a:fld>
            <a:endParaRPr lang="es-GT"/>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6440898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EDF8BACE-AE4E-44D2-B7F4-323FF0F1A1AF}" type="datetimeFigureOut">
              <a:rPr lang="es-GT" smtClean="0"/>
              <a:t>11/05/2022</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27766261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DF8BACE-AE4E-44D2-B7F4-323FF0F1A1AF}" type="datetimeFigureOut">
              <a:rPr lang="es-GT" smtClean="0"/>
              <a:t>11/05/2022</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326327831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DF8BACE-AE4E-44D2-B7F4-323FF0F1A1AF}" type="datetimeFigureOut">
              <a:rPr lang="es-GT" smtClean="0"/>
              <a:t>11/05/2022</a:t>
            </a:fld>
            <a:endParaRPr lang="es-GT"/>
          </a:p>
        </p:txBody>
      </p:sp>
      <p:sp>
        <p:nvSpPr>
          <p:cNvPr id="5" name="Footer Placeholder 4"/>
          <p:cNvSpPr>
            <a:spLocks noGrp="1"/>
          </p:cNvSpPr>
          <p:nvPr>
            <p:ph type="ftr" sz="quarter" idx="11"/>
          </p:nvPr>
        </p:nvSpPr>
        <p:spPr/>
        <p:txBody>
          <a:bodyPr/>
          <a:lstStyle/>
          <a:p>
            <a:endParaRPr lang="es-GT"/>
          </a:p>
        </p:txBody>
      </p:sp>
      <p:sp>
        <p:nvSpPr>
          <p:cNvPr id="6" name="Slide Number Placeholder 5"/>
          <p:cNvSpPr>
            <a:spLocks noGrp="1"/>
          </p:cNvSpPr>
          <p:nvPr>
            <p:ph type="sldNum" sz="quarter" idx="12"/>
          </p:nvPr>
        </p:nvSpPr>
        <p:spPr/>
        <p:txBody>
          <a:bodyPr/>
          <a:lstStyle/>
          <a:p>
            <a:fld id="{5F2C6B8A-40D2-4A0B-838C-90C03673D876}" type="slidenum">
              <a:rPr lang="es-GT" smtClean="0"/>
              <a:t>‹Nº›</a:t>
            </a:fld>
            <a:endParaRPr lang="es-GT"/>
          </a:p>
        </p:txBody>
      </p:sp>
    </p:spTree>
    <p:extLst>
      <p:ext uri="{BB962C8B-B14F-4D97-AF65-F5344CB8AC3E}">
        <p14:creationId xmlns:p14="http://schemas.microsoft.com/office/powerpoint/2010/main" val="3064157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DF8BACE-AE4E-44D2-B7F4-323FF0F1A1AF}" type="datetimeFigureOut">
              <a:rPr lang="es-GT" smtClean="0"/>
              <a:t>11/05/2022</a:t>
            </a:fld>
            <a:endParaRPr lang="es-GT"/>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GT"/>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5F2C6B8A-40D2-4A0B-838C-90C03673D876}" type="slidenum">
              <a:rPr lang="es-GT" smtClean="0"/>
              <a:t>‹Nº›</a:t>
            </a:fld>
            <a:endParaRPr lang="es-GT"/>
          </a:p>
        </p:txBody>
      </p:sp>
    </p:spTree>
    <p:extLst>
      <p:ext uri="{BB962C8B-B14F-4D97-AF65-F5344CB8AC3E}">
        <p14:creationId xmlns:p14="http://schemas.microsoft.com/office/powerpoint/2010/main" val="798364772"/>
      </p:ext>
    </p:extLst>
  </p:cSld>
  <p:clrMap bg1="lt1" tx1="dk1" bg2="lt2" tx2="dk2" accent1="accent1" accent2="accent2" accent3="accent3" accent4="accent4" accent5="accent5" accent6="accent6" hlink="hlink" folHlink="folHlink"/>
  <p:sldLayoutIdLst>
    <p:sldLayoutId id="2147483707" r:id="rId1"/>
    <p:sldLayoutId id="2147483708" r:id="rId2"/>
    <p:sldLayoutId id="2147483709" r:id="rId3"/>
    <p:sldLayoutId id="2147483710" r:id="rId4"/>
    <p:sldLayoutId id="2147483711" r:id="rId5"/>
    <p:sldLayoutId id="2147483712" r:id="rId6"/>
    <p:sldLayoutId id="2147483713" r:id="rId7"/>
    <p:sldLayoutId id="2147483714" r:id="rId8"/>
    <p:sldLayoutId id="2147483715" r:id="rId9"/>
    <p:sldLayoutId id="2147483716" r:id="rId10"/>
    <p:sldLayoutId id="2147483717" r:id="rId11"/>
    <p:sldLayoutId id="2147483718" r:id="rId12"/>
    <p:sldLayoutId id="2147483719" r:id="rId13"/>
    <p:sldLayoutId id="2147483720" r:id="rId14"/>
    <p:sldLayoutId id="2147483721" r:id="rId15"/>
    <p:sldLayoutId id="2147483722"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85146" y="2807166"/>
            <a:ext cx="8458200" cy="1470025"/>
          </a:xfrm>
        </p:spPr>
        <p:txBody>
          <a:bodyPr/>
          <a:lstStyle/>
          <a:p>
            <a:pPr algn="ctr"/>
            <a:r>
              <a:rPr lang="es-GT" dirty="0"/>
              <a:t>Pensamiento sistémico.</a:t>
            </a:r>
          </a:p>
        </p:txBody>
      </p:sp>
      <p:sp>
        <p:nvSpPr>
          <p:cNvPr id="3" name="2 Subtítulo"/>
          <p:cNvSpPr>
            <a:spLocks noGrp="1"/>
          </p:cNvSpPr>
          <p:nvPr>
            <p:ph type="subTitle" idx="1"/>
          </p:nvPr>
        </p:nvSpPr>
        <p:spPr/>
        <p:txBody>
          <a:bodyPr/>
          <a:lstStyle/>
          <a:p>
            <a:endParaRPr lang="es-GT" dirty="0"/>
          </a:p>
        </p:txBody>
      </p:sp>
      <p:pic>
        <p:nvPicPr>
          <p:cNvPr id="5" name="Imagen 4">
            <a:extLst>
              <a:ext uri="{FF2B5EF4-FFF2-40B4-BE49-F238E27FC236}">
                <a16:creationId xmlns:a16="http://schemas.microsoft.com/office/drawing/2014/main" id="{316D04AE-5952-48BE-A784-BC0388D47B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5299" y="0"/>
            <a:ext cx="3778701" cy="3039155"/>
          </a:xfrm>
          <a:prstGeom prst="rect">
            <a:avLst/>
          </a:prstGeom>
        </p:spPr>
      </p:pic>
    </p:spTree>
    <p:extLst>
      <p:ext uri="{BB962C8B-B14F-4D97-AF65-F5344CB8AC3E}">
        <p14:creationId xmlns:p14="http://schemas.microsoft.com/office/powerpoint/2010/main" val="42126893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F617C5-A9AB-4011-9140-C9AA3FEA4B42}"/>
              </a:ext>
            </a:extLst>
          </p:cNvPr>
          <p:cNvSpPr>
            <a:spLocks noGrp="1"/>
          </p:cNvSpPr>
          <p:nvPr>
            <p:ph type="title"/>
          </p:nvPr>
        </p:nvSpPr>
        <p:spPr/>
        <p:txBody>
          <a:bodyPr/>
          <a:lstStyle/>
          <a:p>
            <a:endParaRPr lang="en-US"/>
          </a:p>
        </p:txBody>
      </p:sp>
      <p:pic>
        <p:nvPicPr>
          <p:cNvPr id="11" name="Marcador de contenido 10">
            <a:extLst>
              <a:ext uri="{FF2B5EF4-FFF2-40B4-BE49-F238E27FC236}">
                <a16:creationId xmlns:a16="http://schemas.microsoft.com/office/drawing/2014/main" id="{D1D98D4E-9601-4BD3-A4D5-AF1A61E42405}"/>
              </a:ext>
            </a:extLst>
          </p:cNvPr>
          <p:cNvPicPr>
            <a:picLocks noGrp="1" noChangeAspect="1"/>
          </p:cNvPicPr>
          <p:nvPr>
            <p:ph idx="1"/>
          </p:nvPr>
        </p:nvPicPr>
        <p:blipFill rotWithShape="1">
          <a:blip r:embed="rId2"/>
          <a:srcRect l="3434" t="17042" r="52330" b="10330"/>
          <a:stretch/>
        </p:blipFill>
        <p:spPr>
          <a:xfrm>
            <a:off x="1115616" y="238492"/>
            <a:ext cx="7171136" cy="6619507"/>
          </a:xfrm>
        </p:spPr>
      </p:pic>
    </p:spTree>
    <p:extLst>
      <p:ext uri="{BB962C8B-B14F-4D97-AF65-F5344CB8AC3E}">
        <p14:creationId xmlns:p14="http://schemas.microsoft.com/office/powerpoint/2010/main" val="2236367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1668574"/>
            <a:ext cx="6768752" cy="4325112"/>
          </a:xfrm>
        </p:spPr>
        <p:txBody>
          <a:bodyPr/>
          <a:lstStyle/>
          <a:p>
            <a:pPr algn="just"/>
            <a:r>
              <a:rPr lang="es-GT" dirty="0"/>
              <a:t>El pensamiento sistémico es la actitud del ser humano, que se basa en la percepción del mundo real en </a:t>
            </a:r>
            <a:r>
              <a:rPr lang="es-GT" u="sng" dirty="0"/>
              <a:t>términos de totalidades </a:t>
            </a:r>
            <a:r>
              <a:rPr lang="es-GT" dirty="0"/>
              <a:t>para su análisis, comprensión y accionar, a diferencia del planteamiento del método científico, que sólo percibe partes de éste y de manera inconexa. </a:t>
            </a:r>
          </a:p>
        </p:txBody>
      </p:sp>
      <p:sp>
        <p:nvSpPr>
          <p:cNvPr id="4" name="3 CuadroTexto"/>
          <p:cNvSpPr txBox="1"/>
          <p:nvPr/>
        </p:nvSpPr>
        <p:spPr>
          <a:xfrm>
            <a:off x="2627784" y="836712"/>
            <a:ext cx="4248472" cy="584775"/>
          </a:xfrm>
          <a:prstGeom prst="rect">
            <a:avLst/>
          </a:prstGeom>
          <a:noFill/>
        </p:spPr>
        <p:txBody>
          <a:bodyPr wrap="square" rtlCol="0">
            <a:spAutoFit/>
          </a:bodyPr>
          <a:lstStyle/>
          <a:p>
            <a:r>
              <a:rPr lang="es-GT" sz="3200" b="1" dirty="0"/>
              <a:t>Definiciones</a:t>
            </a:r>
          </a:p>
        </p:txBody>
      </p:sp>
      <p:pic>
        <p:nvPicPr>
          <p:cNvPr id="5" name="Imagen 4">
            <a:extLst>
              <a:ext uri="{FF2B5EF4-FFF2-40B4-BE49-F238E27FC236}">
                <a16:creationId xmlns:a16="http://schemas.microsoft.com/office/drawing/2014/main" id="{CDD0A3EC-3B1F-4E87-AE3C-2AAACFFCEE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2915" y="3861048"/>
            <a:ext cx="4001085" cy="2996952"/>
          </a:xfrm>
          <a:prstGeom prst="rect">
            <a:avLst/>
          </a:prstGeom>
        </p:spPr>
      </p:pic>
    </p:spTree>
    <p:extLst>
      <p:ext uri="{BB962C8B-B14F-4D97-AF65-F5344CB8AC3E}">
        <p14:creationId xmlns:p14="http://schemas.microsoft.com/office/powerpoint/2010/main" val="1854445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GT" dirty="0"/>
          </a:p>
        </p:txBody>
      </p:sp>
      <p:sp>
        <p:nvSpPr>
          <p:cNvPr id="3" name="2 Marcador de contenido"/>
          <p:cNvSpPr>
            <a:spLocks noGrp="1"/>
          </p:cNvSpPr>
          <p:nvPr>
            <p:ph idx="1"/>
          </p:nvPr>
        </p:nvSpPr>
        <p:spPr/>
        <p:txBody>
          <a:bodyPr>
            <a:normAutofit/>
          </a:bodyPr>
          <a:lstStyle/>
          <a:p>
            <a:pPr algn="just"/>
            <a:r>
              <a:rPr lang="es-GT" dirty="0"/>
              <a:t>Es un modo de pensamiento que contempla el todo y sus partes, así como las conexiones entre éstas.</a:t>
            </a:r>
          </a:p>
          <a:p>
            <a:pPr algn="just"/>
            <a:endParaRPr lang="es-GT" dirty="0"/>
          </a:p>
          <a:p>
            <a:pPr algn="just"/>
            <a:r>
              <a:rPr lang="es-GT" dirty="0"/>
              <a:t>Estudia el todo para comprender las partes.</a:t>
            </a:r>
          </a:p>
          <a:p>
            <a:pPr algn="just"/>
            <a:endParaRPr lang="es-GT" dirty="0"/>
          </a:p>
          <a:p>
            <a:pPr algn="just"/>
            <a:r>
              <a:rPr lang="es-GT" dirty="0"/>
              <a:t>El pensamiento sistémico va mas allá de lo que se muestra como un incidente aislado, para llegar a comprensiones más profundas de los sucesos.</a:t>
            </a:r>
          </a:p>
          <a:p>
            <a:endParaRPr lang="es-GT" dirty="0"/>
          </a:p>
        </p:txBody>
      </p:sp>
    </p:spTree>
    <p:extLst>
      <p:ext uri="{BB962C8B-B14F-4D97-AF65-F5344CB8AC3E}">
        <p14:creationId xmlns:p14="http://schemas.microsoft.com/office/powerpoint/2010/main" val="1867641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67544" y="1268760"/>
            <a:ext cx="8136904" cy="5328592"/>
          </a:xfrm>
        </p:spPr>
        <p:txBody>
          <a:bodyPr>
            <a:normAutofit/>
          </a:bodyPr>
          <a:lstStyle/>
          <a:p>
            <a:pPr algn="just"/>
            <a:r>
              <a:rPr lang="es-GT" dirty="0"/>
              <a:t>Es un medio de reconocer las relaciones que existen entre los sucesos y las partes que los protagonizan, permite mayor conciencia para comprender, y capacidad para poder influir o interactuar con ellos.</a:t>
            </a:r>
          </a:p>
          <a:p>
            <a:pPr algn="just"/>
            <a:endParaRPr lang="es-GT" dirty="0"/>
          </a:p>
          <a:p>
            <a:pPr algn="just"/>
            <a:r>
              <a:rPr lang="es-GT" dirty="0"/>
              <a:t>Pasar por alto el funcionamiento sistémico de las cosas, implica realizar actuaciones atrevidas cuanto menos y, faltas de precisión. </a:t>
            </a:r>
          </a:p>
          <a:p>
            <a:pPr algn="just"/>
            <a:endParaRPr lang="es-GT" dirty="0"/>
          </a:p>
          <a:p>
            <a:pPr algn="just"/>
            <a:r>
              <a:rPr lang="es-GT" dirty="0"/>
              <a:t>Al no atender las cosas como parte de un conjunto global, se hace como si existieran por sí solas, sin tener en cuenta que nada ha surgido sin la intervención de otras partes y todo el sistema que las sostiene, con sus procesos previos.</a:t>
            </a:r>
          </a:p>
          <a:p>
            <a:endParaRPr lang="es-GT" dirty="0"/>
          </a:p>
        </p:txBody>
      </p:sp>
    </p:spTree>
    <p:extLst>
      <p:ext uri="{BB962C8B-B14F-4D97-AF65-F5344CB8AC3E}">
        <p14:creationId xmlns:p14="http://schemas.microsoft.com/office/powerpoint/2010/main" val="15876253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GT"/>
          </a:p>
        </p:txBody>
      </p:sp>
      <p:sp>
        <p:nvSpPr>
          <p:cNvPr id="3" name="2 Marcador de contenido"/>
          <p:cNvSpPr>
            <a:spLocks noGrp="1"/>
          </p:cNvSpPr>
          <p:nvPr>
            <p:ph idx="1"/>
          </p:nvPr>
        </p:nvSpPr>
        <p:spPr>
          <a:xfrm>
            <a:off x="609599" y="1930400"/>
            <a:ext cx="6347714" cy="3880773"/>
          </a:xfrm>
        </p:spPr>
        <p:txBody>
          <a:bodyPr/>
          <a:lstStyle/>
          <a:p>
            <a:pPr algn="just"/>
            <a:r>
              <a:rPr lang="es-GT" dirty="0"/>
              <a:t>El pensamiento sistémico es integrador, tanto en el análisis de las situaciones como en las conclusiones que nacen a partir de allí, proponiendo soluciones en las cuales se tienen que considerar diversos elementos y relaciones que conforman la estructura de lo que se define como "sistema", así como también de todo aquello que conforma el entorno del sistema definido. </a:t>
            </a:r>
          </a:p>
        </p:txBody>
      </p:sp>
      <p:pic>
        <p:nvPicPr>
          <p:cNvPr id="5" name="Imagen 4">
            <a:extLst>
              <a:ext uri="{FF2B5EF4-FFF2-40B4-BE49-F238E27FC236}">
                <a16:creationId xmlns:a16="http://schemas.microsoft.com/office/drawing/2014/main" id="{A0B97524-11A8-4F2B-B4CA-10AEFBC61C9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4193127"/>
            <a:ext cx="4717337" cy="2653502"/>
          </a:xfrm>
          <a:prstGeom prst="rect">
            <a:avLst/>
          </a:prstGeom>
        </p:spPr>
      </p:pic>
    </p:spTree>
    <p:extLst>
      <p:ext uri="{BB962C8B-B14F-4D97-AF65-F5344CB8AC3E}">
        <p14:creationId xmlns:p14="http://schemas.microsoft.com/office/powerpoint/2010/main" val="1655885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GT"/>
          </a:p>
        </p:txBody>
      </p:sp>
      <p:sp>
        <p:nvSpPr>
          <p:cNvPr id="3" name="2 Marcador de contenido"/>
          <p:cNvSpPr>
            <a:spLocks noGrp="1"/>
          </p:cNvSpPr>
          <p:nvPr>
            <p:ph idx="1"/>
          </p:nvPr>
        </p:nvSpPr>
        <p:spPr/>
        <p:txBody>
          <a:bodyPr/>
          <a:lstStyle/>
          <a:p>
            <a:pPr algn="just"/>
            <a:r>
              <a:rPr lang="es-GT" dirty="0"/>
              <a:t>Las filosofías que enriquecen el pensamiento sistémico contemporáneo son:</a:t>
            </a:r>
          </a:p>
          <a:p>
            <a:pPr marL="109728" indent="0" algn="just">
              <a:buNone/>
            </a:pPr>
            <a:r>
              <a:rPr lang="es-GT" dirty="0"/>
              <a:t>1. la fenomenología de Husserl.</a:t>
            </a:r>
          </a:p>
          <a:p>
            <a:pPr marL="109728" indent="0" algn="just">
              <a:buNone/>
            </a:pPr>
            <a:r>
              <a:rPr lang="es-GT" dirty="0"/>
              <a:t>2. </a:t>
            </a:r>
            <a:r>
              <a:rPr lang="es-GT" dirty="0" err="1"/>
              <a:t>hermeneútica</a:t>
            </a:r>
            <a:r>
              <a:rPr lang="es-GT" dirty="0"/>
              <a:t> de </a:t>
            </a:r>
            <a:r>
              <a:rPr lang="es-GT" dirty="0" err="1"/>
              <a:t>Gadamer</a:t>
            </a:r>
            <a:r>
              <a:rPr lang="es-GT" dirty="0"/>
              <a:t>. </a:t>
            </a:r>
          </a:p>
          <a:p>
            <a:pPr marL="109728" indent="0" algn="just">
              <a:buNone/>
            </a:pPr>
            <a:r>
              <a:rPr lang="es-GT" dirty="0"/>
              <a:t>3. existencialismo de </a:t>
            </a:r>
            <a:r>
              <a:rPr lang="es-GT" dirty="0" err="1"/>
              <a:t>Heidegeer</a:t>
            </a:r>
            <a:r>
              <a:rPr lang="es-GT" dirty="0"/>
              <a:t> </a:t>
            </a:r>
          </a:p>
          <a:p>
            <a:pPr marL="109728" indent="0" algn="just">
              <a:buNone/>
            </a:pPr>
            <a:r>
              <a:rPr lang="es-GT" dirty="0"/>
              <a:t>4. historicismo de </a:t>
            </a:r>
            <a:r>
              <a:rPr lang="es-GT" dirty="0" err="1"/>
              <a:t>Dilthey</a:t>
            </a:r>
            <a:r>
              <a:rPr lang="es-GT" dirty="0"/>
              <a:t>.</a:t>
            </a:r>
          </a:p>
          <a:p>
            <a:pPr marL="109728" indent="0" algn="just">
              <a:buNone/>
            </a:pPr>
            <a:endParaRPr lang="es-GT" dirty="0"/>
          </a:p>
          <a:p>
            <a:pPr marL="109728" indent="0" algn="just">
              <a:buNone/>
            </a:pPr>
            <a:r>
              <a:rPr lang="es-GT" dirty="0"/>
              <a:t>Tarea.  investigar, realizar  resumen ½ pagina de cada uno de los puntos.</a:t>
            </a:r>
          </a:p>
        </p:txBody>
      </p:sp>
    </p:spTree>
    <p:extLst>
      <p:ext uri="{BB962C8B-B14F-4D97-AF65-F5344CB8AC3E}">
        <p14:creationId xmlns:p14="http://schemas.microsoft.com/office/powerpoint/2010/main" val="7154435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GT"/>
          </a:p>
        </p:txBody>
      </p:sp>
      <p:sp>
        <p:nvSpPr>
          <p:cNvPr id="3" name="2 Marcador de contenido"/>
          <p:cNvSpPr>
            <a:spLocks noGrp="1"/>
          </p:cNvSpPr>
          <p:nvPr>
            <p:ph idx="1"/>
          </p:nvPr>
        </p:nvSpPr>
        <p:spPr/>
        <p:txBody>
          <a:bodyPr/>
          <a:lstStyle/>
          <a:p>
            <a:pPr algn="just"/>
            <a:r>
              <a:rPr lang="es-GT" dirty="0"/>
              <a:t>La consecuencia de esta perspectiva sistémica, fenomenológica y hermenéutica es que hace posible ver a la organización ya no como que tiene un fin predeterminado (por alguien), como lo plantea el esquema tradicional, sino que dicha organización puede tener diversos fines en función de la forma cómo los involucrados en su destino la vean, surgiendo así la variedad interpretativa. </a:t>
            </a:r>
          </a:p>
        </p:txBody>
      </p:sp>
    </p:spTree>
    <p:extLst>
      <p:ext uri="{BB962C8B-B14F-4D97-AF65-F5344CB8AC3E}">
        <p14:creationId xmlns:p14="http://schemas.microsoft.com/office/powerpoint/2010/main" val="3362299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GT" dirty="0"/>
              <a:t>Aplicación.</a:t>
            </a:r>
          </a:p>
        </p:txBody>
      </p:sp>
      <p:sp>
        <p:nvSpPr>
          <p:cNvPr id="3" name="2 Marcador de contenido"/>
          <p:cNvSpPr>
            <a:spLocks noGrp="1"/>
          </p:cNvSpPr>
          <p:nvPr>
            <p:ph idx="1"/>
          </p:nvPr>
        </p:nvSpPr>
        <p:spPr>
          <a:xfrm>
            <a:off x="251520" y="1350233"/>
            <a:ext cx="6347714" cy="3880773"/>
          </a:xfrm>
        </p:spPr>
        <p:txBody>
          <a:bodyPr/>
          <a:lstStyle/>
          <a:p>
            <a:pPr algn="just"/>
            <a:r>
              <a:rPr lang="es-GT" dirty="0"/>
              <a:t>Enfoque Sistémico contemporáneo aplicado al estudio de las organizaciones plantea una visión inter, </a:t>
            </a:r>
            <a:r>
              <a:rPr lang="es-GT" dirty="0" err="1"/>
              <a:t>multi</a:t>
            </a:r>
            <a:r>
              <a:rPr lang="es-GT" dirty="0"/>
              <a:t> y </a:t>
            </a:r>
            <a:r>
              <a:rPr lang="es-GT" dirty="0" err="1"/>
              <a:t>transdisciplinaria</a:t>
            </a:r>
            <a:r>
              <a:rPr lang="es-GT" dirty="0"/>
              <a:t> que le ayudará a analizar a su empresa de manera integral permitiéndole identificar y comprender con mayor claridad y profundidad los problemas organizacionales, sus múltiples causas y consecuencias. </a:t>
            </a:r>
          </a:p>
        </p:txBody>
      </p:sp>
      <p:pic>
        <p:nvPicPr>
          <p:cNvPr id="5" name="Imagen 4">
            <a:extLst>
              <a:ext uri="{FF2B5EF4-FFF2-40B4-BE49-F238E27FC236}">
                <a16:creationId xmlns:a16="http://schemas.microsoft.com/office/drawing/2014/main" id="{BC7806CC-3BAC-47F5-A4DC-2A5374F4FF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3928" y="3031316"/>
            <a:ext cx="5256451" cy="3862031"/>
          </a:xfrm>
          <a:prstGeom prst="rect">
            <a:avLst/>
          </a:prstGeom>
        </p:spPr>
      </p:pic>
    </p:spTree>
    <p:extLst>
      <p:ext uri="{BB962C8B-B14F-4D97-AF65-F5344CB8AC3E}">
        <p14:creationId xmlns:p14="http://schemas.microsoft.com/office/powerpoint/2010/main" val="1451486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1484784"/>
            <a:ext cx="8229600" cy="4325112"/>
          </a:xfrm>
        </p:spPr>
        <p:txBody>
          <a:bodyPr>
            <a:normAutofit/>
          </a:bodyPr>
          <a:lstStyle/>
          <a:p>
            <a:r>
              <a:rPr lang="es-GT" dirty="0"/>
              <a:t>Viendo a la organización como un ente integrado, conformada por partes que se interrelacionan entre sí a través de una estructura que se desenvuelve en un entorno determinado, se estará en capacidad de poder detectar con la amplitud requerida tanto la problemática, como los procesos de cambio que de manera integral, es decir a nivel humano, de recursos y procesos, serían necesarios de implantar en la misma, para tener un crecimiento y desarrollo sostenibles y en términos viables en el tiempo.</a:t>
            </a:r>
          </a:p>
        </p:txBody>
      </p:sp>
      <p:sp>
        <p:nvSpPr>
          <p:cNvPr id="4" name="3 CuadroTexto"/>
          <p:cNvSpPr txBox="1"/>
          <p:nvPr/>
        </p:nvSpPr>
        <p:spPr>
          <a:xfrm>
            <a:off x="827584" y="5517232"/>
            <a:ext cx="6984776" cy="830997"/>
          </a:xfrm>
          <a:prstGeom prst="rect">
            <a:avLst/>
          </a:prstGeom>
          <a:noFill/>
        </p:spPr>
        <p:txBody>
          <a:bodyPr wrap="square" rtlCol="0">
            <a:spAutoFit/>
          </a:bodyPr>
          <a:lstStyle/>
          <a:p>
            <a:r>
              <a:rPr lang="es-GT" sz="2400" dirty="0"/>
              <a:t>Investigar que es un organigrama y que tipos de organigrama se utilizan.</a:t>
            </a:r>
          </a:p>
        </p:txBody>
      </p:sp>
    </p:spTree>
    <p:extLst>
      <p:ext uri="{BB962C8B-B14F-4D97-AF65-F5344CB8AC3E}">
        <p14:creationId xmlns:p14="http://schemas.microsoft.com/office/powerpoint/2010/main" val="3960020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11560" y="1268760"/>
            <a:ext cx="8064896" cy="5400600"/>
          </a:xfrm>
        </p:spPr>
        <p:txBody>
          <a:bodyPr>
            <a:normAutofit/>
          </a:bodyPr>
          <a:lstStyle/>
          <a:p>
            <a:pPr algn="just"/>
            <a:r>
              <a:rPr lang="es-GT" dirty="0"/>
              <a:t>El ser humano es un sistema.</a:t>
            </a:r>
          </a:p>
          <a:p>
            <a:pPr algn="just"/>
            <a:r>
              <a:rPr lang="es-GT" dirty="0"/>
              <a:t>Las empresas y las organizaciones son sistemas.</a:t>
            </a:r>
          </a:p>
          <a:p>
            <a:pPr algn="just"/>
            <a:r>
              <a:rPr lang="es-GT" dirty="0"/>
              <a:t>Vivimos como un sistema, en un mundo que es un sistema, lleno de sistemas. </a:t>
            </a:r>
          </a:p>
          <a:p>
            <a:pPr algn="just"/>
            <a:r>
              <a:rPr lang="es-GT" dirty="0"/>
              <a:t>Para actuar con precisión y eficiencia en el mundo, necesitamos técnicas, métodos y herramientas adecuadas, para la comprensión y el manejo de sistemas. De esto trata el pensamiento sistémico.</a:t>
            </a:r>
          </a:p>
          <a:p>
            <a:pPr algn="just"/>
            <a:r>
              <a:rPr lang="es-GT" dirty="0"/>
              <a:t>A medida que nuestro mundo se interconecta, es cada vez más posible que acontecimientos lejanos nos afecten. </a:t>
            </a:r>
          </a:p>
          <a:p>
            <a:pPr algn="just"/>
            <a:r>
              <a:rPr lang="es-GT" dirty="0"/>
              <a:t>Los expertos, los políticos, empresarios, que tendrían que resolver los problemas ambientales, sociales, económicos... Lo que suelen hacer en muchos casos con la mejor de las intenciones, es empeorar aun más las situaciones por el desconocimiento del funcionamiento de los sistemas.</a:t>
            </a:r>
          </a:p>
          <a:p>
            <a:endParaRPr lang="es-GT" dirty="0"/>
          </a:p>
        </p:txBody>
      </p:sp>
    </p:spTree>
    <p:extLst>
      <p:ext uri="{BB962C8B-B14F-4D97-AF65-F5344CB8AC3E}">
        <p14:creationId xmlns:p14="http://schemas.microsoft.com/office/powerpoint/2010/main" val="133269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95536" y="1844824"/>
            <a:ext cx="8229600" cy="4325112"/>
          </a:xfrm>
        </p:spPr>
        <p:txBody>
          <a:bodyPr>
            <a:normAutofit/>
          </a:bodyPr>
          <a:lstStyle/>
          <a:p>
            <a:pPr algn="just"/>
            <a:r>
              <a:rPr lang="es-GT" dirty="0"/>
              <a:t>El pensamiento sistémico aparece formalmente hace unos 45 años atrás, a partir de los cuestionamientos que desde el campo de la Biología hizo </a:t>
            </a:r>
            <a:r>
              <a:rPr lang="es-GT" dirty="0" err="1"/>
              <a:t>Ludwing</a:t>
            </a:r>
            <a:r>
              <a:rPr lang="es-GT" dirty="0"/>
              <a:t> Von Bertalanffy, quien cuestionó la aplicación del método científico en los problemas de la Biología, debido a que éste se basaba en una visión mecanicista y causal, que lo hacía débil como esquema para la explicación de los grandes problemas que se dan en los sistemas vivos.</a:t>
            </a:r>
          </a:p>
        </p:txBody>
      </p:sp>
      <p:sp>
        <p:nvSpPr>
          <p:cNvPr id="4" name="3 CuadroTexto"/>
          <p:cNvSpPr txBox="1"/>
          <p:nvPr/>
        </p:nvSpPr>
        <p:spPr>
          <a:xfrm>
            <a:off x="1187624" y="1198493"/>
            <a:ext cx="3456384" cy="646331"/>
          </a:xfrm>
          <a:prstGeom prst="rect">
            <a:avLst/>
          </a:prstGeom>
          <a:noFill/>
        </p:spPr>
        <p:txBody>
          <a:bodyPr wrap="square" rtlCol="0">
            <a:spAutoFit/>
          </a:bodyPr>
          <a:lstStyle/>
          <a:p>
            <a:r>
              <a:rPr lang="es-GT" sz="3600" b="1" dirty="0"/>
              <a:t>Origen</a:t>
            </a:r>
            <a:r>
              <a:rPr lang="es-GT" dirty="0"/>
              <a:t> </a:t>
            </a:r>
          </a:p>
        </p:txBody>
      </p:sp>
    </p:spTree>
    <p:extLst>
      <p:ext uri="{BB962C8B-B14F-4D97-AF65-F5344CB8AC3E}">
        <p14:creationId xmlns:p14="http://schemas.microsoft.com/office/powerpoint/2010/main" val="32745329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691680" y="656723"/>
            <a:ext cx="5184576" cy="518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23199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464390" y="1196752"/>
            <a:ext cx="8229600" cy="1066800"/>
          </a:xfrm>
        </p:spPr>
        <p:txBody>
          <a:bodyPr/>
          <a:lstStyle/>
          <a:p>
            <a:r>
              <a:rPr lang="es-GT" dirty="0"/>
              <a:t>¿Para qué sirve y en qué se aplica?</a:t>
            </a:r>
          </a:p>
        </p:txBody>
      </p:sp>
      <p:sp>
        <p:nvSpPr>
          <p:cNvPr id="3" name="2 Marcador de contenido"/>
          <p:cNvSpPr>
            <a:spLocks noGrp="1"/>
          </p:cNvSpPr>
          <p:nvPr>
            <p:ph idx="1"/>
          </p:nvPr>
        </p:nvSpPr>
        <p:spPr>
          <a:xfrm>
            <a:off x="488295" y="2132856"/>
            <a:ext cx="8229600" cy="4325112"/>
          </a:xfrm>
        </p:spPr>
        <p:txBody>
          <a:bodyPr/>
          <a:lstStyle/>
          <a:p>
            <a:pPr algn="just"/>
            <a:r>
              <a:rPr lang="es-GT" dirty="0"/>
              <a:t>Se aplica para alcanzar mas precisión en nuestras actuaciones con la persona, la familia, los hijos, la pareja, las finanzas, la economía, las organizaciones, las empresas con sus cadenas de producción o gestión e incluso a las naciones, al medio ambiente, los ecosistemas.</a:t>
            </a:r>
          </a:p>
          <a:p>
            <a:pPr algn="just"/>
            <a:endParaRPr lang="es-GT" dirty="0"/>
          </a:p>
          <a:p>
            <a:pPr algn="just"/>
            <a:r>
              <a:rPr lang="es-GT" dirty="0"/>
              <a:t>Sirve para ejercer una influencia más certera y precisa en nuestra vida</a:t>
            </a:r>
          </a:p>
        </p:txBody>
      </p:sp>
    </p:spTree>
    <p:extLst>
      <p:ext uri="{BB962C8B-B14F-4D97-AF65-F5344CB8AC3E}">
        <p14:creationId xmlns:p14="http://schemas.microsoft.com/office/powerpoint/2010/main" val="29155411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23528" y="1340768"/>
            <a:ext cx="8568952" cy="5976664"/>
          </a:xfrm>
        </p:spPr>
        <p:txBody>
          <a:bodyPr>
            <a:normAutofit/>
          </a:bodyPr>
          <a:lstStyle/>
          <a:p>
            <a:pPr algn="just"/>
            <a:r>
              <a:rPr lang="es-GT" dirty="0"/>
              <a:t>Permite descubrir patrones que se repiten en los acontecimientos.</a:t>
            </a:r>
          </a:p>
          <a:p>
            <a:pPr algn="just"/>
            <a:r>
              <a:rPr lang="es-GT" dirty="0"/>
              <a:t>Es útil para realizar previsiones y prepararse hacia el futuro.</a:t>
            </a:r>
          </a:p>
          <a:p>
            <a:pPr algn="just"/>
            <a:r>
              <a:rPr lang="es-GT" dirty="0"/>
              <a:t>Proporciona métodos eficaces y mejores estrategias para afrontar los problemas.</a:t>
            </a:r>
          </a:p>
          <a:p>
            <a:pPr algn="just"/>
            <a:r>
              <a:rPr lang="es-GT" dirty="0"/>
              <a:t>No sirve únicamente para resolver los problemas, también para modificar el pensamiento que los origina.</a:t>
            </a:r>
          </a:p>
          <a:p>
            <a:pPr algn="just"/>
            <a:r>
              <a:rPr lang="es-GT" dirty="0"/>
              <a:t>Sirve para evitar o reducir considerablemente el esfuerzo bruto o permanente ante los problemas. No se trata de empujar para mover las cosas sino más bien averiguar y eliminar lo que impide que se muevan. </a:t>
            </a:r>
          </a:p>
        </p:txBody>
      </p:sp>
    </p:spTree>
    <p:extLst>
      <p:ext uri="{BB962C8B-B14F-4D97-AF65-F5344CB8AC3E}">
        <p14:creationId xmlns:p14="http://schemas.microsoft.com/office/powerpoint/2010/main" val="3815341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GT"/>
          </a:p>
        </p:txBody>
      </p:sp>
      <p:sp>
        <p:nvSpPr>
          <p:cNvPr id="3" name="2 Marcador de contenido"/>
          <p:cNvSpPr>
            <a:spLocks noGrp="1"/>
          </p:cNvSpPr>
          <p:nvPr>
            <p:ph idx="1"/>
          </p:nvPr>
        </p:nvSpPr>
        <p:spPr/>
        <p:txBody>
          <a:bodyPr>
            <a:normAutofit/>
          </a:bodyPr>
          <a:lstStyle/>
          <a:p>
            <a:pPr algn="just"/>
            <a:r>
              <a:rPr lang="es-GT" sz="2800" dirty="0"/>
              <a:t>El pensamiento sistémico es una buena base para ampliar el razonamiento claro, la buena comunicación y nuestro punto de vista. </a:t>
            </a:r>
          </a:p>
        </p:txBody>
      </p:sp>
    </p:spTree>
    <p:extLst>
      <p:ext uri="{BB962C8B-B14F-4D97-AF65-F5344CB8AC3E}">
        <p14:creationId xmlns:p14="http://schemas.microsoft.com/office/powerpoint/2010/main" val="3384151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GT" dirty="0"/>
              <a:t>Cómo realizarlo.</a:t>
            </a:r>
          </a:p>
        </p:txBody>
      </p:sp>
      <p:sp>
        <p:nvSpPr>
          <p:cNvPr id="3" name="2 Marcador de contenido"/>
          <p:cNvSpPr>
            <a:spLocks noGrp="1"/>
          </p:cNvSpPr>
          <p:nvPr>
            <p:ph idx="1"/>
          </p:nvPr>
        </p:nvSpPr>
        <p:spPr/>
        <p:txBody>
          <a:bodyPr/>
          <a:lstStyle/>
          <a:p>
            <a:pPr algn="just"/>
            <a:r>
              <a:rPr lang="es-GT" dirty="0">
                <a:solidFill>
                  <a:srgbClr val="FF0000"/>
                </a:solidFill>
              </a:rPr>
              <a:t>Análisis</a:t>
            </a:r>
            <a:r>
              <a:rPr lang="es-GT" dirty="0"/>
              <a:t>,  se basa en separar las partes de un todo para ver cómo funciona. Es un método útil para cierto tipo de problemas o para saber qué elementos o subsistemas componen un sistema mayor.</a:t>
            </a:r>
          </a:p>
          <a:p>
            <a:pPr algn="just"/>
            <a:r>
              <a:rPr lang="es-GT" dirty="0"/>
              <a:t>Sin embargo no es posible comprender las propiedades del sistema entero con su descomposición. </a:t>
            </a:r>
          </a:p>
        </p:txBody>
      </p:sp>
    </p:spTree>
    <p:extLst>
      <p:ext uri="{BB962C8B-B14F-4D97-AF65-F5344CB8AC3E}">
        <p14:creationId xmlns:p14="http://schemas.microsoft.com/office/powerpoint/2010/main" val="30477795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GT"/>
          </a:p>
        </p:txBody>
      </p:sp>
      <p:sp>
        <p:nvSpPr>
          <p:cNvPr id="3" name="2 Marcador de contenido"/>
          <p:cNvSpPr>
            <a:spLocks noGrp="1"/>
          </p:cNvSpPr>
          <p:nvPr>
            <p:ph idx="1"/>
          </p:nvPr>
        </p:nvSpPr>
        <p:spPr/>
        <p:txBody>
          <a:bodyPr>
            <a:normAutofit/>
          </a:bodyPr>
          <a:lstStyle/>
          <a:p>
            <a:r>
              <a:rPr lang="es-GT" sz="2800" dirty="0"/>
              <a:t>No se  puede predecir la actuación de un sistema  al tomar como referencia sus partes.</a:t>
            </a:r>
          </a:p>
        </p:txBody>
      </p:sp>
    </p:spTree>
    <p:extLst>
      <p:ext uri="{BB962C8B-B14F-4D97-AF65-F5344CB8AC3E}">
        <p14:creationId xmlns:p14="http://schemas.microsoft.com/office/powerpoint/2010/main" val="29403110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endParaRPr lang="es-GT"/>
          </a:p>
        </p:txBody>
      </p:sp>
      <p:sp>
        <p:nvSpPr>
          <p:cNvPr id="3" name="2 Marcador de contenido"/>
          <p:cNvSpPr>
            <a:spLocks noGrp="1"/>
          </p:cNvSpPr>
          <p:nvPr>
            <p:ph idx="1"/>
          </p:nvPr>
        </p:nvSpPr>
        <p:spPr/>
        <p:txBody>
          <a:bodyPr/>
          <a:lstStyle/>
          <a:p>
            <a:pPr algn="just"/>
            <a:r>
              <a:rPr lang="es-GT" dirty="0"/>
              <a:t>Lo complementario al análisis es la </a:t>
            </a:r>
            <a:r>
              <a:rPr lang="es-GT" dirty="0">
                <a:solidFill>
                  <a:srgbClr val="FF0000"/>
                </a:solidFill>
              </a:rPr>
              <a:t>Síntesis:</a:t>
            </a:r>
            <a:r>
              <a:rPr lang="es-GT" dirty="0"/>
              <a:t> La reunión de un todo por la unión de sus partes. Sirve para comprender cómo funciona un sistema y cuales son sus propiedades emergentes al verlo en acción como un todo.</a:t>
            </a:r>
          </a:p>
        </p:txBody>
      </p:sp>
    </p:spTree>
    <p:extLst>
      <p:ext uri="{BB962C8B-B14F-4D97-AF65-F5344CB8AC3E}">
        <p14:creationId xmlns:p14="http://schemas.microsoft.com/office/powerpoint/2010/main" val="2490787826"/>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299</TotalTime>
  <Words>1048</Words>
  <Application>Microsoft Office PowerPoint</Application>
  <PresentationFormat>Presentación en pantalla (4:3)</PresentationFormat>
  <Paragraphs>49</Paragraphs>
  <Slides>19</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19</vt:i4>
      </vt:variant>
    </vt:vector>
  </HeadingPairs>
  <TitlesOfParts>
    <vt:vector size="23" baseType="lpstr">
      <vt:lpstr>Arial</vt:lpstr>
      <vt:lpstr>Trebuchet MS</vt:lpstr>
      <vt:lpstr>Wingdings 3</vt:lpstr>
      <vt:lpstr>Faceta</vt:lpstr>
      <vt:lpstr>Pensamiento sistémico.</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Aplicación.</vt:lpstr>
      <vt:lpstr>Presentación de PowerPoint</vt:lpstr>
      <vt:lpstr>Presentación de PowerPoint</vt:lpstr>
      <vt:lpstr>Presentación de PowerPoint</vt:lpstr>
      <vt:lpstr>Presentación de PowerPoint</vt:lpstr>
      <vt:lpstr>¿Para qué sirve y en qué se aplica?</vt:lpstr>
      <vt:lpstr>Presentación de PowerPoint</vt:lpstr>
      <vt:lpstr>Presentación de PowerPoint</vt:lpstr>
      <vt:lpstr>Cómo realizarlo.</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Pensamiento sistémico.</dc:title>
  <dc:creator>David García</dc:creator>
  <cp:lastModifiedBy>Edwin David Garcia</cp:lastModifiedBy>
  <cp:revision>14</cp:revision>
  <dcterms:created xsi:type="dcterms:W3CDTF">2012-05-27T16:22:41Z</dcterms:created>
  <dcterms:modified xsi:type="dcterms:W3CDTF">2022-05-11T15:12:06Z</dcterms:modified>
</cp:coreProperties>
</file>