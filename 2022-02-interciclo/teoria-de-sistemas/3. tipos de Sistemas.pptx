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6"/>
  </p:notesMasterIdLst>
  <p:sldIdLst>
    <p:sldId id="256" r:id="rId2"/>
    <p:sldId id="257" r:id="rId3"/>
    <p:sldId id="266" r:id="rId4"/>
    <p:sldId id="267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4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GT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45FB15-47DE-4EF9-81D8-4695E9EF65D6}" type="datetimeFigureOut">
              <a:rPr lang="es-GT" smtClean="0"/>
              <a:t>10/06/2019</a:t>
            </a:fld>
            <a:endParaRPr lang="es-GT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GT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GT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D5ABB4-2A52-4AAA-89BD-38E1BB6328DF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51119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s-ES_tradnl" b="1" dirty="0" smtClean="0">
                <a:solidFill>
                  <a:schemeClr val="hlink"/>
                </a:solidFill>
              </a:rPr>
              <a:t>INSUMOS INCONTROLABLES </a:t>
            </a:r>
            <a:r>
              <a:rPr lang="es-ES_tradnl" b="1" dirty="0" smtClean="0"/>
              <a:t>: factores del medio ambiente que no están bajo el control del administrador o decisor.</a:t>
            </a:r>
          </a:p>
          <a:p>
            <a:r>
              <a:rPr lang="es-ES_tradnl" b="1" dirty="0" smtClean="0">
                <a:solidFill>
                  <a:schemeClr val="hlink"/>
                </a:solidFill>
              </a:rPr>
              <a:t>INSUMOS CONTROLABLES </a:t>
            </a:r>
            <a:r>
              <a:rPr lang="es-ES_tradnl" b="1" dirty="0" smtClean="0"/>
              <a:t>: factores que controla o determina quien toma las decisiones (variables de decisión).</a:t>
            </a:r>
          </a:p>
          <a:p>
            <a:endParaRPr lang="es-ES_tradnl" dirty="0" smtClean="0"/>
          </a:p>
        </p:txBody>
      </p:sp>
      <p:sp>
        <p:nvSpPr>
          <p:cNvPr id="1229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191689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8DF12-B967-4894-8302-0384D2A7778F}" type="datetimeFigureOut">
              <a:rPr lang="es-GT" smtClean="0"/>
              <a:t>10/06/2019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9394736A-3057-47FD-85CF-6D913A14A80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217983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8DF12-B967-4894-8302-0384D2A7778F}" type="datetimeFigureOut">
              <a:rPr lang="es-GT" smtClean="0"/>
              <a:t>10/06/2019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736A-3057-47FD-85CF-6D913A14A80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415574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8DF12-B967-4894-8302-0384D2A7778F}" type="datetimeFigureOut">
              <a:rPr lang="es-GT" smtClean="0"/>
              <a:t>10/06/2019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9394736A-3057-47FD-85CF-6D913A14A80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845443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8DF12-B967-4894-8302-0384D2A7778F}" type="datetimeFigureOut">
              <a:rPr lang="es-GT" smtClean="0"/>
              <a:t>10/06/2019</a:t>
            </a:fld>
            <a:endParaRPr lang="es-G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9394736A-3057-47FD-85CF-6D913A14A80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417863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8DF12-B967-4894-8302-0384D2A7778F}" type="datetimeFigureOut">
              <a:rPr lang="es-GT" smtClean="0"/>
              <a:t>10/06/2019</a:t>
            </a:fld>
            <a:endParaRPr lang="es-G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9394736A-3057-47FD-85CF-6D913A14A80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109284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8DF12-B967-4894-8302-0384D2A7778F}" type="datetimeFigureOut">
              <a:rPr lang="es-GT" smtClean="0"/>
              <a:t>10/06/2019</a:t>
            </a:fld>
            <a:endParaRPr lang="es-G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736A-3057-47FD-85CF-6D913A14A80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62261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8DF12-B967-4894-8302-0384D2A7778F}" type="datetimeFigureOut">
              <a:rPr lang="es-GT" smtClean="0"/>
              <a:t>10/06/2019</a:t>
            </a:fld>
            <a:endParaRPr lang="es-G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736A-3057-47FD-85CF-6D913A14A80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73331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8DF12-B967-4894-8302-0384D2A7778F}" type="datetimeFigureOut">
              <a:rPr lang="es-GT" smtClean="0"/>
              <a:t>10/06/2019</a:t>
            </a:fld>
            <a:endParaRPr lang="es-G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736A-3057-47FD-85CF-6D913A14A80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466109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8DF12-B967-4894-8302-0384D2A7778F}" type="datetimeFigureOut">
              <a:rPr lang="es-GT" smtClean="0"/>
              <a:t>10/06/2019</a:t>
            </a:fld>
            <a:endParaRPr lang="es-G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9394736A-3057-47FD-85CF-6D913A14A80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555086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8DF12-B967-4894-8302-0384D2A7778F}" type="datetimeFigureOut">
              <a:rPr lang="es-GT" smtClean="0"/>
              <a:t>10/06/2019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9394736A-3057-47FD-85CF-6D913A14A80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109934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8DF12-B967-4894-8302-0384D2A7778F}" type="datetimeFigureOut">
              <a:rPr lang="es-GT" smtClean="0"/>
              <a:t>10/06/2019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9394736A-3057-47FD-85CF-6D913A14A808}" type="slidenum">
              <a:rPr lang="es-GT" smtClean="0"/>
              <a:t>‹Nº›</a:t>
            </a:fld>
            <a:endParaRPr lang="es-GT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12162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8DF12-B967-4894-8302-0384D2A7778F}" type="datetimeFigureOut">
              <a:rPr lang="es-GT" smtClean="0"/>
              <a:t>10/06/2019</a:t>
            </a:fld>
            <a:endParaRPr lang="es-G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9394736A-3057-47FD-85CF-6D913A14A80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176368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8DF12-B967-4894-8302-0384D2A7778F}" type="datetimeFigureOut">
              <a:rPr lang="es-GT" smtClean="0"/>
              <a:t>10/06/2019</a:t>
            </a:fld>
            <a:endParaRPr lang="es-G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9394736A-3057-47FD-85CF-6D913A14A808}" type="slidenum">
              <a:rPr lang="es-GT" smtClean="0"/>
              <a:t>‹Nº›</a:t>
            </a:fld>
            <a:endParaRPr lang="es-GT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2574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8DF12-B967-4894-8302-0384D2A7778F}" type="datetimeFigureOut">
              <a:rPr lang="es-GT" smtClean="0"/>
              <a:t>10/06/2019</a:t>
            </a:fld>
            <a:endParaRPr lang="es-G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9394736A-3057-47FD-85CF-6D913A14A80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2069356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8DF12-B967-4894-8302-0384D2A7778F}" type="datetimeFigureOut">
              <a:rPr lang="es-GT" smtClean="0"/>
              <a:t>10/06/2019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736A-3057-47FD-85CF-6D913A14A80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7492681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8DF12-B967-4894-8302-0384D2A7778F}" type="datetimeFigureOut">
              <a:rPr lang="es-GT" smtClean="0"/>
              <a:t>10/06/2019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736A-3057-47FD-85CF-6D913A14A80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26278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38DF12-B967-4894-8302-0384D2A7778F}" type="datetimeFigureOut">
              <a:rPr lang="es-GT" smtClean="0"/>
              <a:t>10/06/2019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394736A-3057-47FD-85CF-6D913A14A808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593333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es.wikipedia.org/wiki/Archivo:Esquema_sistema_de_informacion.png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457200" y="188641"/>
            <a:ext cx="8291264" cy="864096"/>
          </a:xfrm>
        </p:spPr>
        <p:txBody>
          <a:bodyPr>
            <a:normAutofit/>
          </a:bodyPr>
          <a:lstStyle/>
          <a:p>
            <a:pPr algn="ctr"/>
            <a:r>
              <a:rPr lang="es-GT" sz="4000" dirty="0" smtClean="0"/>
              <a:t>Sistemas de información</a:t>
            </a:r>
            <a:endParaRPr lang="es-GT" sz="400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691680" y="4869160"/>
            <a:ext cx="5266928" cy="1761310"/>
          </a:xfrm>
        </p:spPr>
        <p:txBody>
          <a:bodyPr>
            <a:normAutofit fontScale="77500" lnSpcReduction="20000"/>
          </a:bodyPr>
          <a:lstStyle/>
          <a:p>
            <a:r>
              <a:rPr lang="es-GT" dirty="0" smtClean="0"/>
              <a:t>Definición de sistema.</a:t>
            </a:r>
          </a:p>
          <a:p>
            <a:r>
              <a:rPr lang="es-GT" dirty="0" smtClean="0"/>
              <a:t>Tipos de sistemas.</a:t>
            </a:r>
          </a:p>
          <a:p>
            <a:r>
              <a:rPr lang="es-GT" dirty="0" smtClean="0"/>
              <a:t>Definición de sistema de información.</a:t>
            </a:r>
          </a:p>
          <a:p>
            <a:r>
              <a:rPr lang="es-GT" dirty="0" smtClean="0"/>
              <a:t>Elementos de un SI.</a:t>
            </a:r>
          </a:p>
          <a:p>
            <a:r>
              <a:rPr lang="es-GT" dirty="0" smtClean="0"/>
              <a:t>Objetivos de un SIE.</a:t>
            </a:r>
          </a:p>
          <a:p>
            <a:r>
              <a:rPr lang="es-GT" dirty="0" smtClean="0"/>
              <a:t>Ejemplo de SIEC.</a:t>
            </a:r>
          </a:p>
          <a:p>
            <a:endParaRPr lang="es-GT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63"/>
          <a:stretch/>
        </p:blipFill>
        <p:spPr>
          <a:xfrm>
            <a:off x="1115616" y="1045988"/>
            <a:ext cx="7248292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574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552" y="692696"/>
            <a:ext cx="8229600" cy="1066800"/>
          </a:xfrm>
        </p:spPr>
        <p:txBody>
          <a:bodyPr>
            <a:normAutofit/>
          </a:bodyPr>
          <a:lstStyle/>
          <a:p>
            <a:pPr algn="ctr"/>
            <a:r>
              <a:rPr lang="es-GT" dirty="0" smtClean="0"/>
              <a:t>Definición de sistema.</a:t>
            </a:r>
            <a:endParaRPr lang="es-GT" dirty="0"/>
          </a:p>
        </p:txBody>
      </p:sp>
      <p:sp>
        <p:nvSpPr>
          <p:cNvPr id="4" name="3 Marcador de contenido"/>
          <p:cNvSpPr>
            <a:spLocks noGrp="1"/>
          </p:cNvSpPr>
          <p:nvPr>
            <p:ph idx="1"/>
          </p:nvPr>
        </p:nvSpPr>
        <p:spPr>
          <a:xfrm>
            <a:off x="539552" y="1412776"/>
            <a:ext cx="8229600" cy="4325112"/>
          </a:xfrm>
        </p:spPr>
        <p:txBody>
          <a:bodyPr>
            <a:normAutofit/>
          </a:bodyPr>
          <a:lstStyle/>
          <a:p>
            <a:r>
              <a:rPr lang="es-ES" sz="2400" dirty="0"/>
              <a:t>Un </a:t>
            </a:r>
            <a:r>
              <a:rPr lang="es-ES" sz="2400" dirty="0" smtClean="0"/>
              <a:t>sistema, es </a:t>
            </a:r>
            <a:r>
              <a:rPr lang="es-ES" sz="2400" dirty="0"/>
              <a:t>un conjunto de elementos que interactúan entre sí con el fin </a:t>
            </a:r>
            <a:r>
              <a:rPr lang="es-ES" sz="2400" dirty="0" smtClean="0"/>
              <a:t>de lograr un objetivo común.</a:t>
            </a:r>
          </a:p>
          <a:p>
            <a:r>
              <a:rPr lang="es-ES" sz="2400" dirty="0" smtClean="0"/>
              <a:t>Existe una variedad de sistemas.</a:t>
            </a:r>
            <a:r>
              <a:rPr lang="es-ES" sz="2200" dirty="0"/>
              <a:t> </a:t>
            </a:r>
            <a:r>
              <a:rPr lang="es-ES" sz="2200" dirty="0" smtClean="0"/>
              <a:t>Básicamente se puede representar por un modelo formado por 5 bloques.</a:t>
            </a:r>
            <a:endParaRPr lang="es-ES" sz="2400" dirty="0" smtClean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13" t="51610" r="25083" b="10322"/>
          <a:stretch/>
        </p:blipFill>
        <p:spPr bwMode="auto">
          <a:xfrm>
            <a:off x="1620981" y="3789040"/>
            <a:ext cx="6206837" cy="2784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8146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95536" y="476672"/>
            <a:ext cx="8136904" cy="720080"/>
          </a:xfrm>
        </p:spPr>
        <p:txBody>
          <a:bodyPr/>
          <a:lstStyle/>
          <a:p>
            <a:pPr algn="ctr"/>
            <a:r>
              <a:rPr lang="es-GT" dirty="0" smtClean="0"/>
              <a:t>Tipos de sistemas</a:t>
            </a:r>
            <a:endParaRPr lang="es-GT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5536" y="1196752"/>
            <a:ext cx="8352928" cy="5184576"/>
          </a:xfrm>
        </p:spPr>
        <p:txBody>
          <a:bodyPr>
            <a:noAutofit/>
          </a:bodyPr>
          <a:lstStyle/>
          <a:p>
            <a:pPr marL="109728" indent="0">
              <a:buNone/>
            </a:pPr>
            <a:r>
              <a:rPr lang="es-GT" sz="1800" u="sng" dirty="0"/>
              <a:t>Según la complejidad de las partes o elementos que lo </a:t>
            </a:r>
            <a:r>
              <a:rPr lang="es-GT" sz="1800" u="sng" dirty="0" smtClean="0"/>
              <a:t>componen</a:t>
            </a:r>
            <a:r>
              <a:rPr lang="es-GT" sz="1800" dirty="0" smtClean="0"/>
              <a:t>.</a:t>
            </a:r>
          </a:p>
          <a:p>
            <a:pPr marL="109728" indent="0">
              <a:buNone/>
            </a:pPr>
            <a:r>
              <a:rPr lang="es-GT" sz="1800" dirty="0" smtClean="0"/>
              <a:t>• </a:t>
            </a:r>
            <a:r>
              <a:rPr lang="es-GT" sz="1800" dirty="0"/>
              <a:t>Simple: se puede identificar partes o elementos</a:t>
            </a:r>
            <a:br>
              <a:rPr lang="es-GT" sz="1800" dirty="0"/>
            </a:br>
            <a:r>
              <a:rPr lang="es-GT" sz="1800" dirty="0"/>
              <a:t>• Complejo: constituido de subsistemas donde cada uno puede estar formado de partes o de otros subsistemas</a:t>
            </a:r>
            <a:br>
              <a:rPr lang="es-GT" sz="1800" dirty="0"/>
            </a:br>
            <a:r>
              <a:rPr lang="es-GT" sz="1800" dirty="0"/>
              <a:t/>
            </a:r>
            <a:br>
              <a:rPr lang="es-GT" sz="1800" dirty="0"/>
            </a:br>
            <a:r>
              <a:rPr lang="es-GT" sz="1800" u="sng" dirty="0"/>
              <a:t>De acuerdo al modo de constitución o material:</a:t>
            </a:r>
            <a:br>
              <a:rPr lang="es-GT" sz="1800" u="sng" dirty="0"/>
            </a:br>
            <a:r>
              <a:rPr lang="es-GT" sz="1800" dirty="0"/>
              <a:t>• Físico: los componentes son palpables, se puede tocar a través de los sentidos (tacto).</a:t>
            </a:r>
            <a:br>
              <a:rPr lang="es-GT" sz="1800" dirty="0"/>
            </a:br>
            <a:r>
              <a:rPr lang="es-GT" sz="1800" dirty="0"/>
              <a:t>• Abstracto: constituido por componentes, conceptos, términos abstraídos de la realidad </a:t>
            </a:r>
            <a:br>
              <a:rPr lang="es-GT" sz="1800" dirty="0"/>
            </a:br>
            <a:r>
              <a:rPr lang="es-GT" sz="1800" dirty="0"/>
              <a:t/>
            </a:r>
            <a:br>
              <a:rPr lang="es-GT" sz="1800" dirty="0"/>
            </a:br>
            <a:r>
              <a:rPr lang="es-GT" sz="1800" u="sng" dirty="0" smtClean="0"/>
              <a:t>De </a:t>
            </a:r>
            <a:r>
              <a:rPr lang="es-GT" sz="1800" u="sng" dirty="0"/>
              <a:t>acuerdo al movimiento:</a:t>
            </a:r>
            <a:br>
              <a:rPr lang="es-GT" sz="1800" u="sng" dirty="0"/>
            </a:br>
            <a:r>
              <a:rPr lang="es-GT" sz="1800" dirty="0"/>
              <a:t>• Estáticos: no tienen movimiento</a:t>
            </a:r>
            <a:br>
              <a:rPr lang="es-GT" sz="1800" dirty="0"/>
            </a:br>
            <a:r>
              <a:rPr lang="es-GT" sz="1800" dirty="0"/>
              <a:t>• Dinámicos: tienen movimiento</a:t>
            </a:r>
            <a:br>
              <a:rPr lang="es-GT" sz="1800" dirty="0"/>
            </a:br>
            <a:r>
              <a:rPr lang="es-GT" sz="1800" dirty="0"/>
              <a:t/>
            </a:r>
            <a:br>
              <a:rPr lang="es-GT" sz="1800" dirty="0"/>
            </a:br>
            <a:r>
              <a:rPr lang="es-GT" sz="1800" u="sng" dirty="0"/>
              <a:t>De acuerdo a su naturaleza:</a:t>
            </a:r>
            <a:br>
              <a:rPr lang="es-GT" sz="1800" u="sng" dirty="0"/>
            </a:br>
            <a:r>
              <a:rPr lang="es-GT" sz="1800" dirty="0"/>
              <a:t>• Vivos: tienen vida</a:t>
            </a:r>
            <a:br>
              <a:rPr lang="es-GT" sz="1800" dirty="0"/>
            </a:br>
            <a:r>
              <a:rPr lang="es-GT" sz="1800" dirty="0"/>
              <a:t>• Inertes: carecen de vida</a:t>
            </a:r>
            <a:br>
              <a:rPr lang="es-GT" sz="1800" dirty="0"/>
            </a:br>
            <a:r>
              <a:rPr lang="es-GT" sz="1800" dirty="0"/>
              <a:t/>
            </a:r>
            <a:br>
              <a:rPr lang="es-GT" sz="1800" dirty="0"/>
            </a:br>
            <a:endParaRPr lang="es-GT" sz="1800" dirty="0"/>
          </a:p>
        </p:txBody>
      </p:sp>
    </p:spTree>
    <p:extLst>
      <p:ext uri="{BB962C8B-B14F-4D97-AF65-F5344CB8AC3E}">
        <p14:creationId xmlns:p14="http://schemas.microsoft.com/office/powerpoint/2010/main" val="3120504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39552" y="1268760"/>
            <a:ext cx="8280920" cy="5040560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s-GT" u="sng" dirty="0"/>
              <a:t>De acuerdo al intercambio con el medio</a:t>
            </a:r>
            <a:r>
              <a:rPr lang="es-GT" dirty="0"/>
              <a:t>:</a:t>
            </a:r>
            <a:br>
              <a:rPr lang="es-GT" dirty="0"/>
            </a:br>
            <a:r>
              <a:rPr lang="es-GT" dirty="0"/>
              <a:t>• Abierto: tienen intercambio con el medio</a:t>
            </a:r>
            <a:br>
              <a:rPr lang="es-GT" dirty="0"/>
            </a:br>
            <a:r>
              <a:rPr lang="es-GT" dirty="0"/>
              <a:t>• Cerrado: no tienen intercambio con el medio</a:t>
            </a:r>
            <a:br>
              <a:rPr lang="es-GT" dirty="0"/>
            </a:br>
            <a:r>
              <a:rPr lang="es-GT" dirty="0"/>
              <a:t/>
            </a:r>
            <a:br>
              <a:rPr lang="es-GT" dirty="0"/>
            </a:br>
            <a:r>
              <a:rPr lang="es-GT" u="sng" dirty="0"/>
              <a:t>De acuerdo a su origen:</a:t>
            </a:r>
            <a:br>
              <a:rPr lang="es-GT" u="sng" dirty="0"/>
            </a:br>
            <a:r>
              <a:rPr lang="es-GT" dirty="0"/>
              <a:t>• Natural: su origen no depende del hombre.</a:t>
            </a:r>
            <a:br>
              <a:rPr lang="es-GT" dirty="0"/>
            </a:br>
            <a:r>
              <a:rPr lang="es-GT" dirty="0"/>
              <a:t>• Artificial: depende de otro sistema, creado por el hombre.</a:t>
            </a:r>
            <a:br>
              <a:rPr lang="es-GT" dirty="0"/>
            </a:br>
            <a:r>
              <a:rPr lang="es-GT" dirty="0"/>
              <a:t/>
            </a:r>
            <a:br>
              <a:rPr lang="es-GT" dirty="0"/>
            </a:br>
            <a:r>
              <a:rPr lang="es-GT" u="sng" dirty="0"/>
              <a:t>De acuerdo a la cibernética:</a:t>
            </a:r>
            <a:r>
              <a:rPr lang="es-GT" dirty="0"/>
              <a:t/>
            </a:r>
            <a:br>
              <a:rPr lang="es-GT" dirty="0"/>
            </a:br>
            <a:r>
              <a:rPr lang="es-GT" dirty="0"/>
              <a:t>• Regulado: tiene retroalimentación</a:t>
            </a:r>
            <a:br>
              <a:rPr lang="es-GT" dirty="0"/>
            </a:br>
            <a:r>
              <a:rPr lang="es-GT" dirty="0"/>
              <a:t>• No regulado: no tiene retroalimentación</a:t>
            </a:r>
            <a:br>
              <a:rPr lang="es-GT" dirty="0"/>
            </a:br>
            <a:r>
              <a:rPr lang="es-GT" dirty="0"/>
              <a:t/>
            </a:r>
            <a:br>
              <a:rPr lang="es-GT" dirty="0"/>
            </a:br>
            <a:r>
              <a:rPr lang="es-GT" u="sng" dirty="0"/>
              <a:t>De acuerdo a la dualidad de los sistemas</a:t>
            </a:r>
            <a:r>
              <a:rPr lang="es-GT" dirty="0"/>
              <a:t>.</a:t>
            </a:r>
            <a:br>
              <a:rPr lang="es-GT" dirty="0"/>
            </a:br>
            <a:r>
              <a:rPr lang="es-GT" dirty="0"/>
              <a:t>• Excluyente: una u otra no pueden existir al mismo tiempo.</a:t>
            </a:r>
            <a:br>
              <a:rPr lang="es-GT" dirty="0"/>
            </a:br>
            <a:r>
              <a:rPr lang="es-GT" dirty="0"/>
              <a:t>• Complementaria: puede existir uno y al otro mismo tiempo. </a:t>
            </a:r>
          </a:p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377318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0865" y="4221088"/>
            <a:ext cx="8229600" cy="1611624"/>
          </a:xfrm>
        </p:spPr>
        <p:txBody>
          <a:bodyPr/>
          <a:lstStyle/>
          <a:p>
            <a:endParaRPr lang="es-GT" dirty="0" smtClean="0"/>
          </a:p>
          <a:p>
            <a:r>
              <a:rPr lang="es-GT" sz="1800" dirty="0" smtClean="0"/>
              <a:t>Describa como se comportan los restantes ejemplos citados anteriormente</a:t>
            </a:r>
            <a:r>
              <a:rPr lang="es-GT" dirty="0" smtClean="0"/>
              <a:t>.</a:t>
            </a:r>
          </a:p>
          <a:p>
            <a:endParaRPr lang="es-GT" dirty="0"/>
          </a:p>
          <a:p>
            <a:pPr marL="109728" indent="0">
              <a:buNone/>
            </a:pPr>
            <a:endParaRPr lang="es-GT" dirty="0" smtClean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65" t="17141" r="14860" b="55974"/>
          <a:stretch/>
        </p:blipFill>
        <p:spPr bwMode="auto">
          <a:xfrm>
            <a:off x="323528" y="2420888"/>
            <a:ext cx="8493945" cy="1872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038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GT" dirty="0" smtClean="0"/>
              <a:t>Definición </a:t>
            </a:r>
            <a:endParaRPr lang="es-GT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16" t="17184" r="14515" b="64554"/>
          <a:stretch/>
        </p:blipFill>
        <p:spPr bwMode="auto">
          <a:xfrm>
            <a:off x="467544" y="2060848"/>
            <a:ext cx="8352928" cy="123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755576" y="3501008"/>
            <a:ext cx="770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dirty="0" smtClean="0"/>
              <a:t>Planteé dos ejemplos  de sistemas de información empresarial </a:t>
            </a:r>
            <a:endParaRPr lang="es-GT" dirty="0"/>
          </a:p>
        </p:txBody>
      </p:sp>
      <p:pic>
        <p:nvPicPr>
          <p:cNvPr id="7" name="6 Imagen" descr="http://upload.wikimedia.org/wikipedia/commons/thumb/a/aa/Esquema_sistema_de_informacion.png/350px-Esquema_sistema_de_informacion.png">
            <a:hlinkClick r:id="rId3"/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4215480"/>
            <a:ext cx="4248472" cy="1733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8486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GT" dirty="0" smtClean="0"/>
              <a:t>Elementos que interactúan en un sistema de información.</a:t>
            </a:r>
            <a:endParaRPr lang="es-GT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La información a procesar.</a:t>
            </a:r>
          </a:p>
          <a:p>
            <a:endParaRPr lang="es-ES" dirty="0" smtClean="0"/>
          </a:p>
          <a:p>
            <a:pPr algn="just"/>
            <a:r>
              <a:rPr lang="es-ES" dirty="0"/>
              <a:t>El recurso humano que interactúa con el Sistema de Información, el cual está formado por las personas que utilizan el sistema</a:t>
            </a:r>
            <a:r>
              <a:rPr lang="es-ES" dirty="0" smtClean="0"/>
              <a:t>.</a:t>
            </a:r>
          </a:p>
          <a:p>
            <a:pPr marL="109728" indent="0" algn="just">
              <a:buNone/>
            </a:pPr>
            <a:endParaRPr lang="es-ES" dirty="0"/>
          </a:p>
          <a:p>
            <a:r>
              <a:rPr lang="es-ES" dirty="0" smtClean="0"/>
              <a:t>El </a:t>
            </a:r>
            <a:r>
              <a:rPr lang="es-ES" dirty="0"/>
              <a:t>equipo computacional: el hardware necesario para que el sistema de información pueda operar.</a:t>
            </a:r>
            <a:endParaRPr lang="es-GT" dirty="0"/>
          </a:p>
          <a:p>
            <a:pPr marL="109728" indent="0">
              <a:buNone/>
            </a:pPr>
            <a:endParaRPr lang="es-GT" dirty="0"/>
          </a:p>
          <a:p>
            <a:pPr marL="109728" indent="0">
              <a:buNone/>
            </a:pP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400046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552" y="476672"/>
            <a:ext cx="8352928" cy="2160240"/>
          </a:xfrm>
        </p:spPr>
        <p:txBody>
          <a:bodyPr>
            <a:normAutofit fontScale="90000"/>
          </a:bodyPr>
          <a:lstStyle/>
          <a:p>
            <a:pPr algn="ctr"/>
            <a:r>
              <a:rPr lang="es-ES" sz="2200" dirty="0" smtClean="0"/>
              <a:t/>
            </a:r>
            <a:br>
              <a:rPr lang="es-ES" sz="2200" dirty="0" smtClean="0"/>
            </a:br>
            <a:r>
              <a:rPr lang="es-ES" sz="2200" dirty="0" smtClean="0"/>
              <a:t/>
            </a:r>
            <a:br>
              <a:rPr lang="es-ES" sz="2200" dirty="0" smtClean="0"/>
            </a:br>
            <a:r>
              <a:rPr lang="es-ES" sz="2200" dirty="0" smtClean="0"/>
              <a:t>Un sistema de información realiza cuatro actividades básicas: </a:t>
            </a:r>
            <a:r>
              <a:rPr lang="es-ES" sz="2200" b="1" u="sng" dirty="0" smtClean="0"/>
              <a:t>entrada, almacenamiento, procesamiento y salida de información</a:t>
            </a:r>
            <a:r>
              <a:rPr lang="es-ES" sz="2200" dirty="0" smtClean="0"/>
              <a:t>.</a:t>
            </a:r>
            <a:r>
              <a:rPr lang="es-GT" sz="3100" dirty="0" smtClean="0"/>
              <a:t/>
            </a:r>
            <a:br>
              <a:rPr lang="es-GT" sz="3100" dirty="0" smtClean="0"/>
            </a:br>
            <a:r>
              <a:rPr lang="es-GT" sz="2700" dirty="0" smtClean="0"/>
              <a:t/>
            </a:r>
            <a:br>
              <a:rPr lang="es-GT" sz="2700" dirty="0" smtClean="0"/>
            </a:br>
            <a:endParaRPr lang="es-GT" sz="27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39552" y="3212976"/>
            <a:ext cx="8229600" cy="2827217"/>
          </a:xfrm>
        </p:spPr>
        <p:txBody>
          <a:bodyPr>
            <a:normAutofit/>
          </a:bodyPr>
          <a:lstStyle/>
          <a:p>
            <a:pPr algn="just"/>
            <a:r>
              <a:rPr lang="es-ES" b="1" u="sng" dirty="0"/>
              <a:t>Entrada de Información</a:t>
            </a:r>
            <a:r>
              <a:rPr lang="es-ES" b="1" dirty="0"/>
              <a:t>:</a:t>
            </a:r>
            <a:r>
              <a:rPr lang="es-ES" dirty="0"/>
              <a:t> </a:t>
            </a:r>
            <a:r>
              <a:rPr lang="es-ES" dirty="0" smtClean="0"/>
              <a:t>proceso </a:t>
            </a:r>
            <a:r>
              <a:rPr lang="es-ES" dirty="0"/>
              <a:t>mediante el cual el </a:t>
            </a:r>
            <a:r>
              <a:rPr lang="es-ES" dirty="0" smtClean="0"/>
              <a:t>se toman </a:t>
            </a:r>
            <a:r>
              <a:rPr lang="es-ES" dirty="0"/>
              <a:t>los datos </a:t>
            </a:r>
            <a:r>
              <a:rPr lang="es-ES" dirty="0" smtClean="0"/>
              <a:t>que se </a:t>
            </a:r>
            <a:r>
              <a:rPr lang="es-ES" dirty="0"/>
              <a:t>requiere para procesar la </a:t>
            </a:r>
            <a:r>
              <a:rPr lang="es-ES" dirty="0" smtClean="0"/>
              <a:t>información.</a:t>
            </a:r>
          </a:p>
          <a:p>
            <a:pPr algn="just"/>
            <a:r>
              <a:rPr lang="es-ES" dirty="0" smtClean="0"/>
              <a:t> Entradas </a:t>
            </a:r>
            <a:r>
              <a:rPr lang="es-ES" dirty="0"/>
              <a:t>pueden </a:t>
            </a:r>
            <a:r>
              <a:rPr lang="es-ES" dirty="0" smtClean="0"/>
              <a:t>ser: manuales, automáticas (datos tomados </a:t>
            </a:r>
            <a:r>
              <a:rPr lang="es-ES" dirty="0"/>
              <a:t>de otros sistemas o </a:t>
            </a:r>
            <a:r>
              <a:rPr lang="es-ES" dirty="0" smtClean="0"/>
              <a:t>módulos, interfaces automáticas).</a:t>
            </a:r>
            <a:endParaRPr lang="es-GT" dirty="0"/>
          </a:p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538979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484784"/>
            <a:ext cx="8229600" cy="4325112"/>
          </a:xfrm>
        </p:spPr>
        <p:txBody>
          <a:bodyPr>
            <a:normAutofit/>
          </a:bodyPr>
          <a:lstStyle/>
          <a:p>
            <a:pPr algn="just"/>
            <a:r>
              <a:rPr lang="es-ES" b="1" u="sng" dirty="0"/>
              <a:t>Almacenamiento de información</a:t>
            </a:r>
            <a:r>
              <a:rPr lang="es-ES" b="1" dirty="0"/>
              <a:t>:</a:t>
            </a:r>
            <a:r>
              <a:rPr lang="es-ES" dirty="0"/>
              <a:t> </a:t>
            </a:r>
            <a:r>
              <a:rPr lang="es-ES" dirty="0" smtClean="0"/>
              <a:t> </a:t>
            </a:r>
            <a:r>
              <a:rPr lang="es-ES" dirty="0"/>
              <a:t>es una de las actividades o capacidades más importantes que tiene una computadora, ya que a través de esta propiedad el sistema puede recordar la información guardada en la sección o proceso anterior</a:t>
            </a:r>
            <a:r>
              <a:rPr lang="es-E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9193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5536" y="1340768"/>
            <a:ext cx="8229600" cy="2880320"/>
          </a:xfrm>
        </p:spPr>
        <p:txBody>
          <a:bodyPr>
            <a:normAutofit/>
          </a:bodyPr>
          <a:lstStyle/>
          <a:p>
            <a:pPr algn="just"/>
            <a:r>
              <a:rPr lang="es-ES" b="1" u="sng" dirty="0" smtClean="0"/>
              <a:t>Procesamiento de Información</a:t>
            </a:r>
            <a:r>
              <a:rPr lang="es-ES" b="1" dirty="0" smtClean="0"/>
              <a:t>:</a:t>
            </a:r>
            <a:r>
              <a:rPr lang="es-ES" dirty="0" smtClean="0"/>
              <a:t> Capacidad del Sistema de Información para efectuar cálculos de acuerdo con una secuencia de operaciones preestablecida o </a:t>
            </a:r>
            <a:r>
              <a:rPr lang="es-ES" b="1" dirty="0" smtClean="0"/>
              <a:t>definidas en un modelo matemático. </a:t>
            </a:r>
            <a:r>
              <a:rPr lang="es-ES" b="1" dirty="0"/>
              <a:t>S</a:t>
            </a:r>
            <a:r>
              <a:rPr lang="es-ES" b="1" dirty="0" smtClean="0"/>
              <a:t>oftware</a:t>
            </a:r>
          </a:p>
          <a:p>
            <a:pPr algn="just"/>
            <a:endParaRPr lang="es-ES" dirty="0"/>
          </a:p>
          <a:p>
            <a:pPr algn="just"/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1319180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ChangeArrowheads="1"/>
          </p:cNvSpPr>
          <p:nvPr/>
        </p:nvSpPr>
        <p:spPr bwMode="auto">
          <a:xfrm>
            <a:off x="228600" y="1066800"/>
            <a:ext cx="2227263" cy="1176338"/>
          </a:xfrm>
          <a:prstGeom prst="rect">
            <a:avLst/>
          </a:prstGeom>
          <a:solidFill>
            <a:srgbClr val="00CC99">
              <a:alpha val="50195"/>
            </a:srgbClr>
          </a:solidFill>
          <a:ln w="38100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 defTabSz="762000"/>
            <a:r>
              <a:rPr lang="es-ES_tradnl" b="1">
                <a:latin typeface="Comic Sans MS" pitchFamily="66" charset="0"/>
              </a:rPr>
              <a:t>Insumos</a:t>
            </a:r>
          </a:p>
          <a:p>
            <a:pPr algn="ctr" defTabSz="762000"/>
            <a:r>
              <a:rPr lang="es-ES_tradnl" b="1">
                <a:latin typeface="Comic Sans MS" pitchFamily="66" charset="0"/>
              </a:rPr>
              <a:t>Incontrolables</a:t>
            </a:r>
          </a:p>
          <a:p>
            <a:pPr algn="ctr" defTabSz="762000"/>
            <a:r>
              <a:rPr lang="es-ES_tradnl" b="1">
                <a:latin typeface="Comic Sans MS" pitchFamily="66" charset="0"/>
              </a:rPr>
              <a:t>(Parámetros)</a:t>
            </a:r>
          </a:p>
        </p:txBody>
      </p:sp>
      <p:sp>
        <p:nvSpPr>
          <p:cNvPr id="6147" name="Rectangle 5"/>
          <p:cNvSpPr>
            <a:spLocks noChangeArrowheads="1"/>
          </p:cNvSpPr>
          <p:nvPr/>
        </p:nvSpPr>
        <p:spPr bwMode="auto">
          <a:xfrm>
            <a:off x="457200" y="3048000"/>
            <a:ext cx="1998663" cy="1206500"/>
          </a:xfrm>
          <a:prstGeom prst="rect">
            <a:avLst/>
          </a:prstGeom>
          <a:solidFill>
            <a:srgbClr val="00CC99">
              <a:alpha val="50195"/>
            </a:srgbClr>
          </a:solidFill>
          <a:ln w="38100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 defTabSz="762000"/>
            <a:r>
              <a:rPr lang="es-ES_tradnl" b="1">
                <a:latin typeface="Comic Sans MS" pitchFamily="66" charset="0"/>
              </a:rPr>
              <a:t>Insumos</a:t>
            </a:r>
          </a:p>
          <a:p>
            <a:pPr algn="ctr" defTabSz="762000"/>
            <a:r>
              <a:rPr lang="es-ES_tradnl" b="1">
                <a:latin typeface="Comic Sans MS" pitchFamily="66" charset="0"/>
              </a:rPr>
              <a:t>Controlables</a:t>
            </a:r>
          </a:p>
          <a:p>
            <a:pPr algn="ctr" defTabSz="762000"/>
            <a:r>
              <a:rPr lang="es-ES_tradnl" b="1">
                <a:latin typeface="Comic Sans MS" pitchFamily="66" charset="0"/>
              </a:rPr>
              <a:t>(Decisiones)</a:t>
            </a:r>
          </a:p>
        </p:txBody>
      </p:sp>
      <p:sp>
        <p:nvSpPr>
          <p:cNvPr id="6148" name="Rectangle 2"/>
          <p:cNvSpPr>
            <a:spLocks noChangeArrowheads="1"/>
          </p:cNvSpPr>
          <p:nvPr/>
        </p:nvSpPr>
        <p:spPr bwMode="auto">
          <a:xfrm>
            <a:off x="3459163" y="2057400"/>
            <a:ext cx="1816100" cy="1206500"/>
          </a:xfrm>
          <a:prstGeom prst="rect">
            <a:avLst/>
          </a:prstGeom>
          <a:solidFill>
            <a:srgbClr val="00CC99">
              <a:alpha val="50195"/>
            </a:srgbClr>
          </a:solidFill>
          <a:ln w="38100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 defTabSz="762000"/>
            <a:r>
              <a:rPr lang="es-ES_tradnl" b="1" dirty="0">
                <a:latin typeface="Comic Sans MS" pitchFamily="66" charset="0"/>
              </a:rPr>
              <a:t>Modelo</a:t>
            </a:r>
          </a:p>
        </p:txBody>
      </p:sp>
      <p:sp>
        <p:nvSpPr>
          <p:cNvPr id="6149" name="Rectangle 3"/>
          <p:cNvSpPr>
            <a:spLocks noChangeArrowheads="1"/>
          </p:cNvSpPr>
          <p:nvPr/>
        </p:nvSpPr>
        <p:spPr bwMode="auto">
          <a:xfrm>
            <a:off x="6337300" y="3060700"/>
            <a:ext cx="2273300" cy="1206500"/>
          </a:xfrm>
          <a:prstGeom prst="rect">
            <a:avLst/>
          </a:prstGeom>
          <a:solidFill>
            <a:srgbClr val="00CC99">
              <a:alpha val="50195"/>
            </a:srgbClr>
          </a:solidFill>
          <a:ln w="38100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 defTabSz="762000"/>
            <a:r>
              <a:rPr lang="es-ES_tradnl" b="1">
                <a:latin typeface="Comic Sans MS" pitchFamily="66" charset="0"/>
              </a:rPr>
              <a:t>Variables</a:t>
            </a:r>
          </a:p>
          <a:p>
            <a:pPr algn="ctr" defTabSz="762000"/>
            <a:r>
              <a:rPr lang="es-ES_tradnl" b="1">
                <a:latin typeface="Comic Sans MS" pitchFamily="66" charset="0"/>
              </a:rPr>
              <a:t>de</a:t>
            </a:r>
          </a:p>
          <a:p>
            <a:pPr algn="ctr" defTabSz="762000"/>
            <a:r>
              <a:rPr lang="es-ES_tradnl" b="1">
                <a:latin typeface="Comic Sans MS" pitchFamily="66" charset="0"/>
              </a:rPr>
              <a:t>Consecuencia</a:t>
            </a:r>
          </a:p>
        </p:txBody>
      </p:sp>
      <p:sp>
        <p:nvSpPr>
          <p:cNvPr id="6150" name="Rectangle 15"/>
          <p:cNvSpPr>
            <a:spLocks noChangeArrowheads="1"/>
          </p:cNvSpPr>
          <p:nvPr/>
        </p:nvSpPr>
        <p:spPr bwMode="auto">
          <a:xfrm>
            <a:off x="609600" y="228600"/>
            <a:ext cx="5181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r>
              <a:rPr kumimoji="1" lang="es-ES_tradnl" sz="3600" b="1">
                <a:solidFill>
                  <a:srgbClr val="1300E9"/>
                </a:solidFill>
                <a:latin typeface="Comic Sans MS" pitchFamily="66" charset="0"/>
              </a:rPr>
              <a:t>¿Qué hace el modelo?</a:t>
            </a:r>
          </a:p>
        </p:txBody>
      </p:sp>
      <p:sp>
        <p:nvSpPr>
          <p:cNvPr id="6151" name="Rectangle 17"/>
          <p:cNvSpPr>
            <a:spLocks noChangeArrowheads="1"/>
          </p:cNvSpPr>
          <p:nvPr/>
        </p:nvSpPr>
        <p:spPr bwMode="auto">
          <a:xfrm>
            <a:off x="6300788" y="1066800"/>
            <a:ext cx="2233612" cy="1206500"/>
          </a:xfrm>
          <a:prstGeom prst="rect">
            <a:avLst/>
          </a:prstGeom>
          <a:solidFill>
            <a:srgbClr val="00CC99">
              <a:alpha val="50195"/>
            </a:srgbClr>
          </a:solidFill>
          <a:ln w="38100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 defTabSz="762000"/>
            <a:r>
              <a:rPr lang="es-ES_tradnl" b="1">
                <a:latin typeface="Comic Sans MS" pitchFamily="66" charset="0"/>
              </a:rPr>
              <a:t>Medidas</a:t>
            </a:r>
          </a:p>
          <a:p>
            <a:pPr algn="ctr" defTabSz="762000"/>
            <a:r>
              <a:rPr lang="es-ES_tradnl" b="1">
                <a:latin typeface="Comic Sans MS" pitchFamily="66" charset="0"/>
              </a:rPr>
              <a:t>de</a:t>
            </a:r>
          </a:p>
          <a:p>
            <a:pPr algn="ctr" defTabSz="762000"/>
            <a:r>
              <a:rPr lang="es-ES_tradnl" b="1">
                <a:latin typeface="Comic Sans MS" pitchFamily="66" charset="0"/>
              </a:rPr>
              <a:t>Desempeño</a:t>
            </a:r>
          </a:p>
        </p:txBody>
      </p:sp>
      <p:grpSp>
        <p:nvGrpSpPr>
          <p:cNvPr id="6152" name="Group 22"/>
          <p:cNvGrpSpPr>
            <a:grpSpLocks/>
          </p:cNvGrpSpPr>
          <p:nvPr/>
        </p:nvGrpSpPr>
        <p:grpSpPr bwMode="auto">
          <a:xfrm>
            <a:off x="5257800" y="2895600"/>
            <a:ext cx="1063625" cy="768350"/>
            <a:chOff x="3504" y="2304"/>
            <a:chExt cx="670" cy="484"/>
          </a:xfrm>
        </p:grpSpPr>
        <p:sp>
          <p:nvSpPr>
            <p:cNvPr id="6168" name="Line 10"/>
            <p:cNvSpPr>
              <a:spLocks noChangeShapeType="1"/>
            </p:cNvSpPr>
            <p:nvPr/>
          </p:nvSpPr>
          <p:spPr bwMode="auto">
            <a:xfrm flipV="1">
              <a:off x="3792" y="2788"/>
              <a:ext cx="382" cy="0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GT"/>
            </a:p>
          </p:txBody>
        </p:sp>
        <p:sp>
          <p:nvSpPr>
            <p:cNvPr id="6169" name="Line 19"/>
            <p:cNvSpPr>
              <a:spLocks noChangeShapeType="1"/>
            </p:cNvSpPr>
            <p:nvPr/>
          </p:nvSpPr>
          <p:spPr bwMode="auto">
            <a:xfrm flipV="1">
              <a:off x="3504" y="2304"/>
              <a:ext cx="288" cy="0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GT"/>
            </a:p>
          </p:txBody>
        </p:sp>
        <p:sp>
          <p:nvSpPr>
            <p:cNvPr id="6170" name="Line 21"/>
            <p:cNvSpPr>
              <a:spLocks noChangeShapeType="1"/>
            </p:cNvSpPr>
            <p:nvPr/>
          </p:nvSpPr>
          <p:spPr bwMode="auto">
            <a:xfrm rot="16200000" flipV="1">
              <a:off x="3552" y="2544"/>
              <a:ext cx="480" cy="0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GT"/>
            </a:p>
          </p:txBody>
        </p:sp>
      </p:grpSp>
      <p:grpSp>
        <p:nvGrpSpPr>
          <p:cNvPr id="6153" name="Group 23"/>
          <p:cNvGrpSpPr>
            <a:grpSpLocks/>
          </p:cNvGrpSpPr>
          <p:nvPr/>
        </p:nvGrpSpPr>
        <p:grpSpPr bwMode="auto">
          <a:xfrm flipV="1">
            <a:off x="5257800" y="1676400"/>
            <a:ext cx="1063625" cy="768350"/>
            <a:chOff x="3504" y="2304"/>
            <a:chExt cx="670" cy="484"/>
          </a:xfrm>
        </p:grpSpPr>
        <p:sp>
          <p:nvSpPr>
            <p:cNvPr id="6165" name="Line 24"/>
            <p:cNvSpPr>
              <a:spLocks noChangeShapeType="1"/>
            </p:cNvSpPr>
            <p:nvPr/>
          </p:nvSpPr>
          <p:spPr bwMode="auto">
            <a:xfrm flipV="1">
              <a:off x="3792" y="2788"/>
              <a:ext cx="382" cy="0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GT"/>
            </a:p>
          </p:txBody>
        </p:sp>
        <p:sp>
          <p:nvSpPr>
            <p:cNvPr id="6166" name="Line 25"/>
            <p:cNvSpPr>
              <a:spLocks noChangeShapeType="1"/>
            </p:cNvSpPr>
            <p:nvPr/>
          </p:nvSpPr>
          <p:spPr bwMode="auto">
            <a:xfrm flipV="1">
              <a:off x="3504" y="2304"/>
              <a:ext cx="288" cy="0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GT"/>
            </a:p>
          </p:txBody>
        </p:sp>
        <p:sp>
          <p:nvSpPr>
            <p:cNvPr id="6167" name="Line 26"/>
            <p:cNvSpPr>
              <a:spLocks noChangeShapeType="1"/>
            </p:cNvSpPr>
            <p:nvPr/>
          </p:nvSpPr>
          <p:spPr bwMode="auto">
            <a:xfrm rot="16200000" flipV="1">
              <a:off x="3552" y="2544"/>
              <a:ext cx="480" cy="0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GT"/>
            </a:p>
          </p:txBody>
        </p:sp>
      </p:grpSp>
      <p:grpSp>
        <p:nvGrpSpPr>
          <p:cNvPr id="6154" name="Group 35"/>
          <p:cNvGrpSpPr>
            <a:grpSpLocks/>
          </p:cNvGrpSpPr>
          <p:nvPr/>
        </p:nvGrpSpPr>
        <p:grpSpPr bwMode="auto">
          <a:xfrm>
            <a:off x="2441575" y="1676400"/>
            <a:ext cx="1063625" cy="768350"/>
            <a:chOff x="1730" y="1536"/>
            <a:chExt cx="670" cy="484"/>
          </a:xfrm>
        </p:grpSpPr>
        <p:sp>
          <p:nvSpPr>
            <p:cNvPr id="6162" name="Line 32"/>
            <p:cNvSpPr>
              <a:spLocks noChangeShapeType="1"/>
            </p:cNvSpPr>
            <p:nvPr/>
          </p:nvSpPr>
          <p:spPr bwMode="auto">
            <a:xfrm flipH="1">
              <a:off x="1730" y="1536"/>
              <a:ext cx="382" cy="0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GT"/>
            </a:p>
          </p:txBody>
        </p:sp>
        <p:sp>
          <p:nvSpPr>
            <p:cNvPr id="6163" name="Line 33"/>
            <p:cNvSpPr>
              <a:spLocks noChangeShapeType="1"/>
            </p:cNvSpPr>
            <p:nvPr/>
          </p:nvSpPr>
          <p:spPr bwMode="auto">
            <a:xfrm flipH="1">
              <a:off x="2112" y="2020"/>
              <a:ext cx="288" cy="0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GT"/>
            </a:p>
          </p:txBody>
        </p:sp>
        <p:sp>
          <p:nvSpPr>
            <p:cNvPr id="6164" name="Line 34"/>
            <p:cNvSpPr>
              <a:spLocks noChangeShapeType="1"/>
            </p:cNvSpPr>
            <p:nvPr/>
          </p:nvSpPr>
          <p:spPr bwMode="auto">
            <a:xfrm rot="16200000" flipH="1">
              <a:off x="1872" y="1780"/>
              <a:ext cx="480" cy="0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GT"/>
            </a:p>
          </p:txBody>
        </p:sp>
      </p:grpSp>
      <p:grpSp>
        <p:nvGrpSpPr>
          <p:cNvPr id="6155" name="Group 36"/>
          <p:cNvGrpSpPr>
            <a:grpSpLocks/>
          </p:cNvGrpSpPr>
          <p:nvPr/>
        </p:nvGrpSpPr>
        <p:grpSpPr bwMode="auto">
          <a:xfrm flipV="1">
            <a:off x="2438400" y="2895600"/>
            <a:ext cx="1063625" cy="768350"/>
            <a:chOff x="1730" y="1536"/>
            <a:chExt cx="670" cy="484"/>
          </a:xfrm>
        </p:grpSpPr>
        <p:sp>
          <p:nvSpPr>
            <p:cNvPr id="6159" name="Line 37"/>
            <p:cNvSpPr>
              <a:spLocks noChangeShapeType="1"/>
            </p:cNvSpPr>
            <p:nvPr/>
          </p:nvSpPr>
          <p:spPr bwMode="auto">
            <a:xfrm flipH="1">
              <a:off x="1730" y="1536"/>
              <a:ext cx="382" cy="0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GT"/>
            </a:p>
          </p:txBody>
        </p:sp>
        <p:sp>
          <p:nvSpPr>
            <p:cNvPr id="6160" name="Line 38"/>
            <p:cNvSpPr>
              <a:spLocks noChangeShapeType="1"/>
            </p:cNvSpPr>
            <p:nvPr/>
          </p:nvSpPr>
          <p:spPr bwMode="auto">
            <a:xfrm flipH="1">
              <a:off x="2112" y="2020"/>
              <a:ext cx="288" cy="0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GT"/>
            </a:p>
          </p:txBody>
        </p:sp>
        <p:sp>
          <p:nvSpPr>
            <p:cNvPr id="6161" name="Line 39"/>
            <p:cNvSpPr>
              <a:spLocks noChangeShapeType="1"/>
            </p:cNvSpPr>
            <p:nvPr/>
          </p:nvSpPr>
          <p:spPr bwMode="auto">
            <a:xfrm rot="16200000" flipH="1">
              <a:off x="1872" y="1780"/>
              <a:ext cx="480" cy="0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GT"/>
            </a:p>
          </p:txBody>
        </p:sp>
      </p:grpSp>
      <p:sp>
        <p:nvSpPr>
          <p:cNvPr id="30760" name="Rectangle 40"/>
          <p:cNvSpPr>
            <a:spLocks noChangeArrowheads="1"/>
          </p:cNvSpPr>
          <p:nvPr/>
        </p:nvSpPr>
        <p:spPr bwMode="auto">
          <a:xfrm>
            <a:off x="457200" y="4724400"/>
            <a:ext cx="5943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r>
              <a:rPr kumimoji="1" lang="es-ES_tradnl" sz="2800" b="1">
                <a:solidFill>
                  <a:srgbClr val="1300E9"/>
                </a:solidFill>
                <a:latin typeface="Comic Sans MS" pitchFamily="66" charset="0"/>
              </a:rPr>
              <a:t>¿La solución del modelo dará la respuesta que se necesita?</a:t>
            </a:r>
          </a:p>
        </p:txBody>
      </p:sp>
      <p:sp>
        <p:nvSpPr>
          <p:cNvPr id="30761" name="Text Box 41"/>
          <p:cNvSpPr txBox="1">
            <a:spLocks noChangeArrowheads="1"/>
          </p:cNvSpPr>
          <p:nvPr/>
        </p:nvSpPr>
        <p:spPr bwMode="auto">
          <a:xfrm>
            <a:off x="6324600" y="4343400"/>
            <a:ext cx="2216150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s-ES_tradnl" sz="9600" smtClean="0">
                <a:solidFill>
                  <a:srgbClr val="F00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NO</a:t>
            </a:r>
            <a:endParaRPr lang="es-ES" sz="9600" smtClean="0">
              <a:solidFill>
                <a:srgbClr val="F006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</p:txBody>
      </p:sp>
      <p:sp>
        <p:nvSpPr>
          <p:cNvPr id="30762" name="Rectangle 42"/>
          <p:cNvSpPr>
            <a:spLocks noChangeArrowheads="1"/>
          </p:cNvSpPr>
          <p:nvPr/>
        </p:nvSpPr>
        <p:spPr bwMode="auto">
          <a:xfrm>
            <a:off x="457200" y="5638800"/>
            <a:ext cx="8534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r>
              <a:rPr kumimoji="1" lang="es-ES_tradnl" sz="2800" b="1">
                <a:solidFill>
                  <a:srgbClr val="006600"/>
                </a:solidFill>
                <a:latin typeface="Comic Sans MS" pitchFamily="66" charset="0"/>
              </a:rPr>
              <a:t>Se deben tener en cuenta factores cualitativos que el modelo no está considerando.</a:t>
            </a:r>
          </a:p>
        </p:txBody>
      </p:sp>
    </p:spTree>
    <p:extLst>
      <p:ext uri="{BB962C8B-B14F-4D97-AF65-F5344CB8AC3E}">
        <p14:creationId xmlns:p14="http://schemas.microsoft.com/office/powerpoint/2010/main" val="2580632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0" grpId="0" autoUpdateAnimBg="0"/>
      <p:bldP spid="30761" grpId="0" autoUpdateAnimBg="0"/>
      <p:bldP spid="30762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11560" y="1340768"/>
            <a:ext cx="8136904" cy="4968552"/>
          </a:xfrm>
        </p:spPr>
        <p:txBody>
          <a:bodyPr>
            <a:normAutofit/>
          </a:bodyPr>
          <a:lstStyle/>
          <a:p>
            <a:pPr algn="just"/>
            <a:r>
              <a:rPr lang="es-ES" b="1" u="sng" dirty="0"/>
              <a:t>Salida de Información</a:t>
            </a:r>
            <a:r>
              <a:rPr lang="es-ES" b="1" dirty="0"/>
              <a:t>:</a:t>
            </a:r>
            <a:r>
              <a:rPr lang="es-ES" dirty="0"/>
              <a:t> </a:t>
            </a:r>
            <a:r>
              <a:rPr lang="es-ES" dirty="0" smtClean="0"/>
              <a:t>capacidad </a:t>
            </a:r>
            <a:r>
              <a:rPr lang="es-ES" dirty="0"/>
              <a:t>de un Sistema de Información para sacar la información procesada o bien datos de entrada al exterior. </a:t>
            </a:r>
            <a:endParaRPr lang="es-ES" dirty="0" smtClean="0"/>
          </a:p>
          <a:p>
            <a:pPr algn="just"/>
            <a:endParaRPr lang="es-ES" dirty="0" smtClean="0"/>
          </a:p>
          <a:p>
            <a:pPr algn="just"/>
            <a:r>
              <a:rPr lang="es-ES" dirty="0" smtClean="0"/>
              <a:t>Es </a:t>
            </a:r>
            <a:r>
              <a:rPr lang="es-ES" dirty="0"/>
              <a:t>importante aclarar que la salida de un Sistema de Información puede constituir la entrada a otro Sistema de Información o módulo</a:t>
            </a:r>
            <a:r>
              <a:rPr lang="es-ES" dirty="0" smtClean="0"/>
              <a:t>.</a:t>
            </a:r>
          </a:p>
          <a:p>
            <a:pPr algn="just"/>
            <a:endParaRPr lang="es-ES" dirty="0"/>
          </a:p>
          <a:p>
            <a:pPr algn="just"/>
            <a:r>
              <a:rPr lang="es-ES" dirty="0" smtClean="0"/>
              <a:t>Por </a:t>
            </a:r>
            <a:r>
              <a:rPr lang="es-ES" dirty="0"/>
              <a:t>ejemplo, el Sistema de Control de Clientes tiene una </a:t>
            </a:r>
            <a:r>
              <a:rPr lang="es-ES" dirty="0" smtClean="0"/>
              <a:t>conexión </a:t>
            </a:r>
            <a:r>
              <a:rPr lang="es-ES" dirty="0"/>
              <a:t>automática de salida con el Sistema de Contabilidad, ya que genera </a:t>
            </a:r>
            <a:r>
              <a:rPr lang="es-ES" dirty="0" smtClean="0"/>
              <a:t>información </a:t>
            </a:r>
            <a:r>
              <a:rPr lang="es-ES" dirty="0"/>
              <a:t>contables de los movimientos procesales de los clientes.</a:t>
            </a:r>
            <a:endParaRPr lang="es-GT" dirty="0"/>
          </a:p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401877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3903" y="1623864"/>
            <a:ext cx="8003232" cy="1589112"/>
          </a:xfrm>
        </p:spPr>
        <p:txBody>
          <a:bodyPr>
            <a:normAutofit fontScale="90000"/>
          </a:bodyPr>
          <a:lstStyle/>
          <a:p>
            <a:pPr lvl="0"/>
            <a:r>
              <a:rPr lang="es-ES" sz="1800" dirty="0" smtClean="0"/>
              <a:t>1. Automatización </a:t>
            </a:r>
            <a:r>
              <a:rPr lang="es-ES" sz="1800" dirty="0"/>
              <a:t>de procesos operativos</a:t>
            </a:r>
            <a:r>
              <a:rPr lang="es-ES" sz="1800" dirty="0" smtClean="0"/>
              <a:t>.</a:t>
            </a:r>
            <a:br>
              <a:rPr lang="es-ES" sz="1800" dirty="0" smtClean="0"/>
            </a:br>
            <a:r>
              <a:rPr lang="es-GT" sz="1800" dirty="0"/>
              <a:t/>
            </a:r>
            <a:br>
              <a:rPr lang="es-GT" sz="1800" dirty="0"/>
            </a:br>
            <a:r>
              <a:rPr lang="es-GT" sz="1800" dirty="0" smtClean="0"/>
              <a:t>2. </a:t>
            </a:r>
            <a:r>
              <a:rPr lang="es-ES" sz="1800" dirty="0" smtClean="0"/>
              <a:t>Proporcionar </a:t>
            </a:r>
            <a:r>
              <a:rPr lang="es-ES" sz="1800" dirty="0"/>
              <a:t>información que sirva de apoyo al proceso de toma de </a:t>
            </a:r>
            <a:r>
              <a:rPr lang="es-ES" sz="1800" dirty="0" smtClean="0"/>
              <a:t>decisiones</a:t>
            </a:r>
            <a:r>
              <a:rPr lang="es-ES" sz="1800" dirty="0"/>
              <a:t>.</a:t>
            </a:r>
            <a:r>
              <a:rPr lang="es-GT" sz="1800" dirty="0"/>
              <a:t/>
            </a:r>
            <a:br>
              <a:rPr lang="es-GT" sz="1800" dirty="0"/>
            </a:br>
            <a:r>
              <a:rPr lang="es-GT" sz="1800" dirty="0" smtClean="0"/>
              <a:t/>
            </a:r>
            <a:br>
              <a:rPr lang="es-GT" sz="1800" dirty="0" smtClean="0"/>
            </a:br>
            <a:r>
              <a:rPr lang="es-GT" sz="1800" dirty="0" smtClean="0"/>
              <a:t>3. </a:t>
            </a:r>
            <a:r>
              <a:rPr lang="es-ES" sz="1800" dirty="0" smtClean="0"/>
              <a:t>Lograr </a:t>
            </a:r>
            <a:r>
              <a:rPr lang="es-ES" sz="1800" dirty="0"/>
              <a:t>ventajas competitivas a través de su implantación y uso.</a:t>
            </a:r>
            <a:endParaRPr lang="es-GT" sz="1800" dirty="0"/>
          </a:p>
        </p:txBody>
      </p:sp>
      <p:pic>
        <p:nvPicPr>
          <p:cNvPr id="4" name="3 Marcador de contenido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6601" y="3212976"/>
            <a:ext cx="5620534" cy="3200847"/>
          </a:xfrm>
        </p:spPr>
      </p:pic>
      <p:sp>
        <p:nvSpPr>
          <p:cNvPr id="5" name="4 CuadroTexto"/>
          <p:cNvSpPr txBox="1"/>
          <p:nvPr/>
        </p:nvSpPr>
        <p:spPr>
          <a:xfrm>
            <a:off x="1259632" y="764704"/>
            <a:ext cx="7488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Sistemas de Información cumplirán tres objetivos básicos dentro de las organizaciones: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319418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99592" y="548680"/>
            <a:ext cx="8640960" cy="6120680"/>
          </a:xfrm>
        </p:spPr>
        <p:txBody>
          <a:bodyPr>
            <a:normAutofit fontScale="92500" lnSpcReduction="10000"/>
          </a:bodyPr>
          <a:lstStyle/>
          <a:p>
            <a:r>
              <a:rPr lang="es-ES" b="1" dirty="0"/>
              <a:t>Entradas:</a:t>
            </a:r>
            <a:endParaRPr lang="es-GT" dirty="0"/>
          </a:p>
          <a:p>
            <a:pPr lvl="1"/>
            <a:r>
              <a:rPr lang="es-ES" dirty="0"/>
              <a:t>Datos generales del cliente: nombre, dirección, tipo de cliente, etc.</a:t>
            </a:r>
            <a:endParaRPr lang="es-GT" dirty="0"/>
          </a:p>
          <a:p>
            <a:pPr lvl="1"/>
            <a:r>
              <a:rPr lang="es-ES" dirty="0"/>
              <a:t>Políticas de </a:t>
            </a:r>
            <a:r>
              <a:rPr lang="es-ES" dirty="0" smtClean="0"/>
              <a:t> venta: contado, créditos</a:t>
            </a:r>
            <a:r>
              <a:rPr lang="es-ES" dirty="0"/>
              <a:t>(</a:t>
            </a:r>
            <a:r>
              <a:rPr lang="es-ES" dirty="0" smtClean="0"/>
              <a:t> </a:t>
            </a:r>
            <a:r>
              <a:rPr lang="es-ES" dirty="0"/>
              <a:t>límite de crédito, plazo de pago, </a:t>
            </a:r>
            <a:r>
              <a:rPr lang="es-ES" dirty="0" smtClean="0"/>
              <a:t>etc.)</a:t>
            </a:r>
            <a:endParaRPr lang="es-GT" dirty="0"/>
          </a:p>
          <a:p>
            <a:pPr lvl="1"/>
            <a:r>
              <a:rPr lang="es-ES" dirty="0"/>
              <a:t>Facturas </a:t>
            </a:r>
            <a:r>
              <a:rPr lang="es-ES" dirty="0" smtClean="0"/>
              <a:t>(interface </a:t>
            </a:r>
            <a:r>
              <a:rPr lang="es-ES" dirty="0"/>
              <a:t>automático).</a:t>
            </a:r>
            <a:endParaRPr lang="es-GT" dirty="0"/>
          </a:p>
          <a:p>
            <a:pPr lvl="1"/>
            <a:r>
              <a:rPr lang="es-ES" dirty="0"/>
              <a:t>Pagos, depuraciones, etc.</a:t>
            </a:r>
            <a:endParaRPr lang="es-GT" dirty="0"/>
          </a:p>
          <a:p>
            <a:r>
              <a:rPr lang="es-ES" b="1" dirty="0"/>
              <a:t>Proceso:</a:t>
            </a:r>
            <a:endParaRPr lang="es-GT" dirty="0"/>
          </a:p>
          <a:p>
            <a:pPr lvl="1"/>
            <a:r>
              <a:rPr lang="es-ES" dirty="0"/>
              <a:t>Cálculo de antigüedad de saldos.</a:t>
            </a:r>
            <a:endParaRPr lang="es-GT" dirty="0"/>
          </a:p>
          <a:p>
            <a:pPr lvl="1"/>
            <a:r>
              <a:rPr lang="es-ES" dirty="0"/>
              <a:t>Cálculo de intereses moratorios.</a:t>
            </a:r>
            <a:endParaRPr lang="es-GT" dirty="0"/>
          </a:p>
          <a:p>
            <a:pPr lvl="1"/>
            <a:r>
              <a:rPr lang="es-ES" dirty="0"/>
              <a:t>Cálculo del saldo de un cliente.</a:t>
            </a:r>
            <a:endParaRPr lang="es-GT" dirty="0"/>
          </a:p>
          <a:p>
            <a:r>
              <a:rPr lang="es-ES" b="1" dirty="0"/>
              <a:t>Almacenamiento:</a:t>
            </a:r>
            <a:endParaRPr lang="es-GT" dirty="0"/>
          </a:p>
          <a:p>
            <a:pPr lvl="1"/>
            <a:r>
              <a:rPr lang="es-ES" dirty="0"/>
              <a:t>Movimientos del mes (pagos, depuraciones).</a:t>
            </a:r>
            <a:endParaRPr lang="es-GT" dirty="0"/>
          </a:p>
          <a:p>
            <a:pPr lvl="1"/>
            <a:r>
              <a:rPr lang="es-ES" dirty="0"/>
              <a:t>Catálogo de clientes.</a:t>
            </a:r>
            <a:endParaRPr lang="es-GT" dirty="0"/>
          </a:p>
          <a:p>
            <a:pPr lvl="1"/>
            <a:r>
              <a:rPr lang="es-ES" dirty="0"/>
              <a:t>Facturas.</a:t>
            </a:r>
            <a:endParaRPr lang="es-GT" dirty="0"/>
          </a:p>
          <a:p>
            <a:r>
              <a:rPr lang="es-ES" b="1" dirty="0"/>
              <a:t>Salidas:</a:t>
            </a:r>
            <a:endParaRPr lang="es-GT" dirty="0"/>
          </a:p>
          <a:p>
            <a:pPr lvl="1"/>
            <a:r>
              <a:rPr lang="es-ES" dirty="0"/>
              <a:t>Reporte de pagos.</a:t>
            </a:r>
            <a:endParaRPr lang="es-GT" dirty="0"/>
          </a:p>
          <a:p>
            <a:pPr lvl="1"/>
            <a:r>
              <a:rPr lang="es-ES" dirty="0"/>
              <a:t>Estados de cuenta</a:t>
            </a:r>
            <a:r>
              <a:rPr lang="es-ES" dirty="0" smtClean="0"/>
              <a:t>. Banca en línea.</a:t>
            </a:r>
            <a:endParaRPr lang="es-GT" dirty="0"/>
          </a:p>
          <a:p>
            <a:pPr lvl="1"/>
            <a:r>
              <a:rPr lang="es-ES" dirty="0"/>
              <a:t>Pólizas </a:t>
            </a:r>
            <a:r>
              <a:rPr lang="es-ES" dirty="0" smtClean="0"/>
              <a:t>contables, </a:t>
            </a:r>
            <a:r>
              <a:rPr lang="es-ES" dirty="0" err="1" smtClean="0"/>
              <a:t>Sat</a:t>
            </a:r>
            <a:r>
              <a:rPr lang="es-ES" dirty="0" smtClean="0"/>
              <a:t> en línea. (interface </a:t>
            </a:r>
            <a:r>
              <a:rPr lang="es-ES" dirty="0"/>
              <a:t>automática)</a:t>
            </a:r>
            <a:endParaRPr lang="es-GT" dirty="0"/>
          </a:p>
          <a:p>
            <a:pPr lvl="1"/>
            <a:r>
              <a:rPr lang="es-ES" dirty="0"/>
              <a:t>Consultas de saldos en pantalla de una </a:t>
            </a:r>
            <a:r>
              <a:rPr lang="es-ES" dirty="0" smtClean="0"/>
              <a:t>terminal</a:t>
            </a:r>
          </a:p>
          <a:p>
            <a:pPr marL="457200" lvl="1" indent="0">
              <a:buNone/>
            </a:pP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148920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338</TotalTime>
  <Words>585</Words>
  <Application>Microsoft Office PowerPoint</Application>
  <PresentationFormat>Presentación en pantalla (4:3)</PresentationFormat>
  <Paragraphs>73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Arial</vt:lpstr>
      <vt:lpstr>Arial Black</vt:lpstr>
      <vt:lpstr>Calibri</vt:lpstr>
      <vt:lpstr>Century Gothic</vt:lpstr>
      <vt:lpstr>Comic Sans MS</vt:lpstr>
      <vt:lpstr>Wingdings 3</vt:lpstr>
      <vt:lpstr>Espiral</vt:lpstr>
      <vt:lpstr>Sistemas de información</vt:lpstr>
      <vt:lpstr>Definición de sistema.</vt:lpstr>
      <vt:lpstr>Tipos de sistemas</vt:lpstr>
      <vt:lpstr>Presentación de PowerPoint</vt:lpstr>
      <vt:lpstr>Presentación de PowerPoint</vt:lpstr>
      <vt:lpstr>Definición </vt:lpstr>
      <vt:lpstr>Elementos que interactúan en un sistema de información.</vt:lpstr>
      <vt:lpstr>  Un sistema de información realiza cuatro actividades básicas: entrada, almacenamiento, procesamiento y salida de información.  </vt:lpstr>
      <vt:lpstr>Presentación de PowerPoint</vt:lpstr>
      <vt:lpstr>Presentación de PowerPoint</vt:lpstr>
      <vt:lpstr>Presentación de PowerPoint</vt:lpstr>
      <vt:lpstr>Presentación de PowerPoint</vt:lpstr>
      <vt:lpstr>1. Automatización de procesos operativos.  2. Proporcionar información que sirva de apoyo al proceso de toma de decisiones.  3. Lograr ventajas competitivas a través de su implantación y uso.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de información empresarial</dc:title>
  <dc:creator>David García</dc:creator>
  <cp:lastModifiedBy>HP</cp:lastModifiedBy>
  <cp:revision>28</cp:revision>
  <dcterms:created xsi:type="dcterms:W3CDTF">2011-05-29T00:42:26Z</dcterms:created>
  <dcterms:modified xsi:type="dcterms:W3CDTF">2019-06-10T17:33:06Z</dcterms:modified>
</cp:coreProperties>
</file>