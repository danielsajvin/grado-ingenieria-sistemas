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A3B-7AED-426D-A469-174119757C9E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032089E-481A-4565-9544-AC1C73716A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97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A3B-7AED-426D-A469-174119757C9E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2089E-481A-4565-9544-AC1C73716A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045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A3B-7AED-426D-A469-174119757C9E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32089E-481A-4565-9544-AC1C73716A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94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A3B-7AED-426D-A469-174119757C9E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032089E-481A-4565-9544-AC1C73716A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310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A3B-7AED-426D-A469-174119757C9E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032089E-481A-4565-9544-AC1C73716A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594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A3B-7AED-426D-A469-174119757C9E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2089E-481A-4565-9544-AC1C73716A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776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A3B-7AED-426D-A469-174119757C9E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2089E-481A-4565-9544-AC1C73716A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493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A3B-7AED-426D-A469-174119757C9E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2089E-481A-4565-9544-AC1C73716A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79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A3B-7AED-426D-A469-174119757C9E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32089E-481A-4565-9544-AC1C73716A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93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A3B-7AED-426D-A469-174119757C9E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32089E-481A-4565-9544-AC1C73716A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94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A3B-7AED-426D-A469-174119757C9E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032089E-481A-4565-9544-AC1C73716AA6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9583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A3B-7AED-426D-A469-174119757C9E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32089E-481A-4565-9544-AC1C73716A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20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A3B-7AED-426D-A469-174119757C9E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32089E-481A-4565-9544-AC1C73716AA6}" type="slidenum">
              <a:rPr lang="en-US" smtClean="0"/>
              <a:t>‹Nº›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9550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A3B-7AED-426D-A469-174119757C9E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032089E-481A-4565-9544-AC1C73716A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88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A3B-7AED-426D-A469-174119757C9E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2089E-481A-4565-9544-AC1C73716A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209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25A3B-7AED-426D-A469-174119757C9E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2089E-481A-4565-9544-AC1C73716A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419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D25A3B-7AED-426D-A469-174119757C9E}" type="datetimeFigureOut">
              <a:rPr lang="en-US" smtClean="0"/>
              <a:t>6/16/2022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032089E-481A-4565-9544-AC1C73716AA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570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es.wikipedia.org/wiki/Archivo:Four-Level-Pyramid-model.p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GT" dirty="0"/>
              <a:t>Niveles de </a:t>
            </a:r>
            <a:r>
              <a:rPr lang="es-GT" dirty="0" err="1"/>
              <a:t>informacion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07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Marcador de contenido 3" descr="http://upload.wikimedia.org/wikipedia/commons/thumb/d/dd/Four-Level-Pyramid-model.png/350px-Four-Level-Pyramid-model.png">
            <a:hlinkClick r:id="rId2"/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9142" y="1802675"/>
            <a:ext cx="5982789" cy="472875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9720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A7A61-6FA7-468D-9FFD-14F606953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1" y="903738"/>
            <a:ext cx="5977718" cy="652107"/>
          </a:xfrm>
        </p:spPr>
        <p:txBody>
          <a:bodyPr/>
          <a:lstStyle/>
          <a:p>
            <a:r>
              <a:rPr lang="es-ES" dirty="0"/>
              <a:t>Estados financieros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0165C7-C3A2-42BA-8CC9-5E4457943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4245" y="2392908"/>
            <a:ext cx="8915400" cy="3777622"/>
          </a:xfrm>
        </p:spPr>
        <p:txBody>
          <a:bodyPr/>
          <a:lstStyle/>
          <a:p>
            <a:r>
              <a:rPr lang="es-ES" dirty="0"/>
              <a:t>Estado de resultados</a:t>
            </a:r>
          </a:p>
          <a:p>
            <a:r>
              <a:rPr lang="es-ES" dirty="0"/>
              <a:t>Balance general.</a:t>
            </a:r>
          </a:p>
          <a:p>
            <a:r>
              <a:rPr lang="es-ES" dirty="0"/>
              <a:t>Flujo de efectivo.</a:t>
            </a:r>
          </a:p>
          <a:p>
            <a:r>
              <a:rPr lang="es-ES" dirty="0"/>
              <a:t>Estado de utilidades retenidas.</a:t>
            </a:r>
          </a:p>
          <a:p>
            <a:r>
              <a:rPr lang="es-ES" dirty="0"/>
              <a:t>Análisis financiero. Vertical- Horizontal.</a:t>
            </a:r>
          </a:p>
          <a:p>
            <a:r>
              <a:rPr lang="es-ES" dirty="0"/>
              <a:t>Razones financieras.</a:t>
            </a:r>
          </a:p>
          <a:p>
            <a:r>
              <a:rPr lang="es-ES"/>
              <a:t>Sistemas empresariales.</a:t>
            </a:r>
            <a:endParaRPr lang="en-US" dirty="0"/>
          </a:p>
        </p:txBody>
      </p:sp>
      <p:pic>
        <p:nvPicPr>
          <p:cNvPr id="1026" name="Picture 2" descr="Finanzas - Qué es, definición y concepto | Economipedia">
            <a:extLst>
              <a:ext uri="{FF2B5EF4-FFF2-40B4-BE49-F238E27FC236}">
                <a16:creationId xmlns:a16="http://schemas.microsoft.com/office/drawing/2014/main" id="{D17B8DC8-55A5-4509-97BC-48CFAFFA3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5181" y="3029073"/>
            <a:ext cx="4740275" cy="355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8816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47AD2F-EE28-40AD-92AD-BA3946B32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27734346-AB46-40B9-BDAD-E30B717770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2328893"/>
              </p:ext>
            </p:extLst>
          </p:nvPr>
        </p:nvGraphicFramePr>
        <p:xfrm>
          <a:off x="1719618" y="409432"/>
          <a:ext cx="9949218" cy="6209736"/>
        </p:xfrm>
        <a:graphic>
          <a:graphicData uri="http://schemas.openxmlformats.org/drawingml/2006/table">
            <a:tbl>
              <a:tblPr firstRow="1" firstCol="1" bandRow="1" bandCol="1">
                <a:tableStyleId>{5C22544A-7EE6-4342-B048-85BDC9FD1C3A}</a:tableStyleId>
              </a:tblPr>
              <a:tblGrid>
                <a:gridCol w="3231448">
                  <a:extLst>
                    <a:ext uri="{9D8B030D-6E8A-4147-A177-3AD203B41FA5}">
                      <a16:colId xmlns:a16="http://schemas.microsoft.com/office/drawing/2014/main" val="2237537756"/>
                    </a:ext>
                  </a:extLst>
                </a:gridCol>
                <a:gridCol w="801465">
                  <a:extLst>
                    <a:ext uri="{9D8B030D-6E8A-4147-A177-3AD203B41FA5}">
                      <a16:colId xmlns:a16="http://schemas.microsoft.com/office/drawing/2014/main" val="3770016590"/>
                    </a:ext>
                  </a:extLst>
                </a:gridCol>
                <a:gridCol w="982639">
                  <a:extLst>
                    <a:ext uri="{9D8B030D-6E8A-4147-A177-3AD203B41FA5}">
                      <a16:colId xmlns:a16="http://schemas.microsoft.com/office/drawing/2014/main" val="1838469251"/>
                    </a:ext>
                  </a:extLst>
                </a:gridCol>
                <a:gridCol w="4027795">
                  <a:extLst>
                    <a:ext uri="{9D8B030D-6E8A-4147-A177-3AD203B41FA5}">
                      <a16:colId xmlns:a16="http://schemas.microsoft.com/office/drawing/2014/main" val="2728769135"/>
                    </a:ext>
                  </a:extLst>
                </a:gridCol>
                <a:gridCol w="905871">
                  <a:extLst>
                    <a:ext uri="{9D8B030D-6E8A-4147-A177-3AD203B41FA5}">
                      <a16:colId xmlns:a16="http://schemas.microsoft.com/office/drawing/2014/main" val="997293492"/>
                    </a:ext>
                  </a:extLst>
                </a:gridCol>
              </a:tblGrid>
              <a:tr h="415368"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Balance general al 31 de dic. del 2021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Estado de resultado al 31 de dic. </a:t>
                      </a:r>
                      <a:r>
                        <a:rPr lang="es-GT" sz="1400" dirty="0">
                          <a:effectLst/>
                        </a:rPr>
                        <a:t>De 2021</a:t>
                      </a:r>
                    </a:p>
                  </a:txBody>
                  <a:tcPr marL="51180" marR="51180" marT="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263344"/>
                  </a:ext>
                </a:extLst>
              </a:tr>
              <a:tr h="4277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 dirty="0">
                          <a:effectLst/>
                        </a:rPr>
                        <a:t>efectivo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77500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Ventas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1607500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extLst>
                  <a:ext uri="{0D108BD9-81ED-4DB2-BD59-A6C34878D82A}">
                    <a16:rowId xmlns:a16="http://schemas.microsoft.com/office/drawing/2014/main" val="2619189136"/>
                  </a:ext>
                </a:extLst>
              </a:tr>
              <a:tr h="4277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 dirty="0">
                          <a:effectLst/>
                        </a:rPr>
                        <a:t>cuentas por cobrar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 dirty="0">
                          <a:effectLst/>
                        </a:rPr>
                        <a:t>336000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costo de ventas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1353000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extLst>
                  <a:ext uri="{0D108BD9-81ED-4DB2-BD59-A6C34878D82A}">
                    <a16:rowId xmlns:a16="http://schemas.microsoft.com/office/drawing/2014/main" val="29711759"/>
                  </a:ext>
                </a:extLst>
              </a:tr>
              <a:tr h="4277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inventario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 dirty="0">
                          <a:effectLst/>
                        </a:rPr>
                        <a:t>241500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utilidad bruta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254500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extLst>
                  <a:ext uri="{0D108BD9-81ED-4DB2-BD59-A6C34878D82A}">
                    <a16:rowId xmlns:a16="http://schemas.microsoft.com/office/drawing/2014/main" val="1225891270"/>
                  </a:ext>
                </a:extLst>
              </a:tr>
              <a:tr h="4277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total de activos corriente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655000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 dirty="0">
                          <a:effectLst/>
                        </a:rPr>
                        <a:t>gastos fijos operativos 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143000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extLst>
                  <a:ext uri="{0D108BD9-81ED-4DB2-BD59-A6C34878D82A}">
                    <a16:rowId xmlns:a16="http://schemas.microsoft.com/office/drawing/2014/main" val="1028361749"/>
                  </a:ext>
                </a:extLst>
              </a:tr>
              <a:tr h="4277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activos no corriente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292500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 dirty="0">
                          <a:effectLst/>
                        </a:rPr>
                        <a:t>Depreciación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41500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extLst>
                  <a:ext uri="{0D108BD9-81ED-4DB2-BD59-A6C34878D82A}">
                    <a16:rowId xmlns:a16="http://schemas.microsoft.com/office/drawing/2014/main" val="1091623114"/>
                  </a:ext>
                </a:extLst>
              </a:tr>
              <a:tr h="4277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total de activos 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947500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utilidad antes de intereses e impuestos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 dirty="0">
                          <a:effectLst/>
                        </a:rPr>
                        <a:t>70000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extLst>
                  <a:ext uri="{0D108BD9-81ED-4DB2-BD59-A6C34878D82A}">
                    <a16:rowId xmlns:a16="http://schemas.microsoft.com/office/drawing/2014/main" val="2858315298"/>
                  </a:ext>
                </a:extLst>
              </a:tr>
              <a:tr h="2454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Intereses.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 dirty="0">
                          <a:effectLst/>
                        </a:rPr>
                        <a:t>24500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extLst>
                  <a:ext uri="{0D108BD9-81ED-4DB2-BD59-A6C34878D82A}">
                    <a16:rowId xmlns:a16="http://schemas.microsoft.com/office/drawing/2014/main" val="2157582326"/>
                  </a:ext>
                </a:extLst>
              </a:tr>
              <a:tr h="4277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cuentas por pagar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129000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utilidad antes de impuesto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 dirty="0">
                          <a:effectLst/>
                        </a:rPr>
                        <a:t>45500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extLst>
                  <a:ext uri="{0D108BD9-81ED-4DB2-BD59-A6C34878D82A}">
                    <a16:rowId xmlns:a16="http://schemas.microsoft.com/office/drawing/2014/main" val="2595096519"/>
                  </a:ext>
                </a:extLst>
              </a:tr>
              <a:tr h="4155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documentos por pagar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84000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Impuesto (25%)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 dirty="0">
                          <a:effectLst/>
                        </a:rPr>
                        <a:t>11375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extLst>
                  <a:ext uri="{0D108BD9-81ED-4DB2-BD59-A6C34878D82A}">
                    <a16:rowId xmlns:a16="http://schemas.microsoft.com/office/drawing/2014/main" val="1401066302"/>
                  </a:ext>
                </a:extLst>
              </a:tr>
              <a:tr h="4277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otros pasivos circulantes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117000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Utilidad neta.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 dirty="0">
                          <a:effectLst/>
                        </a:rPr>
                        <a:t>34125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extLst>
                  <a:ext uri="{0D108BD9-81ED-4DB2-BD59-A6C34878D82A}">
                    <a16:rowId xmlns:a16="http://schemas.microsoft.com/office/drawing/2014/main" val="2943180120"/>
                  </a:ext>
                </a:extLst>
              </a:tr>
              <a:tr h="4277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total de pasivos corriente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330000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extLst>
                  <a:ext uri="{0D108BD9-81ED-4DB2-BD59-A6C34878D82A}">
                    <a16:rowId xmlns:a16="http://schemas.microsoft.com/office/drawing/2014/main" val="2321280939"/>
                  </a:ext>
                </a:extLst>
              </a:tr>
              <a:tr h="4277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deuda a largo plazo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256500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extLst>
                  <a:ext uri="{0D108BD9-81ED-4DB2-BD59-A6C34878D82A}">
                    <a16:rowId xmlns:a16="http://schemas.microsoft.com/office/drawing/2014/main" val="2254267957"/>
                  </a:ext>
                </a:extLst>
              </a:tr>
              <a:tr h="4277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capital contable común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361000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extLst>
                  <a:ext uri="{0D108BD9-81ED-4DB2-BD59-A6C34878D82A}">
                    <a16:rowId xmlns:a16="http://schemas.microsoft.com/office/drawing/2014/main" val="2262064351"/>
                  </a:ext>
                </a:extLst>
              </a:tr>
              <a:tr h="4277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400" u="sng">
                          <a:effectLst/>
                        </a:rPr>
                        <a:t>Total pasivo y capital contable.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 u="sng">
                          <a:effectLst/>
                        </a:rPr>
                        <a:t>947500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GT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80" marR="51180" marT="0" marB="0" anchor="b"/>
                </a:tc>
                <a:extLst>
                  <a:ext uri="{0D108BD9-81ED-4DB2-BD59-A6C34878D82A}">
                    <a16:rowId xmlns:a16="http://schemas.microsoft.com/office/drawing/2014/main" val="2344746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9316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268B3-E8EC-4251-AB08-8CDC67333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9942" y="845455"/>
            <a:ext cx="3758579" cy="1280890"/>
          </a:xfrm>
        </p:spPr>
        <p:txBody>
          <a:bodyPr/>
          <a:lstStyle/>
          <a:p>
            <a:r>
              <a:rPr lang="es-ES" dirty="0"/>
              <a:t>Considerar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53DA95-68D1-4E9D-8D7D-82A059ECF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IVA</a:t>
            </a:r>
          </a:p>
          <a:p>
            <a:r>
              <a:rPr lang="es-ES" dirty="0"/>
              <a:t>ISR</a:t>
            </a:r>
          </a:p>
          <a:p>
            <a:r>
              <a:rPr lang="es-ES" dirty="0"/>
              <a:t>ISO</a:t>
            </a:r>
            <a:endParaRPr lang="en-US" dirty="0"/>
          </a:p>
        </p:txBody>
      </p:sp>
      <p:pic>
        <p:nvPicPr>
          <p:cNvPr id="3074" name="Picture 2" descr="Impuestos del 3% para Google, Amazon y Facebook en Europa ...">
            <a:extLst>
              <a:ext uri="{FF2B5EF4-FFF2-40B4-BE49-F238E27FC236}">
                <a16:creationId xmlns:a16="http://schemas.microsoft.com/office/drawing/2014/main" id="{9B876F4B-40BA-4C1F-A619-B24ED5854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9983" y="3429000"/>
            <a:ext cx="5886450" cy="3314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9053098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</TotalTime>
  <Words>173</Words>
  <Application>Microsoft Office PowerPoint</Application>
  <PresentationFormat>Panorámica</PresentationFormat>
  <Paragraphs>86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Century Gothic</vt:lpstr>
      <vt:lpstr>Wingdings 3</vt:lpstr>
      <vt:lpstr>Espiral</vt:lpstr>
      <vt:lpstr>Niveles de informacion</vt:lpstr>
      <vt:lpstr>Presentación de PowerPoint</vt:lpstr>
      <vt:lpstr>Estados financieros</vt:lpstr>
      <vt:lpstr>Presentación de PowerPoint</vt:lpstr>
      <vt:lpstr>Considerar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Niveles de informacion</dc:title>
  <dc:creator>HP</dc:creator>
  <cp:lastModifiedBy>Edwin David Garcia</cp:lastModifiedBy>
  <cp:revision>6</cp:revision>
  <dcterms:created xsi:type="dcterms:W3CDTF">2019-06-18T16:27:25Z</dcterms:created>
  <dcterms:modified xsi:type="dcterms:W3CDTF">2022-06-16T15:08:07Z</dcterms:modified>
</cp:coreProperties>
</file>