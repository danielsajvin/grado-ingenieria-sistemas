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sldIdLst>
    <p:sldId id="256" r:id="rId2"/>
    <p:sldId id="257" r:id="rId3"/>
    <p:sldId id="258" r:id="rId4"/>
    <p:sldId id="259" r:id="rId5"/>
    <p:sldId id="260" r:id="rId6"/>
    <p:sldId id="271" r:id="rId7"/>
    <p:sldId id="261" r:id="rId8"/>
    <p:sldId id="262" r:id="rId9"/>
    <p:sldId id="263" r:id="rId10"/>
    <p:sldId id="264" r:id="rId11"/>
    <p:sldId id="265" r:id="rId12"/>
    <p:sldId id="266" r:id="rId13"/>
    <p:sldId id="267" r:id="rId14"/>
    <p:sldId id="268" r:id="rId15"/>
    <p:sldId id="269" r:id="rId16"/>
    <p:sldId id="270"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EF63C582-473C-4419-BCE4-1800BAF47FB6}" type="datetimeFigureOut">
              <a:rPr lang="es-GT" smtClean="0"/>
              <a:t>26/06/2021</a:t>
            </a:fld>
            <a:endParaRPr lang="es-GT"/>
          </a:p>
        </p:txBody>
      </p:sp>
      <p:sp>
        <p:nvSpPr>
          <p:cNvPr id="5" name="Footer Placeholder 4"/>
          <p:cNvSpPr>
            <a:spLocks noGrp="1"/>
          </p:cNvSpPr>
          <p:nvPr>
            <p:ph type="ftr" sz="quarter" idx="11"/>
          </p:nvPr>
        </p:nvSpPr>
        <p:spPr/>
        <p:txBody>
          <a:bodyPr/>
          <a:lstStyle/>
          <a:p>
            <a:endParaRPr lang="es-GT"/>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569200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F63C582-473C-4419-BCE4-1800BAF47FB6}" type="datetimeFigureOut">
              <a:rPr lang="es-GT" smtClean="0"/>
              <a:t>26/06/2021</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41373551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F63C582-473C-4419-BCE4-1800BAF47FB6}" type="datetimeFigureOut">
              <a:rPr lang="es-GT" smtClean="0"/>
              <a:t>26/06/2021</a:t>
            </a:fld>
            <a:endParaRPr lang="es-GT"/>
          </a:p>
        </p:txBody>
      </p:sp>
      <p:sp>
        <p:nvSpPr>
          <p:cNvPr id="5" name="Footer Placeholder 4"/>
          <p:cNvSpPr>
            <a:spLocks noGrp="1"/>
          </p:cNvSpPr>
          <p:nvPr>
            <p:ph type="ftr" sz="quarter" idx="11"/>
          </p:nvPr>
        </p:nvSpPr>
        <p:spPr/>
        <p:txBody>
          <a:bodyPr/>
          <a:lstStyle/>
          <a:p>
            <a:endParaRPr lang="es-GT"/>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34004214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F63C582-473C-4419-BCE4-1800BAF47FB6}" type="datetimeFigureOut">
              <a:rPr lang="es-GT" smtClean="0"/>
              <a:t>26/06/2021</a:t>
            </a:fld>
            <a:endParaRPr lang="es-GT"/>
          </a:p>
        </p:txBody>
      </p:sp>
      <p:sp>
        <p:nvSpPr>
          <p:cNvPr id="6" name="Footer Placeholder 5"/>
          <p:cNvSpPr>
            <a:spLocks noGrp="1"/>
          </p:cNvSpPr>
          <p:nvPr>
            <p:ph type="ftr" sz="quarter" idx="11"/>
          </p:nvPr>
        </p:nvSpPr>
        <p:spPr/>
        <p:txBody>
          <a:bodyPr/>
          <a:lstStyle/>
          <a:p>
            <a:endParaRPr lang="es-GT"/>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3521656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EF63C582-473C-4419-BCE4-1800BAF47FB6}" type="datetimeFigureOut">
              <a:rPr lang="es-GT" smtClean="0"/>
              <a:t>26/06/2021</a:t>
            </a:fld>
            <a:endParaRPr lang="es-GT"/>
          </a:p>
        </p:txBody>
      </p:sp>
      <p:sp>
        <p:nvSpPr>
          <p:cNvPr id="8" name="Footer Placeholder 7"/>
          <p:cNvSpPr>
            <a:spLocks noGrp="1"/>
          </p:cNvSpPr>
          <p:nvPr>
            <p:ph type="ftr" sz="quarter" idx="11"/>
          </p:nvPr>
        </p:nvSpPr>
        <p:spPr/>
        <p:txBody>
          <a:bodyPr/>
          <a:lstStyle/>
          <a:p>
            <a:endParaRPr lang="es-GT"/>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3309803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EF63C582-473C-4419-BCE4-1800BAF47FB6}" type="datetimeFigureOut">
              <a:rPr lang="es-GT" smtClean="0"/>
              <a:t>26/06/2021</a:t>
            </a:fld>
            <a:endParaRPr lang="es-GT"/>
          </a:p>
        </p:txBody>
      </p:sp>
      <p:sp>
        <p:nvSpPr>
          <p:cNvPr id="4" name="Footer Placeholder 3"/>
          <p:cNvSpPr>
            <a:spLocks noGrp="1"/>
          </p:cNvSpPr>
          <p:nvPr>
            <p:ph type="ftr" sz="quarter" idx="11"/>
          </p:nvPr>
        </p:nvSpPr>
        <p:spPr/>
        <p:txBody>
          <a:bodyPr/>
          <a:lstStyle/>
          <a:p>
            <a:endParaRPr lang="es-GT"/>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2076457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63C582-473C-4419-BCE4-1800BAF47FB6}" type="datetimeFigureOut">
              <a:rPr lang="es-GT" smtClean="0"/>
              <a:t>26/06/2021</a:t>
            </a:fld>
            <a:endParaRPr lang="es-GT"/>
          </a:p>
        </p:txBody>
      </p:sp>
      <p:sp>
        <p:nvSpPr>
          <p:cNvPr id="3" name="Footer Placeholder 2"/>
          <p:cNvSpPr>
            <a:spLocks noGrp="1"/>
          </p:cNvSpPr>
          <p:nvPr>
            <p:ph type="ftr" sz="quarter" idx="11"/>
          </p:nvPr>
        </p:nvSpPr>
        <p:spPr/>
        <p:txBody>
          <a:bodyPr/>
          <a:lstStyle/>
          <a:p>
            <a:endParaRPr lang="es-GT"/>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2955117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F63C582-473C-4419-BCE4-1800BAF47FB6}" type="datetimeFigureOut">
              <a:rPr lang="es-GT" smtClean="0"/>
              <a:t>26/06/2021</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1781143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EF63C582-473C-4419-BCE4-1800BAF47FB6}" type="datetimeFigureOut">
              <a:rPr lang="es-GT" smtClean="0"/>
              <a:t>26/06/2021</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7571766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F63C582-473C-4419-BCE4-1800BAF47FB6}" type="datetimeFigureOut">
              <a:rPr lang="es-GT" smtClean="0"/>
              <a:t>26/06/2021</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38050515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EF63C582-473C-4419-BCE4-1800BAF47FB6}" type="datetimeFigureOut">
              <a:rPr lang="es-GT" smtClean="0"/>
              <a:t>26/06/2021</a:t>
            </a:fld>
            <a:endParaRPr lang="es-GT"/>
          </a:p>
        </p:txBody>
      </p:sp>
      <p:sp>
        <p:nvSpPr>
          <p:cNvPr id="5" name="Footer Placeholder 4"/>
          <p:cNvSpPr>
            <a:spLocks noGrp="1"/>
          </p:cNvSpPr>
          <p:nvPr>
            <p:ph type="ftr" sz="quarter" idx="11"/>
          </p:nvPr>
        </p:nvSpPr>
        <p:spPr/>
        <p:txBody>
          <a:bodyPr/>
          <a:lstStyle/>
          <a:p>
            <a:endParaRPr lang="es-GT"/>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EB2B0A2A-6A48-492E-B616-2068D56C8E5C}" type="slidenum">
              <a:rPr lang="es-GT" smtClean="0"/>
              <a:t>‹Nº›</a:t>
            </a:fld>
            <a:endParaRPr lang="es-GT"/>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566246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EF63C582-473C-4419-BCE4-1800BAF47FB6}" type="datetimeFigureOut">
              <a:rPr lang="es-GT" smtClean="0"/>
              <a:t>26/06/2021</a:t>
            </a:fld>
            <a:endParaRPr lang="es-GT"/>
          </a:p>
        </p:txBody>
      </p:sp>
      <p:sp>
        <p:nvSpPr>
          <p:cNvPr id="6" name="Footer Placeholder 5"/>
          <p:cNvSpPr>
            <a:spLocks noGrp="1"/>
          </p:cNvSpPr>
          <p:nvPr>
            <p:ph type="ftr" sz="quarter" idx="11"/>
          </p:nvPr>
        </p:nvSpPr>
        <p:spPr/>
        <p:txBody>
          <a:bodyPr/>
          <a:lstStyle/>
          <a:p>
            <a:endParaRPr lang="es-GT"/>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2505065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EF63C582-473C-4419-BCE4-1800BAF47FB6}" type="datetimeFigureOut">
              <a:rPr lang="es-GT" smtClean="0"/>
              <a:t>26/06/2021</a:t>
            </a:fld>
            <a:endParaRPr lang="es-GT"/>
          </a:p>
        </p:txBody>
      </p:sp>
      <p:sp>
        <p:nvSpPr>
          <p:cNvPr id="6" name="Footer Placeholder 5"/>
          <p:cNvSpPr>
            <a:spLocks noGrp="1"/>
          </p:cNvSpPr>
          <p:nvPr>
            <p:ph type="ftr" sz="quarter" idx="11"/>
          </p:nvPr>
        </p:nvSpPr>
        <p:spPr/>
        <p:txBody>
          <a:bodyPr/>
          <a:lstStyle/>
          <a:p>
            <a:endParaRPr lang="es-GT"/>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EB2B0A2A-6A48-492E-B616-2068D56C8E5C}" type="slidenum">
              <a:rPr lang="es-GT" smtClean="0"/>
              <a:t>‹Nº›</a:t>
            </a:fld>
            <a:endParaRPr lang="es-GT"/>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29485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s-ES"/>
              <a:t>Haga clic para modificar el estilo de título del patrón</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a:t>Editar el estilo de texto del patrón</a:t>
            </a:r>
          </a:p>
        </p:txBody>
      </p:sp>
      <p:sp>
        <p:nvSpPr>
          <p:cNvPr id="5" name="Date Placeholder 4"/>
          <p:cNvSpPr>
            <a:spLocks noGrp="1"/>
          </p:cNvSpPr>
          <p:nvPr>
            <p:ph type="dt" sz="half" idx="10"/>
          </p:nvPr>
        </p:nvSpPr>
        <p:spPr/>
        <p:txBody>
          <a:bodyPr/>
          <a:lstStyle/>
          <a:p>
            <a:fld id="{EF63C582-473C-4419-BCE4-1800BAF47FB6}" type="datetimeFigureOut">
              <a:rPr lang="es-GT" smtClean="0"/>
              <a:t>26/06/2021</a:t>
            </a:fld>
            <a:endParaRPr lang="es-GT"/>
          </a:p>
        </p:txBody>
      </p:sp>
      <p:sp>
        <p:nvSpPr>
          <p:cNvPr id="6" name="Footer Placeholder 5"/>
          <p:cNvSpPr>
            <a:spLocks noGrp="1"/>
          </p:cNvSpPr>
          <p:nvPr>
            <p:ph type="ftr" sz="quarter" idx="11"/>
          </p:nvPr>
        </p:nvSpPr>
        <p:spPr/>
        <p:txBody>
          <a:bodyPr/>
          <a:lstStyle/>
          <a:p>
            <a:endParaRPr lang="es-GT"/>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42551895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F63C582-473C-4419-BCE4-1800BAF47FB6}" type="datetimeFigureOut">
              <a:rPr lang="es-GT" smtClean="0"/>
              <a:t>26/06/2021</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3388091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EF63C582-473C-4419-BCE4-1800BAF47FB6}" type="datetimeFigureOut">
              <a:rPr lang="es-GT" smtClean="0"/>
              <a:t>26/06/2021</a:t>
            </a:fld>
            <a:endParaRPr lang="es-GT"/>
          </a:p>
        </p:txBody>
      </p:sp>
      <p:sp>
        <p:nvSpPr>
          <p:cNvPr id="5" name="Footer Placeholder 4"/>
          <p:cNvSpPr>
            <a:spLocks noGrp="1"/>
          </p:cNvSpPr>
          <p:nvPr>
            <p:ph type="ftr" sz="quarter" idx="11"/>
          </p:nvPr>
        </p:nvSpPr>
        <p:spPr/>
        <p:txBody>
          <a:bodyPr/>
          <a:lstStyle/>
          <a:p>
            <a:endParaRPr lang="es-GT"/>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EB2B0A2A-6A48-492E-B616-2068D56C8E5C}" type="slidenum">
              <a:rPr lang="es-GT" smtClean="0"/>
              <a:t>‹Nº›</a:t>
            </a:fld>
            <a:endParaRPr lang="es-GT"/>
          </a:p>
        </p:txBody>
      </p:sp>
    </p:spTree>
    <p:extLst>
      <p:ext uri="{BB962C8B-B14F-4D97-AF65-F5344CB8AC3E}">
        <p14:creationId xmlns:p14="http://schemas.microsoft.com/office/powerpoint/2010/main" val="27627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EF63C582-473C-4419-BCE4-1800BAF47FB6}" type="datetimeFigureOut">
              <a:rPr lang="es-GT" smtClean="0"/>
              <a:t>26/06/2021</a:t>
            </a:fld>
            <a:endParaRPr lang="es-GT"/>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GT"/>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EB2B0A2A-6A48-492E-B616-2068D56C8E5C}" type="slidenum">
              <a:rPr lang="es-GT" smtClean="0"/>
              <a:t>‹Nº›</a:t>
            </a:fld>
            <a:endParaRPr lang="es-GT"/>
          </a:p>
        </p:txBody>
      </p:sp>
    </p:spTree>
    <p:extLst>
      <p:ext uri="{BB962C8B-B14F-4D97-AF65-F5344CB8AC3E}">
        <p14:creationId xmlns:p14="http://schemas.microsoft.com/office/powerpoint/2010/main" val="1665029044"/>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252536" y="1268760"/>
            <a:ext cx="8458200" cy="1470025"/>
          </a:xfrm>
        </p:spPr>
        <p:txBody>
          <a:bodyPr>
            <a:normAutofit fontScale="90000"/>
          </a:bodyPr>
          <a:lstStyle/>
          <a:p>
            <a:pPr algn="ctr"/>
            <a:r>
              <a:rPr lang="es-ES" b="1" dirty="0"/>
              <a:t>PRINCIPIO DE ORGANICIDAD</a:t>
            </a:r>
            <a:br>
              <a:rPr lang="es-GT" dirty="0"/>
            </a:br>
            <a:endParaRPr lang="es-GT" dirty="0"/>
          </a:p>
        </p:txBody>
      </p:sp>
      <p:sp>
        <p:nvSpPr>
          <p:cNvPr id="3" name="2 Subtítulo"/>
          <p:cNvSpPr>
            <a:spLocks noGrp="1"/>
          </p:cNvSpPr>
          <p:nvPr>
            <p:ph type="subTitle" idx="1"/>
          </p:nvPr>
        </p:nvSpPr>
        <p:spPr/>
        <p:txBody>
          <a:bodyPr/>
          <a:lstStyle/>
          <a:p>
            <a:endParaRPr lang="es-GT" dirty="0"/>
          </a:p>
        </p:txBody>
      </p:sp>
      <p:pic>
        <p:nvPicPr>
          <p:cNvPr id="1026" name="Picture 2">
            <a:extLst>
              <a:ext uri="{FF2B5EF4-FFF2-40B4-BE49-F238E27FC236}">
                <a16:creationId xmlns:a16="http://schemas.microsoft.com/office/drawing/2014/main" id="{F4D77354-4DA1-48E8-850A-B64C76683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0034" y="2372412"/>
            <a:ext cx="6667500" cy="3743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6098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331640" y="1083535"/>
            <a:ext cx="6840760" cy="1066800"/>
          </a:xfrm>
        </p:spPr>
        <p:txBody>
          <a:bodyPr/>
          <a:lstStyle/>
          <a:p>
            <a:r>
              <a:rPr lang="es-GT" b="1" dirty="0"/>
              <a:t>EL MUNDO EN EQUILIBRIO</a:t>
            </a:r>
            <a:r>
              <a:rPr lang="es-GT" dirty="0"/>
              <a:t> </a:t>
            </a:r>
          </a:p>
        </p:txBody>
      </p:sp>
      <p:sp>
        <p:nvSpPr>
          <p:cNvPr id="3" name="2 Marcador de contenido"/>
          <p:cNvSpPr>
            <a:spLocks noGrp="1"/>
          </p:cNvSpPr>
          <p:nvPr>
            <p:ph idx="1"/>
          </p:nvPr>
        </p:nvSpPr>
        <p:spPr>
          <a:xfrm>
            <a:off x="1835697" y="2133600"/>
            <a:ext cx="6698704" cy="3777622"/>
          </a:xfrm>
        </p:spPr>
        <p:txBody>
          <a:bodyPr/>
          <a:lstStyle/>
          <a:p>
            <a:pPr marL="109728" indent="0" algn="just">
              <a:buNone/>
            </a:pPr>
            <a:r>
              <a:rPr lang="es-GT" dirty="0"/>
              <a:t>El mundo puede ser representado como un sistema (de hecho es un macrosistema) o como una colección de muchos  sistemas que de una forma u otra actúan y se interrelacionan unos con otros dentro de una realidad dinámica. </a:t>
            </a:r>
          </a:p>
          <a:p>
            <a:endParaRPr lang="es-GT" dirty="0"/>
          </a:p>
        </p:txBody>
      </p:sp>
    </p:spTree>
    <p:extLst>
      <p:ext uri="{BB962C8B-B14F-4D97-AF65-F5344CB8AC3E}">
        <p14:creationId xmlns:p14="http://schemas.microsoft.com/office/powerpoint/2010/main" val="36279454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611560" y="1772816"/>
            <a:ext cx="8229600" cy="4325112"/>
          </a:xfrm>
        </p:spPr>
        <p:txBody>
          <a:bodyPr>
            <a:normAutofit/>
          </a:bodyPr>
          <a:lstStyle/>
          <a:p>
            <a:pPr marL="109728" indent="0" algn="just">
              <a:buNone/>
            </a:pPr>
            <a:r>
              <a:rPr lang="es-GT" dirty="0"/>
              <a:t>Ejemplo: </a:t>
            </a:r>
          </a:p>
          <a:p>
            <a:pPr marL="109728" indent="0" algn="just">
              <a:buNone/>
            </a:pPr>
            <a:r>
              <a:rPr lang="es-GT" dirty="0"/>
              <a:t>Las acciones que toma el gobierno de un país repercuten, directa o indirectamente en la conducta de otros países y regiones que en principios parecerían totalmente aislados, como en el caso donde las políticas económicas de algún país europeo y seguidos por otro, terminan con la devaluación del signo monetario de un país ubicado en otro continente. </a:t>
            </a:r>
          </a:p>
          <a:p>
            <a:endParaRPr lang="es-GT" dirty="0"/>
          </a:p>
        </p:txBody>
      </p:sp>
    </p:spTree>
    <p:extLst>
      <p:ext uri="{BB962C8B-B14F-4D97-AF65-F5344CB8AC3E}">
        <p14:creationId xmlns:p14="http://schemas.microsoft.com/office/powerpoint/2010/main" val="13243653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539552" y="1628800"/>
            <a:ext cx="8229600" cy="4325112"/>
          </a:xfrm>
        </p:spPr>
        <p:txBody>
          <a:bodyPr/>
          <a:lstStyle/>
          <a:p>
            <a:pPr marL="109728" indent="0" algn="just">
              <a:buNone/>
            </a:pPr>
            <a:r>
              <a:rPr lang="es-GT" dirty="0"/>
              <a:t>A pesar de toda esa enorme dinámica de fuerza, de acciones y reacciones entre los diferentes sistemas no existe un caos sino un cierto equilibrio. </a:t>
            </a:r>
          </a:p>
          <a:p>
            <a:pPr marL="109728" indent="0" algn="just">
              <a:buNone/>
            </a:pPr>
            <a:endParaRPr lang="es-GT" dirty="0"/>
          </a:p>
          <a:p>
            <a:pPr marL="109728" indent="0" algn="just">
              <a:buNone/>
            </a:pPr>
            <a:endParaRPr lang="es-GT" dirty="0"/>
          </a:p>
          <a:p>
            <a:pPr marL="109728" indent="0" algn="just">
              <a:buNone/>
            </a:pPr>
            <a:endParaRPr lang="es-GT" dirty="0"/>
          </a:p>
          <a:p>
            <a:pPr marL="109728" indent="0" algn="just">
              <a:buNone/>
            </a:pPr>
            <a:endParaRPr lang="es-GT" dirty="0"/>
          </a:p>
          <a:p>
            <a:pPr marL="109728" indent="0" algn="just">
              <a:buNone/>
            </a:pPr>
            <a:endParaRPr lang="es-GT" dirty="0"/>
          </a:p>
          <a:p>
            <a:pPr marL="109728" indent="0" algn="just">
              <a:buNone/>
            </a:pPr>
            <a:r>
              <a:rPr lang="es-GT" dirty="0"/>
              <a:t>El fenómeno de la acción equilibrada se presenta en dos conceptos diferentes.</a:t>
            </a:r>
          </a:p>
          <a:p>
            <a:endParaRPr lang="es-GT" dirty="0"/>
          </a:p>
        </p:txBody>
      </p:sp>
      <p:pic>
        <p:nvPicPr>
          <p:cNvPr id="2052" name="Picture 4">
            <a:extLst>
              <a:ext uri="{FF2B5EF4-FFF2-40B4-BE49-F238E27FC236}">
                <a16:creationId xmlns:a16="http://schemas.microsoft.com/office/drawing/2014/main" id="{F852291D-008B-4509-823A-264C31BA9D5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83768" y="2323145"/>
            <a:ext cx="3931929" cy="2211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07407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755576" y="1052736"/>
            <a:ext cx="8229600" cy="1066800"/>
          </a:xfrm>
        </p:spPr>
        <p:txBody>
          <a:bodyPr>
            <a:normAutofit fontScale="90000"/>
          </a:bodyPr>
          <a:lstStyle/>
          <a:p>
            <a:r>
              <a:rPr lang="es-GT" b="1" dirty="0"/>
              <a:t>La explicación newtoniana.</a:t>
            </a:r>
            <a:r>
              <a:rPr lang="es-GT" dirty="0"/>
              <a:t> </a:t>
            </a:r>
            <a:br>
              <a:rPr lang="es-GT" dirty="0"/>
            </a:br>
            <a:endParaRPr lang="es-GT" dirty="0"/>
          </a:p>
        </p:txBody>
      </p:sp>
      <p:sp>
        <p:nvSpPr>
          <p:cNvPr id="3" name="2 Marcador de contenido"/>
          <p:cNvSpPr>
            <a:spLocks noGrp="1"/>
          </p:cNvSpPr>
          <p:nvPr>
            <p:ph idx="1"/>
          </p:nvPr>
        </p:nvSpPr>
        <p:spPr>
          <a:xfrm>
            <a:off x="539552" y="1759496"/>
            <a:ext cx="8229600" cy="4325112"/>
          </a:xfrm>
        </p:spPr>
        <p:txBody>
          <a:bodyPr>
            <a:normAutofit fontScale="92500" lnSpcReduction="20000"/>
          </a:bodyPr>
          <a:lstStyle/>
          <a:p>
            <a:pPr marL="109728" indent="0" algn="just">
              <a:buNone/>
            </a:pPr>
            <a:r>
              <a:rPr lang="es-GT" dirty="0"/>
              <a:t>Isaac Newton definió varias leyes sobre los movimientos o mecánicas. </a:t>
            </a:r>
          </a:p>
          <a:p>
            <a:pPr marL="109728" indent="0" algn="just">
              <a:buNone/>
            </a:pPr>
            <a:br>
              <a:rPr lang="es-GT" dirty="0"/>
            </a:br>
            <a:r>
              <a:rPr lang="es-GT" dirty="0"/>
              <a:t>La primera ley señala que cada objeto o cuerpo persiste en un estado de descanso o inmóvil.</a:t>
            </a:r>
          </a:p>
          <a:p>
            <a:pPr marL="109728" indent="0" algn="just">
              <a:buNone/>
            </a:pPr>
            <a:r>
              <a:rPr lang="es-GT" dirty="0"/>
              <a:t>Segunda ley. </a:t>
            </a:r>
          </a:p>
          <a:p>
            <a:pPr marL="109728" indent="0" algn="just">
              <a:buNone/>
            </a:pPr>
            <a:r>
              <a:rPr lang="es-GT" dirty="0"/>
              <a:t> </a:t>
            </a:r>
            <a:br>
              <a:rPr lang="es-GT" dirty="0"/>
            </a:br>
            <a:r>
              <a:rPr lang="es-GT" dirty="0"/>
              <a:t>Se dice que la tierra esta compuesta por millones de subsistemas y que en ningún momento parece estar en estado de quietud. </a:t>
            </a:r>
          </a:p>
          <a:p>
            <a:pPr marL="109728" indent="0" algn="just">
              <a:buNone/>
            </a:pPr>
            <a:endParaRPr lang="es-GT" dirty="0"/>
          </a:p>
          <a:p>
            <a:pPr marL="109728" indent="0" algn="just">
              <a:buNone/>
            </a:pPr>
            <a:r>
              <a:rPr lang="es-GT" dirty="0"/>
              <a:t>Esto se debe prácticamente a la tercera ley de Newton donde a cada acción le sigue una reacción igual. </a:t>
            </a:r>
          </a:p>
          <a:p>
            <a:pPr marL="109728" indent="0" algn="just">
              <a:buNone/>
            </a:pPr>
            <a:endParaRPr lang="es-GT" dirty="0"/>
          </a:p>
          <a:p>
            <a:pPr marL="109728" indent="0" algn="just">
              <a:buNone/>
            </a:pPr>
            <a:r>
              <a:rPr lang="es-GT" dirty="0"/>
              <a:t>Equilibrio estático: es cuando un sistema permanece sin cambios a través del tiempo, indicando que el promedio de las condiciones internas no cambia. </a:t>
            </a:r>
          </a:p>
          <a:p>
            <a:endParaRPr lang="es-GT" dirty="0"/>
          </a:p>
        </p:txBody>
      </p:sp>
    </p:spTree>
    <p:extLst>
      <p:ext uri="{BB962C8B-B14F-4D97-AF65-F5344CB8AC3E}">
        <p14:creationId xmlns:p14="http://schemas.microsoft.com/office/powerpoint/2010/main" val="347690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2DC903-AAB4-4BA9-A544-ADC5DBB4A5F1}"/>
              </a:ext>
            </a:extLst>
          </p:cNvPr>
          <p:cNvSpPr>
            <a:spLocks noGrp="1"/>
          </p:cNvSpPr>
          <p:nvPr>
            <p:ph type="title"/>
          </p:nvPr>
        </p:nvSpPr>
        <p:spPr/>
        <p:txBody>
          <a:bodyPr/>
          <a:lstStyle/>
          <a:p>
            <a:endParaRPr lang="en-US"/>
          </a:p>
        </p:txBody>
      </p:sp>
      <p:pic>
        <p:nvPicPr>
          <p:cNvPr id="3074" name="Picture 2" descr="Leyes de Newton - Escolar - ABC Color">
            <a:extLst>
              <a:ext uri="{FF2B5EF4-FFF2-40B4-BE49-F238E27FC236}">
                <a16:creationId xmlns:a16="http://schemas.microsoft.com/office/drawing/2014/main" id="{9E3A01A8-F3C7-4224-B66B-2E4E4BE2BFC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730085" y="1264555"/>
            <a:ext cx="7840305" cy="46430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80860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403648" y="260648"/>
            <a:ext cx="5616624" cy="1066800"/>
          </a:xfrm>
        </p:spPr>
        <p:txBody>
          <a:bodyPr>
            <a:normAutofit fontScale="90000"/>
          </a:bodyPr>
          <a:lstStyle/>
          <a:p>
            <a:r>
              <a:rPr lang="es-GT" b="1" dirty="0"/>
              <a:t>Teoría general de sistemas.</a:t>
            </a:r>
            <a:r>
              <a:rPr lang="es-GT" dirty="0"/>
              <a:t> </a:t>
            </a:r>
            <a:br>
              <a:rPr lang="es-GT" dirty="0"/>
            </a:br>
            <a:endParaRPr lang="es-GT" dirty="0"/>
          </a:p>
        </p:txBody>
      </p:sp>
      <p:sp>
        <p:nvSpPr>
          <p:cNvPr id="3" name="2 Marcador de contenido"/>
          <p:cNvSpPr>
            <a:spLocks noGrp="1"/>
          </p:cNvSpPr>
          <p:nvPr>
            <p:ph idx="1"/>
          </p:nvPr>
        </p:nvSpPr>
        <p:spPr>
          <a:xfrm>
            <a:off x="611560" y="1304398"/>
            <a:ext cx="8229600" cy="5256584"/>
          </a:xfrm>
        </p:spPr>
        <p:txBody>
          <a:bodyPr>
            <a:normAutofit fontScale="77500" lnSpcReduction="20000"/>
          </a:bodyPr>
          <a:lstStyle/>
          <a:p>
            <a:pPr marL="109728" indent="0" algn="just">
              <a:buNone/>
            </a:pPr>
            <a:r>
              <a:rPr lang="es-GT" sz="2100" dirty="0" err="1"/>
              <a:t>Lazslo</a:t>
            </a:r>
            <a:r>
              <a:rPr lang="es-GT" sz="2100" dirty="0"/>
              <a:t>, plantea una definición de sinergia desde el punto de vista de variabilidad del sistema total en relación a la variabilidad de sus partes, mediante la siguiente ley:</a:t>
            </a:r>
          </a:p>
          <a:p>
            <a:pPr marL="109728" indent="0" algn="just">
              <a:buNone/>
            </a:pPr>
            <a:br>
              <a:rPr lang="es-GT" sz="2100" dirty="0"/>
            </a:br>
            <a:r>
              <a:rPr lang="es-GT" sz="2100" dirty="0" err="1"/>
              <a:t>Vt</a:t>
            </a:r>
            <a:r>
              <a:rPr lang="es-GT" sz="2100" dirty="0"/>
              <a:t> &lt; </a:t>
            </a:r>
            <a:r>
              <a:rPr lang="es-GT" sz="2100" dirty="0" err="1"/>
              <a:t>Va+Vb</a:t>
            </a:r>
            <a:r>
              <a:rPr lang="es-GT" sz="2100" dirty="0"/>
              <a:t>+......+</a:t>
            </a:r>
            <a:r>
              <a:rPr lang="es-GT" sz="2100" dirty="0" err="1"/>
              <a:t>Vn</a:t>
            </a:r>
            <a:endParaRPr lang="es-GT" sz="2100" dirty="0"/>
          </a:p>
          <a:p>
            <a:pPr marL="109728" indent="0">
              <a:buNone/>
            </a:pPr>
            <a:endParaRPr lang="es-ES" sz="2100" dirty="0"/>
          </a:p>
          <a:p>
            <a:pPr marL="109728" indent="0" algn="just">
              <a:buNone/>
            </a:pPr>
            <a:r>
              <a:rPr lang="es-ES" sz="2100" dirty="0"/>
              <a:t>Lo que expresado en palabras significa que un objeto es un sistema cuando la variabilidad que experimenta la totalidad es menor que la suma de las variabilidades de cada una de sus partes o componentes.</a:t>
            </a:r>
            <a:endParaRPr lang="es-GT" sz="2100" dirty="0"/>
          </a:p>
          <a:p>
            <a:pPr marL="109728" indent="0" algn="just">
              <a:buNone/>
            </a:pPr>
            <a:endParaRPr lang="es-ES" sz="2100" dirty="0"/>
          </a:p>
          <a:p>
            <a:pPr marL="109728" indent="0" algn="just">
              <a:buNone/>
            </a:pPr>
            <a:r>
              <a:rPr lang="es-ES" sz="2100" dirty="0"/>
              <a:t>Los subsistemas tienen mecanismos equilibrantes que hacen:</a:t>
            </a:r>
            <a:r>
              <a:rPr lang="es-GT" sz="2100" dirty="0"/>
              <a:t> </a:t>
            </a:r>
          </a:p>
          <a:p>
            <a:pPr marL="109728" indent="0" algn="just">
              <a:buNone/>
            </a:pPr>
            <a:endParaRPr lang="es-GT" sz="2100" dirty="0">
              <a:solidFill>
                <a:schemeClr val="tx1"/>
              </a:solidFill>
            </a:endParaRPr>
          </a:p>
          <a:p>
            <a:pPr marL="109728" indent="0" algn="just">
              <a:buNone/>
            </a:pPr>
            <a:r>
              <a:rPr lang="es-ES" sz="2100" dirty="0">
                <a:solidFill>
                  <a:schemeClr val="tx1"/>
                </a:solidFill>
              </a:rPr>
              <a:t>Los mecanismos de los sistemas mayores absorben las variaciones de los sistemas pequeños.</a:t>
            </a:r>
          </a:p>
          <a:p>
            <a:pPr marL="109728" indent="0" algn="just">
              <a:buNone/>
            </a:pPr>
            <a:endParaRPr lang="es-ES" sz="2100" dirty="0"/>
          </a:p>
          <a:p>
            <a:pPr marL="109728" indent="0" algn="just">
              <a:buNone/>
            </a:pPr>
            <a:r>
              <a:rPr lang="es-ES" sz="2100" dirty="0">
                <a:solidFill>
                  <a:schemeClr val="tx1"/>
                </a:solidFill>
              </a:rPr>
              <a:t>los variaciones no absorbidas representan el desequilibrio.</a:t>
            </a:r>
          </a:p>
          <a:p>
            <a:pPr marL="109728" indent="0" algn="just">
              <a:buNone/>
            </a:pPr>
            <a:endParaRPr lang="es-GT" sz="2100" dirty="0">
              <a:solidFill>
                <a:schemeClr val="tx1"/>
              </a:solidFill>
            </a:endParaRPr>
          </a:p>
          <a:p>
            <a:pPr marL="109728" indent="0" algn="just">
              <a:buNone/>
            </a:pPr>
            <a:r>
              <a:rPr lang="es-ES" sz="2100" dirty="0"/>
              <a:t>Mecanismos Equilibrantes = Mecanismos Homeostáticos</a:t>
            </a:r>
            <a:endParaRPr lang="es-GT" sz="2100" dirty="0"/>
          </a:p>
          <a:p>
            <a:pPr marL="109728" indent="0" algn="just">
              <a:buNone/>
            </a:pPr>
            <a:endParaRPr lang="es-GT" dirty="0"/>
          </a:p>
          <a:p>
            <a:pPr marL="109728" indent="0">
              <a:buNone/>
            </a:pPr>
            <a:endParaRPr lang="es-GT" dirty="0"/>
          </a:p>
        </p:txBody>
      </p:sp>
    </p:spTree>
    <p:extLst>
      <p:ext uri="{BB962C8B-B14F-4D97-AF65-F5344CB8AC3E}">
        <p14:creationId xmlns:p14="http://schemas.microsoft.com/office/powerpoint/2010/main" val="12818938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87624" y="404664"/>
            <a:ext cx="8229600" cy="1066800"/>
          </a:xfrm>
        </p:spPr>
        <p:txBody>
          <a:bodyPr>
            <a:normAutofit fontScale="90000"/>
          </a:bodyPr>
          <a:lstStyle/>
          <a:p>
            <a:r>
              <a:rPr lang="es-GT" b="1" i="1" dirty="0"/>
              <a:t>EVOLUCION EN EQUILIBRIO</a:t>
            </a:r>
            <a:r>
              <a:rPr lang="es-GT" dirty="0"/>
              <a:t> </a:t>
            </a:r>
            <a:br>
              <a:rPr lang="es-GT" dirty="0"/>
            </a:br>
            <a:endParaRPr lang="es-GT" dirty="0"/>
          </a:p>
        </p:txBody>
      </p:sp>
      <p:sp>
        <p:nvSpPr>
          <p:cNvPr id="3" name="2 Marcador de contenido"/>
          <p:cNvSpPr>
            <a:spLocks noGrp="1"/>
          </p:cNvSpPr>
          <p:nvPr>
            <p:ph idx="1"/>
          </p:nvPr>
        </p:nvSpPr>
        <p:spPr>
          <a:xfrm>
            <a:off x="914400" y="1266444"/>
            <a:ext cx="8229600" cy="4325112"/>
          </a:xfrm>
        </p:spPr>
        <p:txBody>
          <a:bodyPr/>
          <a:lstStyle/>
          <a:p>
            <a:pPr marL="109728" indent="0" algn="just">
              <a:buNone/>
            </a:pPr>
            <a:r>
              <a:rPr lang="es-GT" dirty="0"/>
              <a:t>Cuando un sistema esta en un estado permanente de equilibrio estático, no es inerte.</a:t>
            </a:r>
          </a:p>
          <a:p>
            <a:pPr marL="109728" indent="0" algn="just">
              <a:buNone/>
            </a:pPr>
            <a:r>
              <a:rPr lang="es-GT" dirty="0"/>
              <a:t> </a:t>
            </a:r>
            <a:br>
              <a:rPr lang="es-GT" dirty="0"/>
            </a:br>
            <a:r>
              <a:rPr lang="es-GT" dirty="0"/>
              <a:t>En el corto plazo, las acciones y reacciones que se suceden dentro del sistema no parecen reflejadas en el carácter general del sistema: pero son fuerzas latentes que tratan de llevarlo a un cambio, aunque este sea imperceptible</a:t>
            </a:r>
          </a:p>
        </p:txBody>
      </p:sp>
      <p:pic>
        <p:nvPicPr>
          <p:cNvPr id="4100" name="Picture 4" descr="EL UNIVERSO Y LA RELACION CON NUESTRA EVOLUCIÓN ESPIRITUAL | Arbol ...">
            <a:extLst>
              <a:ext uri="{FF2B5EF4-FFF2-40B4-BE49-F238E27FC236}">
                <a16:creationId xmlns:a16="http://schemas.microsoft.com/office/drawing/2014/main" id="{3D8859DC-B240-4DD8-8C75-A23E2D2432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91250" y="3429000"/>
            <a:ext cx="2952750" cy="3438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9193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GT" b="1" i="1" dirty="0"/>
              <a:t>ORGANICIDAD</a:t>
            </a:r>
            <a:r>
              <a:rPr lang="es-GT" dirty="0"/>
              <a:t> </a:t>
            </a:r>
            <a:br>
              <a:rPr lang="es-GT" dirty="0"/>
            </a:br>
            <a:endParaRPr lang="es-GT" dirty="0"/>
          </a:p>
        </p:txBody>
      </p:sp>
      <p:sp>
        <p:nvSpPr>
          <p:cNvPr id="3" name="2 Marcador de contenido"/>
          <p:cNvSpPr>
            <a:spLocks noGrp="1"/>
          </p:cNvSpPr>
          <p:nvPr>
            <p:ph idx="1"/>
          </p:nvPr>
        </p:nvSpPr>
        <p:spPr/>
        <p:txBody>
          <a:bodyPr/>
          <a:lstStyle/>
          <a:p>
            <a:pPr marL="109728" indent="0" algn="just">
              <a:buNone/>
            </a:pPr>
            <a:r>
              <a:rPr lang="es-GT" dirty="0"/>
              <a:t>Principio de la Organicidad:</a:t>
            </a:r>
          </a:p>
          <a:p>
            <a:pPr marL="109728" indent="0" algn="just">
              <a:buNone/>
            </a:pPr>
            <a:r>
              <a:rPr lang="es-GT" dirty="0"/>
              <a:t> </a:t>
            </a:r>
            <a:br>
              <a:rPr lang="es-GT" dirty="0"/>
            </a:br>
            <a:r>
              <a:rPr lang="es-GT" dirty="0"/>
              <a:t>Cuando un sistema tiende a destruirse, este es el principio de la entropía siempre creciente.  </a:t>
            </a:r>
          </a:p>
          <a:p>
            <a:pPr marL="109728" indent="0" algn="just">
              <a:buNone/>
            </a:pPr>
            <a:r>
              <a:rPr lang="es-GT" dirty="0"/>
              <a:t>Puede pasar al caos o a una evolución que tiende a aumentar el grado de organización que posee el sistema. </a:t>
            </a:r>
          </a:p>
          <a:p>
            <a:endParaRPr lang="es-GT" dirty="0"/>
          </a:p>
        </p:txBody>
      </p:sp>
    </p:spTree>
    <p:extLst>
      <p:ext uri="{BB962C8B-B14F-4D97-AF65-F5344CB8AC3E}">
        <p14:creationId xmlns:p14="http://schemas.microsoft.com/office/powerpoint/2010/main" val="617348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GT" b="1" i="1" dirty="0"/>
              <a:t>Según KENNETH BOULDING: </a:t>
            </a:r>
            <a:endParaRPr lang="es-GT" dirty="0"/>
          </a:p>
        </p:txBody>
      </p:sp>
      <p:sp>
        <p:nvSpPr>
          <p:cNvPr id="3" name="2 Marcador de contenido"/>
          <p:cNvSpPr>
            <a:spLocks noGrp="1"/>
          </p:cNvSpPr>
          <p:nvPr>
            <p:ph idx="1"/>
          </p:nvPr>
        </p:nvSpPr>
        <p:spPr/>
        <p:txBody>
          <a:bodyPr/>
          <a:lstStyle/>
          <a:p>
            <a:pPr marL="109728" indent="0" algn="just">
              <a:buNone/>
            </a:pPr>
            <a:r>
              <a:rPr lang="es-GT" b="1" i="1" dirty="0"/>
              <a:t>"</a:t>
            </a:r>
            <a:r>
              <a:rPr lang="es-GT" dirty="0"/>
              <a:t>En la imagen de la historia del universo, parece estar operando dos fuerzas o tendencias opuestas. Por una parte  se tiene la tendencia representada por la 2° ley de la termodinámica. Por la otra,   se observa claramente a través de los registros de la historia, una tendencia diferente. Esta es la tendencia al surgimiento de la organización</a:t>
            </a:r>
            <a:r>
              <a:rPr lang="es-GT" b="1" i="1" dirty="0"/>
              <a:t>".</a:t>
            </a:r>
            <a:r>
              <a:rPr lang="es-GT" dirty="0"/>
              <a:t> </a:t>
            </a:r>
          </a:p>
          <a:p>
            <a:endParaRPr lang="es-GT" dirty="0"/>
          </a:p>
        </p:txBody>
      </p:sp>
    </p:spTree>
    <p:extLst>
      <p:ext uri="{BB962C8B-B14F-4D97-AF65-F5344CB8AC3E}">
        <p14:creationId xmlns:p14="http://schemas.microsoft.com/office/powerpoint/2010/main" val="3808553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GT" b="1" i="1" dirty="0"/>
              <a:t>Según WOLFANG WIESE: </a:t>
            </a:r>
            <a:endParaRPr lang="es-GT" dirty="0"/>
          </a:p>
        </p:txBody>
      </p:sp>
      <p:sp>
        <p:nvSpPr>
          <p:cNvPr id="3" name="2 Marcador de contenido"/>
          <p:cNvSpPr>
            <a:spLocks noGrp="1"/>
          </p:cNvSpPr>
          <p:nvPr>
            <p:ph idx="1"/>
          </p:nvPr>
        </p:nvSpPr>
        <p:spPr/>
        <p:txBody>
          <a:bodyPr/>
          <a:lstStyle/>
          <a:p>
            <a:pPr marL="109728" indent="0" algn="just">
              <a:buNone/>
            </a:pPr>
            <a:r>
              <a:rPr lang="es-GT" b="1" i="1" dirty="0"/>
              <a:t>"</a:t>
            </a:r>
            <a:r>
              <a:rPr lang="es-GT" dirty="0"/>
              <a:t>Plantea que junto a las conocidas leyes de la energía debería existir una tercera ley “La ley de la organización”. Señala que la organización de un sistema es un principio que se puede referir a fuerza o materia “pero que, por sí, es una magnitud independiente, ni energía ni sustancia, sino algo tercero expresado por la medida y el modo de orden.</a:t>
            </a:r>
            <a:r>
              <a:rPr lang="es-GT" b="1" i="1" dirty="0"/>
              <a:t>"</a:t>
            </a:r>
            <a:endParaRPr lang="es-GT" dirty="0"/>
          </a:p>
        </p:txBody>
      </p:sp>
    </p:spTree>
    <p:extLst>
      <p:ext uri="{BB962C8B-B14F-4D97-AF65-F5344CB8AC3E}">
        <p14:creationId xmlns:p14="http://schemas.microsoft.com/office/powerpoint/2010/main" val="2088764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83568" y="1298639"/>
            <a:ext cx="8229600" cy="1066800"/>
          </a:xfrm>
        </p:spPr>
        <p:txBody>
          <a:bodyPr/>
          <a:lstStyle/>
          <a:p>
            <a:r>
              <a:rPr lang="es-GT" b="1" i="1" dirty="0"/>
              <a:t>HOMEOSTASIS</a:t>
            </a:r>
            <a:endParaRPr lang="es-GT" dirty="0"/>
          </a:p>
        </p:txBody>
      </p:sp>
      <p:sp>
        <p:nvSpPr>
          <p:cNvPr id="3" name="2 Marcador de contenido"/>
          <p:cNvSpPr>
            <a:spLocks noGrp="1"/>
          </p:cNvSpPr>
          <p:nvPr>
            <p:ph idx="1"/>
          </p:nvPr>
        </p:nvSpPr>
        <p:spPr>
          <a:xfrm>
            <a:off x="683568" y="2348880"/>
            <a:ext cx="8229600" cy="4325112"/>
          </a:xfrm>
        </p:spPr>
        <p:txBody>
          <a:bodyPr>
            <a:normAutofit/>
          </a:bodyPr>
          <a:lstStyle/>
          <a:p>
            <a:pPr marL="109728" indent="0" algn="just">
              <a:buNone/>
            </a:pPr>
            <a:r>
              <a:rPr lang="es-GT" dirty="0"/>
              <a:t>Es un mecanismo que poseen los sistemas abiertos para llegar a mantener el equilibrio, una estabilidad.</a:t>
            </a:r>
          </a:p>
          <a:p>
            <a:pPr marL="109728" indent="0" algn="just">
              <a:buNone/>
            </a:pPr>
            <a:r>
              <a:rPr lang="es-GT" dirty="0"/>
              <a:t> </a:t>
            </a:r>
            <a:br>
              <a:rPr lang="es-GT" dirty="0"/>
            </a:br>
            <a:r>
              <a:rPr lang="es-GT" dirty="0"/>
              <a:t>En un sistema filosófico cuando dada una perturbación moderada que tiende a desplazar al sistema de sus valores normales, sus partes reaccionan e interactúan de tal modo que el efecto negativo de la perturbación disminuye. </a:t>
            </a:r>
          </a:p>
          <a:p>
            <a:pPr marL="109728" indent="0" algn="just">
              <a:buNone/>
            </a:pPr>
            <a:endParaRPr lang="es-GT" dirty="0"/>
          </a:p>
          <a:p>
            <a:pPr marL="109728" indent="0" algn="just">
              <a:buNone/>
            </a:pPr>
            <a:r>
              <a:rPr lang="es-GT" dirty="0"/>
              <a:t>Los mecanismos homeostáticos sugieren la existencia en el organismo filosófico de una organización que no se encuentra regulada por la voluntad (en el caso del hombre) sino que es independiente de ella. Forma parte del sistema autonómico. </a:t>
            </a:r>
          </a:p>
          <a:p>
            <a:endParaRPr lang="es-GT" dirty="0"/>
          </a:p>
        </p:txBody>
      </p:sp>
    </p:spTree>
    <p:extLst>
      <p:ext uri="{BB962C8B-B14F-4D97-AF65-F5344CB8AC3E}">
        <p14:creationId xmlns:p14="http://schemas.microsoft.com/office/powerpoint/2010/main" val="6056051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123607" y="1196752"/>
            <a:ext cx="8229600" cy="1066800"/>
          </a:xfrm>
        </p:spPr>
        <p:txBody>
          <a:bodyPr/>
          <a:lstStyle/>
          <a:p>
            <a:r>
              <a:rPr lang="es-GT" b="1" i="1" dirty="0"/>
              <a:t>HOMEOSTATO</a:t>
            </a:r>
            <a:endParaRPr lang="es-GT" dirty="0"/>
          </a:p>
        </p:txBody>
      </p:sp>
      <p:sp>
        <p:nvSpPr>
          <p:cNvPr id="3" name="2 Marcador de contenido"/>
          <p:cNvSpPr>
            <a:spLocks noGrp="1"/>
          </p:cNvSpPr>
          <p:nvPr>
            <p:ph idx="1"/>
          </p:nvPr>
        </p:nvSpPr>
        <p:spPr/>
        <p:txBody>
          <a:bodyPr>
            <a:normAutofit fontScale="92500" lnSpcReduction="20000"/>
          </a:bodyPr>
          <a:lstStyle/>
          <a:p>
            <a:pPr marL="109728" indent="0" algn="just">
              <a:buNone/>
            </a:pPr>
            <a:r>
              <a:rPr lang="es-GT" dirty="0"/>
              <a:t>El Homeóstato es una máquina sujeta a la definición de ese sistema. Su comportamiento tiende primero a ajustarse a la situación externa. Se enfrenta con lo que hasta el momento es un problema no especificado y luego lo resuelve mediante la búsqueda de su estabilidad. </a:t>
            </a:r>
          </a:p>
          <a:p>
            <a:pPr marL="109728" indent="0" algn="just">
              <a:buNone/>
            </a:pPr>
            <a:endParaRPr lang="es-GT" dirty="0"/>
          </a:p>
          <a:p>
            <a:pPr marL="109728" indent="0" algn="just">
              <a:buNone/>
            </a:pPr>
            <a:r>
              <a:rPr lang="es-GT" dirty="0"/>
              <a:t>En este sentido esa máquina creada por el hombre parece ir en búsqueda de una meta, aunque detrás de ello aparentemente no exista racionalidad alguna. Así la máquina se auto organiza. </a:t>
            </a:r>
          </a:p>
          <a:p>
            <a:pPr marL="109728" indent="0" algn="just">
              <a:buNone/>
            </a:pPr>
            <a:endParaRPr lang="es-GT" dirty="0"/>
          </a:p>
          <a:p>
            <a:pPr marL="109728" indent="0" algn="just">
              <a:buNone/>
            </a:pPr>
            <a:r>
              <a:rPr lang="es-GT" dirty="0"/>
              <a:t>La idea del “homeóstato” para Ashby no era otra cosa que tratar de demostrar el comportamiento de un sistema ultra estable en la búsqueda de su equilibrio. </a:t>
            </a:r>
          </a:p>
          <a:p>
            <a:endParaRPr lang="es-GT" dirty="0"/>
          </a:p>
        </p:txBody>
      </p:sp>
    </p:spTree>
    <p:extLst>
      <p:ext uri="{BB962C8B-B14F-4D97-AF65-F5344CB8AC3E}">
        <p14:creationId xmlns:p14="http://schemas.microsoft.com/office/powerpoint/2010/main" val="29312218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475656" y="188640"/>
            <a:ext cx="8229600" cy="1066800"/>
          </a:xfrm>
        </p:spPr>
        <p:txBody>
          <a:bodyPr>
            <a:normAutofit fontScale="90000"/>
          </a:bodyPr>
          <a:lstStyle/>
          <a:p>
            <a:r>
              <a:rPr lang="es-ES" b="1" dirty="0"/>
              <a:t>PRINCIPIO DE ORGANICIDAD.</a:t>
            </a:r>
            <a:br>
              <a:rPr lang="es-GT" sz="4800" dirty="0"/>
            </a:br>
            <a:endParaRPr lang="es-GT" dirty="0"/>
          </a:p>
        </p:txBody>
      </p:sp>
      <p:sp>
        <p:nvSpPr>
          <p:cNvPr id="3" name="2 Marcador de contenido"/>
          <p:cNvSpPr>
            <a:spLocks noGrp="1"/>
          </p:cNvSpPr>
          <p:nvPr>
            <p:ph idx="1"/>
          </p:nvPr>
        </p:nvSpPr>
        <p:spPr>
          <a:xfrm>
            <a:off x="827584" y="749540"/>
            <a:ext cx="8208912" cy="5472608"/>
          </a:xfrm>
        </p:spPr>
        <p:txBody>
          <a:bodyPr>
            <a:normAutofit fontScale="25000" lnSpcReduction="20000"/>
          </a:bodyPr>
          <a:lstStyle/>
          <a:p>
            <a:pPr marL="109728" indent="0" algn="just">
              <a:buNone/>
            </a:pPr>
            <a:r>
              <a:rPr lang="es-ES" sz="5600" dirty="0"/>
              <a:t>El fenómeno por el cual  se puede evidenciar un proceso de evolución que viene a aumentar el grado de organización que poseen los sistemas en particular abiertos especialmente de seres vivos.</a:t>
            </a:r>
            <a:endParaRPr lang="es-GT" sz="5600" dirty="0"/>
          </a:p>
          <a:p>
            <a:pPr marL="109728" indent="0" algn="just">
              <a:buNone/>
            </a:pPr>
            <a:r>
              <a:rPr lang="es-ES" sz="5600" dirty="0"/>
              <a:t> Se puede  citar algunas definiciones sobre el principio de organicidad:</a:t>
            </a:r>
          </a:p>
          <a:p>
            <a:pPr marL="109728" indent="0" algn="just">
              <a:buNone/>
            </a:pPr>
            <a:endParaRPr lang="es-ES" sz="5600" dirty="0">
              <a:solidFill>
                <a:schemeClr val="tx1"/>
              </a:solidFill>
            </a:endParaRPr>
          </a:p>
          <a:p>
            <a:pPr marL="109728" indent="0" algn="just">
              <a:buNone/>
            </a:pPr>
            <a:r>
              <a:rPr lang="es-ES" sz="5600" dirty="0">
                <a:solidFill>
                  <a:schemeClr val="tx1"/>
                </a:solidFill>
              </a:rPr>
              <a:t>Todo sistema busca un estado más estable de mayor desorganización o entropía creciente.</a:t>
            </a:r>
            <a:endParaRPr lang="es-GT" sz="5600" dirty="0"/>
          </a:p>
          <a:p>
            <a:pPr marL="109728" indent="0" algn="just">
              <a:buNone/>
            </a:pPr>
            <a:endParaRPr lang="es-GT" sz="5600" dirty="0">
              <a:solidFill>
                <a:schemeClr val="tx1"/>
              </a:solidFill>
            </a:endParaRPr>
          </a:p>
          <a:p>
            <a:pPr marL="109728" indent="0" algn="just">
              <a:buNone/>
            </a:pPr>
            <a:r>
              <a:rPr lang="es-ES" sz="5600" dirty="0">
                <a:solidFill>
                  <a:schemeClr val="tx1"/>
                </a:solidFill>
              </a:rPr>
              <a:t>A mayor organización, existe mayor complejidad.</a:t>
            </a:r>
          </a:p>
          <a:p>
            <a:pPr marL="109728" indent="0" algn="just">
              <a:buNone/>
            </a:pPr>
            <a:endParaRPr lang="es-ES" sz="5600" dirty="0"/>
          </a:p>
          <a:p>
            <a:pPr marL="109728" indent="0" algn="just">
              <a:buNone/>
            </a:pPr>
            <a:r>
              <a:rPr lang="es-ES" sz="5600" dirty="0">
                <a:solidFill>
                  <a:schemeClr val="tx1"/>
                </a:solidFill>
              </a:rPr>
              <a:t>Ley de la organización, cualquier materia viva busca estructurarse de un modo básico.</a:t>
            </a:r>
          </a:p>
          <a:p>
            <a:pPr marL="109728" indent="0" algn="just">
              <a:buNone/>
            </a:pPr>
            <a:endParaRPr lang="es-GT" sz="5600" dirty="0">
              <a:solidFill>
                <a:schemeClr val="tx1"/>
              </a:solidFill>
            </a:endParaRPr>
          </a:p>
          <a:p>
            <a:pPr marL="109728" indent="0" algn="just">
              <a:buNone/>
            </a:pPr>
            <a:r>
              <a:rPr lang="es-ES" sz="5600" dirty="0"/>
              <a:t>Organismos (Organismos vivientes o sistemas abiertos)</a:t>
            </a:r>
          </a:p>
          <a:p>
            <a:pPr algn="just"/>
            <a:endParaRPr lang="es-GT" sz="5600" dirty="0"/>
          </a:p>
          <a:p>
            <a:pPr marL="109728" indent="0" algn="just">
              <a:buNone/>
            </a:pPr>
            <a:r>
              <a:rPr lang="es-ES" sz="5600" dirty="0"/>
              <a:t>Estructuras sistémicas. Todo organismo tiene ó genera mecanismos equilibrantes, llamado motor ó mecanismo homeostático que va evolucionar ó involucionar en razón directa al mecanismo o sistema que lo contiene.</a:t>
            </a:r>
          </a:p>
          <a:p>
            <a:pPr marL="109728" indent="0" algn="just">
              <a:buNone/>
            </a:pPr>
            <a:endParaRPr lang="es-GT" sz="5600" dirty="0"/>
          </a:p>
          <a:p>
            <a:pPr marL="109728" indent="0" algn="just">
              <a:buNone/>
            </a:pPr>
            <a:r>
              <a:rPr lang="es-ES" sz="5600" dirty="0"/>
              <a:t>Todo sistema evoluciona en complejidad, no se acepta la involución.</a:t>
            </a:r>
          </a:p>
          <a:p>
            <a:pPr marL="109728" indent="0" algn="just">
              <a:buNone/>
            </a:pPr>
            <a:endParaRPr lang="es-GT" sz="5600" dirty="0"/>
          </a:p>
          <a:p>
            <a:pPr lvl="2" algn="just"/>
            <a:r>
              <a:rPr lang="es-ES" sz="5600" i="1" dirty="0">
                <a:solidFill>
                  <a:schemeClr val="tx1"/>
                </a:solidFill>
              </a:rPr>
              <a:t>Evolución, </a:t>
            </a:r>
            <a:r>
              <a:rPr lang="es-ES" sz="5600" dirty="0">
                <a:solidFill>
                  <a:schemeClr val="tx1"/>
                </a:solidFill>
              </a:rPr>
              <a:t>es crecer en complejidad.</a:t>
            </a:r>
            <a:endParaRPr lang="es-GT" sz="5600" dirty="0">
              <a:solidFill>
                <a:schemeClr val="tx1"/>
              </a:solidFill>
            </a:endParaRPr>
          </a:p>
          <a:p>
            <a:pPr lvl="2" algn="just"/>
            <a:r>
              <a:rPr lang="es-ES" sz="5600" i="1" dirty="0">
                <a:solidFill>
                  <a:schemeClr val="tx1"/>
                </a:solidFill>
              </a:rPr>
              <a:t>Involución, </a:t>
            </a:r>
            <a:r>
              <a:rPr lang="es-ES" sz="5600" dirty="0">
                <a:solidFill>
                  <a:schemeClr val="tx1"/>
                </a:solidFill>
              </a:rPr>
              <a:t>es decrecer en complicidad.</a:t>
            </a:r>
            <a:endParaRPr lang="es-GT" sz="5600" dirty="0">
              <a:solidFill>
                <a:schemeClr val="tx1"/>
              </a:solidFill>
            </a:endParaRPr>
          </a:p>
          <a:p>
            <a:endParaRPr lang="es-GT" dirty="0"/>
          </a:p>
        </p:txBody>
      </p:sp>
    </p:spTree>
    <p:extLst>
      <p:ext uri="{BB962C8B-B14F-4D97-AF65-F5344CB8AC3E}">
        <p14:creationId xmlns:p14="http://schemas.microsoft.com/office/powerpoint/2010/main" val="35656937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539552" y="764704"/>
            <a:ext cx="8229600" cy="1066800"/>
          </a:xfrm>
        </p:spPr>
        <p:txBody>
          <a:bodyPr>
            <a:normAutofit fontScale="90000"/>
          </a:bodyPr>
          <a:lstStyle/>
          <a:p>
            <a:pPr algn="ctr"/>
            <a:r>
              <a:rPr lang="es-GT" b="1" i="1" dirty="0"/>
              <a:t>ENTROPIA COMO ELEMENTO DESORGANIZADOR</a:t>
            </a:r>
            <a:r>
              <a:rPr lang="es-GT" dirty="0"/>
              <a:t> </a:t>
            </a:r>
            <a:br>
              <a:rPr lang="es-GT" dirty="0"/>
            </a:br>
            <a:endParaRPr lang="es-GT" dirty="0"/>
          </a:p>
        </p:txBody>
      </p:sp>
      <p:sp>
        <p:nvSpPr>
          <p:cNvPr id="3" name="2 Marcador de contenido"/>
          <p:cNvSpPr>
            <a:spLocks noGrp="1"/>
          </p:cNvSpPr>
          <p:nvPr>
            <p:ph idx="1"/>
          </p:nvPr>
        </p:nvSpPr>
        <p:spPr/>
        <p:txBody>
          <a:bodyPr/>
          <a:lstStyle/>
          <a:p>
            <a:pPr marL="109728" indent="0" algn="just">
              <a:buNone/>
            </a:pPr>
            <a:r>
              <a:rPr lang="es-GT" dirty="0"/>
              <a:t>Entropía es una tendencia que tienen todos los sistemas a alcanzar su estado mas probable.  Este estado mas probable es el caos, la desorganización, la eliminación de las diferencias que lo hacen identificable. </a:t>
            </a:r>
          </a:p>
          <a:p>
            <a:endParaRPr lang="es-GT" dirty="0"/>
          </a:p>
        </p:txBody>
      </p:sp>
    </p:spTree>
    <p:extLst>
      <p:ext uri="{BB962C8B-B14F-4D97-AF65-F5344CB8AC3E}">
        <p14:creationId xmlns:p14="http://schemas.microsoft.com/office/powerpoint/2010/main" val="2162058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611560" y="836712"/>
            <a:ext cx="8229600" cy="1066800"/>
          </a:xfrm>
        </p:spPr>
        <p:txBody>
          <a:bodyPr>
            <a:normAutofit fontScale="90000"/>
          </a:bodyPr>
          <a:lstStyle/>
          <a:p>
            <a:pPr algn="ctr"/>
            <a:r>
              <a:rPr lang="es-GT" b="1" i="1" dirty="0"/>
              <a:t>NEGUENTROPIA COMO ELEMENTO ORGANIZADOR</a:t>
            </a:r>
            <a:r>
              <a:rPr lang="es-GT" dirty="0"/>
              <a:t> </a:t>
            </a:r>
            <a:br>
              <a:rPr lang="es-GT" dirty="0"/>
            </a:br>
            <a:endParaRPr lang="es-GT" dirty="0"/>
          </a:p>
        </p:txBody>
      </p:sp>
      <p:sp>
        <p:nvSpPr>
          <p:cNvPr id="3" name="2 Marcador de contenido"/>
          <p:cNvSpPr>
            <a:spLocks noGrp="1"/>
          </p:cNvSpPr>
          <p:nvPr>
            <p:ph idx="1"/>
          </p:nvPr>
        </p:nvSpPr>
        <p:spPr>
          <a:xfrm>
            <a:off x="617921" y="2060848"/>
            <a:ext cx="8229600" cy="4325112"/>
          </a:xfrm>
        </p:spPr>
        <p:txBody>
          <a:bodyPr>
            <a:normAutofit fontScale="92500" lnSpcReduction="10000"/>
          </a:bodyPr>
          <a:lstStyle/>
          <a:p>
            <a:pPr marL="109728" indent="0" algn="just">
              <a:buNone/>
            </a:pPr>
            <a:r>
              <a:rPr lang="es-GT" dirty="0"/>
              <a:t>La neguentropia es una energía necesaria que requiere el principio de la organicidad para desarrollarse. </a:t>
            </a:r>
          </a:p>
          <a:p>
            <a:pPr marL="109728" indent="0" algn="just">
              <a:buNone/>
            </a:pPr>
            <a:endParaRPr lang="es-GT" dirty="0"/>
          </a:p>
          <a:p>
            <a:pPr marL="109728" indent="0" algn="just">
              <a:buNone/>
            </a:pPr>
            <a:r>
              <a:rPr lang="es-GT" dirty="0"/>
              <a:t>Todos los sistemas abiertos interactúan en su medio. Importan energía, transforman esa energía en un bien o en un servicio y luego lo exportan al medio. La entropía tiende a desordenar el sistema, sin embargo, el sistema a través de la neguentropia puede combatir y superar esa tendencia. Un sistema social que desee sobrevivir debe crear dos tipos de energía a través de sus mecanismos de importación del medio:  </a:t>
            </a:r>
          </a:p>
          <a:p>
            <a:pPr marL="109728" indent="0" algn="just">
              <a:buNone/>
            </a:pPr>
            <a:endParaRPr lang="es-GT" dirty="0"/>
          </a:p>
          <a:p>
            <a:pPr marL="109728" indent="0" algn="just">
              <a:buNone/>
            </a:pPr>
            <a:r>
              <a:rPr lang="es-GT" dirty="0"/>
              <a:t>La energía necesaria para el proceso de transformación o conversión. </a:t>
            </a:r>
          </a:p>
          <a:p>
            <a:pPr marL="109728" indent="0" algn="just">
              <a:buNone/>
            </a:pPr>
            <a:br>
              <a:rPr lang="es-GT" dirty="0"/>
            </a:br>
            <a:r>
              <a:rPr lang="es-GT" dirty="0"/>
              <a:t>La energía necesaria para mantener y mejorar su organización interna y sus relaciones con el medio dentro del cual se conduce. </a:t>
            </a:r>
          </a:p>
        </p:txBody>
      </p:sp>
    </p:spTree>
    <p:extLst>
      <p:ext uri="{BB962C8B-B14F-4D97-AF65-F5344CB8AC3E}">
        <p14:creationId xmlns:p14="http://schemas.microsoft.com/office/powerpoint/2010/main" val="1418228540"/>
      </p:ext>
    </p:extLst>
  </p:cSld>
  <p:clrMapOvr>
    <a:masterClrMapping/>
  </p:clrMapOvr>
</p:sld>
</file>

<file path=ppt/theme/theme1.xml><?xml version="1.0" encoding="utf-8"?>
<a:theme xmlns:a="http://schemas.openxmlformats.org/drawingml/2006/main" name="Espiral">
  <a:themeElements>
    <a:clrScheme name="Espiral">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Espiral">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Espiral">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1804</TotalTime>
  <Words>1169</Words>
  <Application>Microsoft Office PowerPoint</Application>
  <PresentationFormat>Presentación en pantalla (4:3)</PresentationFormat>
  <Paragraphs>83</Paragraphs>
  <Slides>16</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16</vt:i4>
      </vt:variant>
    </vt:vector>
  </HeadingPairs>
  <TitlesOfParts>
    <vt:vector size="20" baseType="lpstr">
      <vt:lpstr>Arial</vt:lpstr>
      <vt:lpstr>Century Gothic</vt:lpstr>
      <vt:lpstr>Wingdings 3</vt:lpstr>
      <vt:lpstr>Espiral</vt:lpstr>
      <vt:lpstr>PRINCIPIO DE ORGANICIDAD </vt:lpstr>
      <vt:lpstr>EL MUNDO EN EQUILIBRIO </vt:lpstr>
      <vt:lpstr>Presentación de PowerPoint</vt:lpstr>
      <vt:lpstr>Presentación de PowerPoint</vt:lpstr>
      <vt:lpstr>La explicación newtoniana.  </vt:lpstr>
      <vt:lpstr>Presentación de PowerPoint</vt:lpstr>
      <vt:lpstr>Teoría general de sistemas.  </vt:lpstr>
      <vt:lpstr>EVOLUCION EN EQUILIBRIO  </vt:lpstr>
      <vt:lpstr>ORGANICIDAD  </vt:lpstr>
      <vt:lpstr>Según KENNETH BOULDING: </vt:lpstr>
      <vt:lpstr>Según WOLFANG WIESE: </vt:lpstr>
      <vt:lpstr>HOMEOSTASIS</vt:lpstr>
      <vt:lpstr>HOMEOSTATO</vt:lpstr>
      <vt:lpstr>PRINCIPIO DE ORGANICIDAD. </vt:lpstr>
      <vt:lpstr>ENTROPIA COMO ELEMENTO DESORGANIZADOR  </vt:lpstr>
      <vt:lpstr>NEGUENTROPIA COMO ELEMENTO ORGANIZADOR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PRINCIPIO DE ORGANICIDAD </dc:title>
  <dc:creator>David García</dc:creator>
  <cp:lastModifiedBy>Edwin David Garcia</cp:lastModifiedBy>
  <cp:revision>25</cp:revision>
  <dcterms:created xsi:type="dcterms:W3CDTF">2012-06-30T20:51:38Z</dcterms:created>
  <dcterms:modified xsi:type="dcterms:W3CDTF">2021-06-26T18:30:07Z</dcterms:modified>
</cp:coreProperties>
</file>